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d676931b143ac" /><Relationship Type="http://schemas.openxmlformats.org/officeDocument/2006/relationships/extended-properties" Target="/docProps/app.xml" Id="R5ad64ffcf1d04f92" /><Relationship Type="http://schemas.openxmlformats.org/officeDocument/2006/relationships/officeDocument" Target="/ppt/presentation.xml" Id="R2d70b0bb5d0e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6eb29411c14190"/>
  </p:sldMasterIdLst>
  <p:notesMasterIdLst>
    <p:notesMasterId xmlns:r="http://schemas.openxmlformats.org/officeDocument/2006/relationships" r:id="R71eb36f93a054029"/>
  </p:notesMasterIdLst>
  <p:sldIdLst>
    <p:sldId xmlns:r="http://schemas.openxmlformats.org/officeDocument/2006/relationships" id="256" r:id="R9cab63f61dda47f7"/>
    <p:sldId xmlns:r="http://schemas.openxmlformats.org/officeDocument/2006/relationships" id="257" r:id="R71e35f7c6da24c74"/>
    <p:sldId xmlns:r="http://schemas.openxmlformats.org/officeDocument/2006/relationships" id="258" r:id="Rd09e1089fed348cd"/>
    <p:sldId xmlns:r="http://schemas.openxmlformats.org/officeDocument/2006/relationships" id="259" r:id="R52b6071e79d744cd"/>
    <p:sldId xmlns:r="http://schemas.openxmlformats.org/officeDocument/2006/relationships" id="260" r:id="Re8270507f28b4f51"/>
    <p:sldId xmlns:r="http://schemas.openxmlformats.org/officeDocument/2006/relationships" id="261" r:id="Rec63fe37891f4eac"/>
    <p:sldId xmlns:r="http://schemas.openxmlformats.org/officeDocument/2006/relationships" id="262" r:id="R540a432eceeb4bf4"/>
    <p:sldId xmlns:r="http://schemas.openxmlformats.org/officeDocument/2006/relationships" id="263" r:id="R339a247b6abf4024"/>
    <p:sldId xmlns:r="http://schemas.openxmlformats.org/officeDocument/2006/relationships" id="264" r:id="Ra1c65a6d20a844e7"/>
    <p:sldId xmlns:r="http://schemas.openxmlformats.org/officeDocument/2006/relationships" id="265" r:id="Rb06f1388a5ab435d"/>
    <p:sldId xmlns:r="http://schemas.openxmlformats.org/officeDocument/2006/relationships" id="266" r:id="R021cac96601346d5"/>
    <p:sldId xmlns:r="http://schemas.openxmlformats.org/officeDocument/2006/relationships" id="267" r:id="Re9340043b02742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c3ab8a3fb479c" /><Relationship Type="http://schemas.openxmlformats.org/officeDocument/2006/relationships/slideMaster" Target="/ppt/slideMasters/slideMaster1.xml" Id="Rbb6eb29411c14190" /><Relationship Type="http://schemas.openxmlformats.org/officeDocument/2006/relationships/notesMaster" Target="/ppt/notesMasters/notesMaster1.xml" Id="R71eb36f93a054029" /><Relationship Type="http://schemas.openxmlformats.org/officeDocument/2006/relationships/presProps" Target="/ppt/presProps.xml" Id="R7458df0e3477489f" /><Relationship Type="http://schemas.openxmlformats.org/officeDocument/2006/relationships/viewProps" Target="/ppt/viewProps.xml" Id="Rb6d1700bb0b44753" /><Relationship Type="http://schemas.openxmlformats.org/officeDocument/2006/relationships/tableStyles" Target="/ppt/tableStyles.xml" Id="R4c151f3168254efe" /><Relationship Type="http://schemas.openxmlformats.org/officeDocument/2006/relationships/slide" Target="/ppt/slides/slide1.xml" Id="R9cab63f61dda47f7" /><Relationship Type="http://schemas.openxmlformats.org/officeDocument/2006/relationships/slide" Target="/ppt/slides/slide2.xml" Id="R71e35f7c6da24c74" /><Relationship Type="http://schemas.openxmlformats.org/officeDocument/2006/relationships/slide" Target="/ppt/slides/slide3.xml" Id="Rd09e1089fed348cd" /><Relationship Type="http://schemas.openxmlformats.org/officeDocument/2006/relationships/slide" Target="/ppt/slides/slide4.xml" Id="R52b6071e79d744cd" /><Relationship Type="http://schemas.openxmlformats.org/officeDocument/2006/relationships/slide" Target="/ppt/slides/slide5.xml" Id="Re8270507f28b4f51" /><Relationship Type="http://schemas.openxmlformats.org/officeDocument/2006/relationships/slide" Target="/ppt/slides/slide6.xml" Id="Rec63fe37891f4eac" /><Relationship Type="http://schemas.openxmlformats.org/officeDocument/2006/relationships/slide" Target="/ppt/slides/slide7.xml" Id="R540a432eceeb4bf4" /><Relationship Type="http://schemas.openxmlformats.org/officeDocument/2006/relationships/slide" Target="/ppt/slides/slide8.xml" Id="R339a247b6abf4024" /><Relationship Type="http://schemas.openxmlformats.org/officeDocument/2006/relationships/slide" Target="/ppt/slides/slide9.xml" Id="Ra1c65a6d20a844e7" /><Relationship Type="http://schemas.openxmlformats.org/officeDocument/2006/relationships/slide" Target="/ppt/slides/slide10.xml" Id="Rb06f1388a5ab435d" /><Relationship Type="http://schemas.openxmlformats.org/officeDocument/2006/relationships/slide" Target="/ppt/slides/slide11.xml" Id="R021cac96601346d5" /><Relationship Type="http://schemas.openxmlformats.org/officeDocument/2006/relationships/slide" Target="/ppt/slides/slide12.xml" Id="Re9340043b02742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56fd56bb7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af6988ccf49a0" /><Relationship Type="http://schemas.openxmlformats.org/officeDocument/2006/relationships/notesMaster" Target="/ppt/notesMasters/notesMaster1.xml" Id="R15a8f01cc1a04b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6d7d4d8d04447" /><Relationship Type="http://schemas.openxmlformats.org/officeDocument/2006/relationships/notesMaster" Target="/ppt/notesMasters/notesMaster1.xml" Id="Rf633b168e637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cc034755cc41e4" /><Relationship Type="http://schemas.openxmlformats.org/officeDocument/2006/relationships/notesMaster" Target="/ppt/notesMasters/notesMaster1.xml" Id="R5ebef226cd70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631f08cbd4bd1" /><Relationship Type="http://schemas.openxmlformats.org/officeDocument/2006/relationships/notesMaster" Target="/ppt/notesMasters/notesMaster1.xml" Id="Ra86d2dba9977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a26ae6ee754801" /><Relationship Type="http://schemas.openxmlformats.org/officeDocument/2006/relationships/notesMaster" Target="/ppt/notesMasters/notesMaster1.xml" Id="R4f6a5a1097804e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e770658cf4521" /><Relationship Type="http://schemas.openxmlformats.org/officeDocument/2006/relationships/notesMaster" Target="/ppt/notesMasters/notesMaster1.xml" Id="R4bc9da6d87a1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f923f4505f46a6" /><Relationship Type="http://schemas.openxmlformats.org/officeDocument/2006/relationships/notesMaster" Target="/ppt/notesMasters/notesMaster1.xml" Id="Rcb001e593bdd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6a24bb6d8643a2" /><Relationship Type="http://schemas.openxmlformats.org/officeDocument/2006/relationships/notesMaster" Target="/ppt/notesMasters/notesMaster1.xml" Id="Rc9fc56868b2a4a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a1656d21f4d45" /><Relationship Type="http://schemas.openxmlformats.org/officeDocument/2006/relationships/notesMaster" Target="/ppt/notesMasters/notesMaster1.xml" Id="R8ee891b623c54f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b524b9d1bb48b6" /><Relationship Type="http://schemas.openxmlformats.org/officeDocument/2006/relationships/notesMaster" Target="/ppt/notesMasters/notesMaster1.xml" Id="R0734a2de17ea48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a6e88a7c594940" /><Relationship Type="http://schemas.openxmlformats.org/officeDocument/2006/relationships/notesMaster" Target="/ppt/notesMasters/notesMaster1.xml" Id="Rc9e79a2df3b84c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f83f19bcd240dc" /><Relationship Type="http://schemas.openxmlformats.org/officeDocument/2006/relationships/notesMaster" Target="/ppt/notesMasters/notesMaster1.xml" Id="Ree035ee2c1fa40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c56b75ebd41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8c126b0ed94ffc" /><Relationship Type="http://schemas.openxmlformats.org/officeDocument/2006/relationships/slideLayout" Target="/ppt/slideLayouts/slideLayout1.xml" Id="R9f3c21632257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c21632257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b1ce215eb49b2" /><Relationship Type="http://schemas.openxmlformats.org/officeDocument/2006/relationships/notesSlide" Target="/ppt/notesSlides/notesSlide1.xml" Id="R05d3317856cf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600eee1d84930" /><Relationship Type="http://schemas.openxmlformats.org/officeDocument/2006/relationships/notesSlide" Target="/ppt/notesSlides/notesSlide2.xml" Id="R39eefe00bbb2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18aff9c342de" /><Relationship Type="http://schemas.openxmlformats.org/officeDocument/2006/relationships/notesSlide" Target="/ppt/notesSlides/notesSlide3.xml" Id="R23b8e05026f2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024ac0ea34b7a" /><Relationship Type="http://schemas.openxmlformats.org/officeDocument/2006/relationships/notesSlide" Target="/ppt/notesSlides/notesSlide4.xml" Id="Rda52a42aa3c5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b20b4fb824485" /><Relationship Type="http://schemas.openxmlformats.org/officeDocument/2006/relationships/image" Target="/ppt/media/image.png" Id="R55772da677554066" /><Relationship Type="http://schemas.openxmlformats.org/officeDocument/2006/relationships/notesSlide" Target="/ppt/notesSlides/notesSlide5.xml" Id="Rd4d3d8854f4447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42a67613d4ca2" /><Relationship Type="http://schemas.openxmlformats.org/officeDocument/2006/relationships/notesSlide" Target="/ppt/notesSlides/notesSlide6.xml" Id="R55753b2398bf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fa675dbad41c6" /><Relationship Type="http://schemas.openxmlformats.org/officeDocument/2006/relationships/notesSlide" Target="/ppt/notesSlides/notesSlide7.xml" Id="R7c450d836b50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ed61f50f8409d" /><Relationship Type="http://schemas.openxmlformats.org/officeDocument/2006/relationships/notesSlide" Target="/ppt/notesSlides/notesSlide8.xml" Id="R94fffc58aaf746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04fe29ab6454b" /><Relationship Type="http://schemas.openxmlformats.org/officeDocument/2006/relationships/notesSlide" Target="/ppt/notesSlides/notesSlide9.xml" Id="Ra602a99b36ae4e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12a1b20e74671" /><Relationship Type="http://schemas.openxmlformats.org/officeDocument/2006/relationships/notesSlide" Target="/ppt/notesSlides/notesSlide10.xml" Id="R70e88f42be844d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b269e5eaf4560" /><Relationship Type="http://schemas.openxmlformats.org/officeDocument/2006/relationships/notesSlide" Target="/ppt/notesSlides/notesSlide11.xml" Id="Rba8027c15c7c48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1e6a46df3468c" /><Relationship Type="http://schemas.openxmlformats.org/officeDocument/2006/relationships/notesSlide" Target="/ppt/notesSlides/notesSlide12.xml" Id="Rf06ea3195c3b4b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9A00D-9179-4BB9-B704-BDA99E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2CAB-B36F-4308-8760-B7B4421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0010-6046-4BBA-8DAC-792BFF7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642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A12-A1D5-4A7C-A17B-8B9B01B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Aspect-Based</a:t>
            </a:r>
          </a:p>
          <a:p xmlns:a="http://schemas.openxmlformats.org/drawingml/2006/main">
            <a:pPr algn="l"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Sentiment Analysis</a:t>
            </a:r>
          </a:p>
          <a:p xmlns:a="http://schemas.openxmlformats.org/drawingml/2006/main">
            <a:pPr algn="l"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BFBB-2A47-40A3-9A6E-10AAD59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A working ABSA system that maps each review to Food, Service, Price, and Ambiance sentiment using rule-based, TF-IDF Logistic Regression, and DeBERTa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803A-CD45-4378-8AA0-AC0DE2E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47D90-2CEB-4D08-9202-41B0F21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3FE0-ABD2-4439-8828-A4B7157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FAA4-32F8-4B18-8124-A8C58DE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DFF9-E31A-46DA-8D76-D7B7C7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ECC0-4370-4C25-8DF0-9ABAB1B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macro F1 in final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364CA-B399-4484-9485-6FE614D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Teacher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BA5E3-7887-41FC-ACD5-32ADC6A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A0208-C201-49F0-AB98-3717B8F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CE405-4763-4101-A695-225E897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BE53-2D9A-468C-A20C-F88143B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restaurant reviews mapped into four fixed aspects.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AFD3-3230-4148-ADE4-1CC7337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EF2CB-74EB-4BE2-92BC-2E0A242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26C5C-A618-4A74-A0E6-781F2F8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26B3-97F6-414F-BF8D-F100045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XML annotations become wide and long CSV tables for app output and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5937C-42EF-4622-85D7-A3B352A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E0D0C-6886-42D1-96AA-9601587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FDFF2-4D41-4829-882B-0743542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7AB4-284B-4E72-B708-08EFDDC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Accuracy, precision, recall, macro F1, weighted F1, per-label and mentioned-aspect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0DDF-E297-46AC-9DFF-634C121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Source: project report N22DCAT003.pdf and repository artifacts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B9B8-09CF-411E-99BC-3F621A0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91D9-3DBF-4B88-99B0-D44A4AA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49E-F624-4D59-A77D-E6CF17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4CA-1BA7-4037-A5C8-71F6E7B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665055-F1D8-4098-B86A-4EC57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BF4205-734A-466B-9ADA-1D95032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4351-502C-45C7-A1B1-1946507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processed dataset is useful, but heavily Unknown-dominant.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BAB6-1B4A-46CB-A36B-116E3F5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Task 4 Restaurant Review data, mapped into the project aspect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2E171-C0F2-40A2-B056-DFF66D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4A7D-2421-4DC5-B3A1-89BE94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wide 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EB2C-BA34-449D-9417-420DFD9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1B2F-2E54-493F-A35E-416F4C3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long review-aspect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5D5D-1C57-4F65-9496-6B1FC9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rPr>
              <a:t>81.3%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0758-D18B-4065-B064-90D3F6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labels in long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6B48-D1B8-4239-ACA9-FF9E74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FB71-9DAB-4017-8394-E1C26A6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0BA1A-9366-4D63-96EE-3B04FD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79CA-0B8C-459F-93FF-0C56663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20FF7-0534-4F7D-9463-0D01FC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B18-8930-45CB-A869-F326437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1F3FE-59AD-40A2-A25B-A3582B6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7483F-F42A-45AF-9FE9-F5EC70C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33800"/>
            <a:ext cx="15750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C96A3-2D5C-4920-8851-CF7AD94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355" y="3733800"/>
            <a:ext cx="3796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B97DF-049F-4D52-81B7-CCD48F3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039" y="3733800"/>
            <a:ext cx="35697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A7F21-9D7D-40A0-9382-9C90BD7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EE211-6CA8-4163-86D8-19445CF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F6CE1-D79C-43F1-A1C1-A5DD11E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5886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C6136-468D-43CF-AC96-0602B22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02" y="4286250"/>
            <a:ext cx="3960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CA99-35C8-47DC-A59C-5E65E7F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36" y="4286250"/>
            <a:ext cx="45398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496E-9396-42BA-9424-5CA2E5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DA835-0C0D-4E11-8D45-2E0EBBC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AA5E1-F163-4EE3-B690-A1D262B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325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6C6DD-F8F1-4298-A4AE-4A5521F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484" y="4838700"/>
            <a:ext cx="2089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512A0-8113-4D67-B561-33F6759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02" y="4838700"/>
            <a:ext cx="499039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C2B4-E003-47E1-8506-D58C75A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67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2BF5F-9596-46FF-B305-AC0BB8F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25588-9CE8-408E-A72E-7CA82E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477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70DA8-24C4-49DF-9559-23C433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85" y="5391150"/>
            <a:ext cx="1780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31B80-022C-41A5-A3FE-52BD9CD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19" y="5391150"/>
            <a:ext cx="486868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E3E17-08D8-4BAB-99B7-47B210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A5790-B09B-4521-ADB2-6B34B5D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E5949-9F71-436D-B987-8BCFEAE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Why macro F1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176A2-4B6C-4F46-A97C-0A99955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 can look high when the model predicts Unknown well. Macro F1 gives Positive, Negative, and Unknown equal weight.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72da677554066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2026-06-14T17:35:23.7850000Z</dcterms:created>
  <dcterms:modified xsi:type="dcterms:W3CDTF">2026-06-14T17:35:23.7850000Z</dcterms:modified>
</coreProperties>
</file>
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11"/>
    <p:restoredTop sz="94669"/>
  </p:normalViewPr>
  <p:slideViewPr>
    <p:cSldViewPr snapToGrid="0">
      <p:cViewPr varScale="1">
        <p:scale>
          <a:sx n="182" d="100"/>
          <a:sy n="182" d="100"/>
        </p:scale>
        <p:origin x="217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1D8A77FA-F5AB-46BF-ABBA-B0067F669E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1AF793-DB79-49CC-A632-EB72831D03C7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NLP FINAL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1147D4-3D1B-42D4-A6D7-3A72A86BBB2F}"/>
              </a:ext>
            </a:extLst>
          </p:cNvPr>
          <p:cNvSpPr>
            <a:spLocks noGrp="1"/>
          </p:cNvSpPr>
          <p:nvPr/>
        </p:nvSpPr>
        <p:spPr>
          <a:xfrm>
            <a:off x="533400" y="666750"/>
            <a:ext cx="11125200" cy="13335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E7228-5056-4550-BDF0-193EA4F062D7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685800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Aspect-Based Sentiment Analysis</a:t>
            </a:r>
          </a:p>
          <a:p>
            <a:pPr algn="l">
              <a:buNone/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for Restaurant Reviews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4AFCD9-6DE3-492C-9438-729EDBCE0B54}"/>
              </a:ext>
            </a:extLst>
          </p:cNvPr>
          <p:cNvSpPr>
            <a:spLocks noGrp="1"/>
          </p:cNvSpPr>
          <p:nvPr/>
        </p:nvSpPr>
        <p:spPr>
          <a:xfrm>
            <a:off x="552450" y="2819400"/>
            <a:ext cx="7048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A working NLP system that reads one restaurant review and returns sentiment for Food, Service, Price, and Eating Environment / Ambiance.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E68EA2-8A62-4E98-A204-9E21793EE267}"/>
              </a:ext>
            </a:extLst>
          </p:cNvPr>
          <p:cNvSpPr>
            <a:spLocks noGrp="1"/>
          </p:cNvSpPr>
          <p:nvPr/>
        </p:nvSpPr>
        <p:spPr>
          <a:xfrm>
            <a:off x="552450" y="3562350"/>
            <a:ext cx="6572250" cy="97155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210E5A-997D-4AF3-8C73-19F8EA4E8440}"/>
              </a:ext>
            </a:extLst>
          </p:cNvPr>
          <p:cNvSpPr>
            <a:spLocks noGrp="1"/>
          </p:cNvSpPr>
          <p:nvPr/>
        </p:nvSpPr>
        <p:spPr>
          <a:xfrm>
            <a:off x="819150" y="37528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Why ABSA?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EE1C58-7DE7-47EE-80BD-838E043B397B}"/>
              </a:ext>
            </a:extLst>
          </p:cNvPr>
          <p:cNvSpPr>
            <a:spLocks noGrp="1"/>
          </p:cNvSpPr>
          <p:nvPr/>
        </p:nvSpPr>
        <p:spPr>
          <a:xfrm>
            <a:off x="819150" y="4038600"/>
            <a:ext cx="5791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Restaurant reviews often contain mixed opinions. ABSA keeps the details visible by assigning a separate sentiment label to each aspect.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8ED42B-8001-46C8-B677-AF2882EDE0CF}"/>
              </a:ext>
            </a:extLst>
          </p:cNvPr>
          <p:cNvSpPr>
            <a:spLocks noGrp="1"/>
          </p:cNvSpPr>
          <p:nvPr/>
        </p:nvSpPr>
        <p:spPr>
          <a:xfrm>
            <a:off x="7734300" y="1066800"/>
            <a:ext cx="3390900" cy="33147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1A6EE5-21BC-444B-8147-FA125BEC213E}"/>
              </a:ext>
            </a:extLst>
          </p:cNvPr>
          <p:cNvSpPr>
            <a:spLocks noGrp="1"/>
          </p:cNvSpPr>
          <p:nvPr/>
        </p:nvSpPr>
        <p:spPr>
          <a:xfrm>
            <a:off x="8001000" y="13335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Example 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66B177-85FA-40D3-BEE7-FAAD3B1357A3}"/>
              </a:ext>
            </a:extLst>
          </p:cNvPr>
          <p:cNvSpPr>
            <a:spLocks noGrp="1"/>
          </p:cNvSpPr>
          <p:nvPr/>
        </p:nvSpPr>
        <p:spPr>
          <a:xfrm>
            <a:off x="8001000" y="1676400"/>
            <a:ext cx="2705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"The sushi was fresh, but the waiter was rude and the restaurant was too noisy."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F69E88-E7BF-478A-81A3-ED413D3CAFC1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27051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FDC4FB-FE57-4EE6-BAE4-6850A5696F50}"/>
              </a:ext>
            </a:extLst>
          </p:cNvPr>
          <p:cNvSpPr>
            <a:spLocks noGrp="1"/>
          </p:cNvSpPr>
          <p:nvPr/>
        </p:nvSpPr>
        <p:spPr>
          <a:xfrm>
            <a:off x="8153400" y="25812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DC8231-62A3-4A59-97D6-8133F64D39A0}"/>
              </a:ext>
            </a:extLst>
          </p:cNvPr>
          <p:cNvSpPr>
            <a:spLocks noGrp="1"/>
          </p:cNvSpPr>
          <p:nvPr/>
        </p:nvSpPr>
        <p:spPr>
          <a:xfrm>
            <a:off x="9448800" y="2581275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AA50C1-7930-4340-A8F2-D666D72B78EE}"/>
              </a:ext>
            </a:extLst>
          </p:cNvPr>
          <p:cNvSpPr>
            <a:spLocks noGrp="1"/>
          </p:cNvSpPr>
          <p:nvPr/>
        </p:nvSpPr>
        <p:spPr>
          <a:xfrm>
            <a:off x="8001000" y="2914650"/>
            <a:ext cx="27051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0DC68F-2249-4E22-BDE1-BA4B4FF74E21}"/>
              </a:ext>
            </a:extLst>
          </p:cNvPr>
          <p:cNvSpPr>
            <a:spLocks noGrp="1"/>
          </p:cNvSpPr>
          <p:nvPr/>
        </p:nvSpPr>
        <p:spPr>
          <a:xfrm>
            <a:off x="8153400" y="298132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725E7D-8269-4AC5-A20A-DD47ED743189}"/>
              </a:ext>
            </a:extLst>
          </p:cNvPr>
          <p:cNvSpPr>
            <a:spLocks noGrp="1"/>
          </p:cNvSpPr>
          <p:nvPr/>
        </p:nvSpPr>
        <p:spPr>
          <a:xfrm>
            <a:off x="9448800" y="2981325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BDE803-862C-46CC-AA67-71E2FAE1BFA2}"/>
              </a:ext>
            </a:extLst>
          </p:cNvPr>
          <p:cNvSpPr>
            <a:spLocks noGrp="1"/>
          </p:cNvSpPr>
          <p:nvPr/>
        </p:nvSpPr>
        <p:spPr>
          <a:xfrm>
            <a:off x="8001000" y="3314700"/>
            <a:ext cx="27051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40A380-AC12-4857-B5A0-FDFBD88AD196}"/>
              </a:ext>
            </a:extLst>
          </p:cNvPr>
          <p:cNvSpPr>
            <a:spLocks noGrp="1"/>
          </p:cNvSpPr>
          <p:nvPr/>
        </p:nvSpPr>
        <p:spPr>
          <a:xfrm>
            <a:off x="8153400" y="33813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5E49FD-97CE-48DE-ABFB-BFF0FEBE5C7F}"/>
              </a:ext>
            </a:extLst>
          </p:cNvPr>
          <p:cNvSpPr>
            <a:spLocks noGrp="1"/>
          </p:cNvSpPr>
          <p:nvPr/>
        </p:nvSpPr>
        <p:spPr>
          <a:xfrm>
            <a:off x="9448800" y="3381375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E98CA9-C960-47CD-A459-81055557484E}"/>
              </a:ext>
            </a:extLst>
          </p:cNvPr>
          <p:cNvSpPr>
            <a:spLocks noGrp="1"/>
          </p:cNvSpPr>
          <p:nvPr/>
        </p:nvSpPr>
        <p:spPr>
          <a:xfrm>
            <a:off x="8001000" y="3714750"/>
            <a:ext cx="27051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D5674A-ED7F-4233-A445-029466E3460D}"/>
              </a:ext>
            </a:extLst>
          </p:cNvPr>
          <p:cNvSpPr>
            <a:spLocks noGrp="1"/>
          </p:cNvSpPr>
          <p:nvPr/>
        </p:nvSpPr>
        <p:spPr>
          <a:xfrm>
            <a:off x="8153400" y="378142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B6543F-7E23-4C40-9AC1-6D8DE36C9EA7}"/>
              </a:ext>
            </a:extLst>
          </p:cNvPr>
          <p:cNvSpPr>
            <a:spLocks noGrp="1"/>
          </p:cNvSpPr>
          <p:nvPr/>
        </p:nvSpPr>
        <p:spPr>
          <a:xfrm>
            <a:off x="9448800" y="3781425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DC1A59-F32E-41B5-ACFC-0DE9DEC6CA56}"/>
              </a:ext>
            </a:extLst>
          </p:cNvPr>
          <p:cNvSpPr>
            <a:spLocks noGrp="1"/>
          </p:cNvSpPr>
          <p:nvPr/>
        </p:nvSpPr>
        <p:spPr>
          <a:xfrm>
            <a:off x="8001000" y="4152900"/>
            <a:ext cx="2705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system always returns all four aspects.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54EF1C-A2F9-4B30-9DC1-AFAB1DBFC5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05918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A369E6-6A20-4B1C-B175-BE3E779FDDE0}"/>
              </a:ext>
            </a:extLst>
          </p:cNvPr>
          <p:cNvSpPr>
            <a:spLocks noGrp="1"/>
          </p:cNvSpPr>
          <p:nvPr/>
        </p:nvSpPr>
        <p:spPr>
          <a:xfrm>
            <a:off x="819150" y="523875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40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C312BC-9FB4-48E6-900F-10CAA13A31E4}"/>
              </a:ext>
            </a:extLst>
          </p:cNvPr>
          <p:cNvSpPr>
            <a:spLocks noGrp="1"/>
          </p:cNvSpPr>
          <p:nvPr/>
        </p:nvSpPr>
        <p:spPr>
          <a:xfrm>
            <a:off x="819150" y="563880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restaurant reviews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6032F5-BF97-43CA-8EEF-9010D712D2CF}"/>
              </a:ext>
            </a:extLst>
          </p:cNvPr>
          <p:cNvSpPr>
            <a:spLocks noGrp="1"/>
          </p:cNvSpPr>
          <p:nvPr/>
        </p:nvSpPr>
        <p:spPr>
          <a:xfrm>
            <a:off x="2971800" y="523875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4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12,164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6B4DB1-172D-4655-995E-0D4D7DB9CA69}"/>
              </a:ext>
            </a:extLst>
          </p:cNvPr>
          <p:cNvSpPr>
            <a:spLocks noGrp="1"/>
          </p:cNvSpPr>
          <p:nvPr/>
        </p:nvSpPr>
        <p:spPr>
          <a:xfrm>
            <a:off x="2971800" y="563880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review-aspect rows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D05A7D-7AAD-4A80-A72F-1CA5373FE2DB}"/>
              </a:ext>
            </a:extLst>
          </p:cNvPr>
          <p:cNvSpPr>
            <a:spLocks noGrp="1"/>
          </p:cNvSpPr>
          <p:nvPr/>
        </p:nvSpPr>
        <p:spPr>
          <a:xfrm>
            <a:off x="5124450" y="523875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40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745160-09E1-4FC8-8520-586A3A169339}"/>
              </a:ext>
            </a:extLst>
          </p:cNvPr>
          <p:cNvSpPr>
            <a:spLocks noGrp="1"/>
          </p:cNvSpPr>
          <p:nvPr/>
        </p:nvSpPr>
        <p:spPr>
          <a:xfrm>
            <a:off x="5124450" y="563880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model approaches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BE06914-E285-4B19-B784-B0DF958854BE}"/>
              </a:ext>
            </a:extLst>
          </p:cNvPr>
          <p:cNvSpPr>
            <a:spLocks noGrp="1"/>
          </p:cNvSpPr>
          <p:nvPr/>
        </p:nvSpPr>
        <p:spPr>
          <a:xfrm>
            <a:off x="7277100" y="523875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40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rPr>
              <a:t>0.8865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9AC145-4221-41A4-B532-AC424BC1B684}"/>
              </a:ext>
            </a:extLst>
          </p:cNvPr>
          <p:cNvSpPr>
            <a:spLocks noGrp="1"/>
          </p:cNvSpPr>
          <p:nvPr/>
        </p:nvSpPr>
        <p:spPr>
          <a:xfrm>
            <a:off x="7277100" y="563880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fresh eval macro F1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5917DA-D1E7-4B41-89AF-4EF81D345797}"/>
              </a:ext>
            </a:extLst>
          </p:cNvPr>
          <p:cNvSpPr>
            <a:spLocks noGrp="1"/>
          </p:cNvSpPr>
          <p:nvPr/>
        </p:nvSpPr>
        <p:spPr>
          <a:xfrm>
            <a:off x="9429750" y="52387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400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63FADB-A083-4836-97B8-9B243C41F223}"/>
              </a:ext>
            </a:extLst>
          </p:cNvPr>
          <p:cNvSpPr>
            <a:spLocks noGrp="1"/>
          </p:cNvSpPr>
          <p:nvPr/>
        </p:nvSpPr>
        <p:spPr>
          <a:xfrm>
            <a:off x="9429750" y="563880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fixed aspects</a:t>
            </a:r>
          </a:p>
        </p:txBody>
      </p:sp>
    </p:spTree>
    <p:extLst>
      <p:ext uri="{BB962C8B-B14F-4D97-AF65-F5344CB8AC3E}">
        <p14:creationId xmlns:p14="http://schemas.microsoft.com/office/powerpoint/2010/main" val="55059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519FDA-E4CC-418B-B80C-70C9E0DA2B08}"/>
              </a:ext>
            </a:extLst>
          </p:cNvPr>
          <p:cNvSpPr>
            <a:spLocks noGrp="1"/>
          </p:cNvSpPr>
          <p:nvPr/>
        </p:nvSpPr>
        <p:spPr>
          <a:xfrm>
            <a:off x="533400" y="600075"/>
            <a:ext cx="11125200" cy="13335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B3FCE1-F5DE-4B1E-9354-40596E26B554}"/>
              </a:ext>
            </a:extLst>
          </p:cNvPr>
          <p:cNvSpPr>
            <a:spLocks noGrp="1"/>
          </p:cNvSpPr>
          <p:nvPr/>
        </p:nvSpPr>
        <p:spPr>
          <a:xfrm>
            <a:off x="566737" y="112395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2D6CDF"/>
                </a:solidFill>
                <a:latin typeface="Aptos"/>
                <a:ea typeface="Aptos"/>
                <a:cs typeface="Aptos"/>
              </a:rPr>
              <a:t>TEAM ROLES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2D1CF0-28CC-481D-9707-4E04E43BA73E}"/>
              </a:ext>
            </a:extLst>
          </p:cNvPr>
          <p:cNvSpPr>
            <a:spLocks noGrp="1"/>
          </p:cNvSpPr>
          <p:nvPr/>
        </p:nvSpPr>
        <p:spPr>
          <a:xfrm>
            <a:off x="533400" y="1609725"/>
            <a:ext cx="8763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Each member owns one part of the ABSA system</a:t>
            </a:r>
            <a:r>
              <a:rPr lang="en-US" sz="2550" b="1" dirty="0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550" b="1" dirty="0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E00A2D-207F-46F7-BC24-AA02DB04756C}"/>
              </a:ext>
            </a:extLst>
          </p:cNvPr>
          <p:cNvSpPr>
            <a:spLocks noGrp="1"/>
          </p:cNvSpPr>
          <p:nvPr/>
        </p:nvSpPr>
        <p:spPr>
          <a:xfrm>
            <a:off x="533400" y="2724150"/>
            <a:ext cx="3409950" cy="287655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C63FE9-FCAC-4999-AB21-9D347309A07D}"/>
              </a:ext>
            </a:extLst>
          </p:cNvPr>
          <p:cNvSpPr>
            <a:spLocks noGrp="1"/>
          </p:cNvSpPr>
          <p:nvPr/>
        </p:nvSpPr>
        <p:spPr>
          <a:xfrm>
            <a:off x="533400" y="2781300"/>
            <a:ext cx="66675" cy="2876550"/>
          </a:xfrm>
          <a:prstGeom prst="rect">
            <a:avLst/>
          </a:prstGeom>
          <a:solidFill>
            <a:srgbClr val="2D6C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CCB2FC-1690-4F92-B718-BFEC9DB82953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N22DCCN141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8DE987-63F4-49F3-ACA1-C0AF63C3F255}"/>
              </a:ext>
            </a:extLst>
          </p:cNvPr>
          <p:cNvSpPr>
            <a:spLocks noGrp="1"/>
          </p:cNvSpPr>
          <p:nvPr/>
        </p:nvSpPr>
        <p:spPr>
          <a:xfrm>
            <a:off x="781050" y="3257550"/>
            <a:ext cx="2914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Huynh Ba Anh Khoa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3784E5-6AE8-4539-AA5C-765F736D455E}"/>
              </a:ext>
            </a:extLst>
          </p:cNvPr>
          <p:cNvSpPr>
            <a:spLocks noGrp="1"/>
          </p:cNvSpPr>
          <p:nvPr/>
        </p:nvSpPr>
        <p:spPr>
          <a:xfrm>
            <a:off x="781050" y="3648075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Leader / Deep Learning / App Integration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8B4DCA-E161-4903-A109-B46954CE1A81}"/>
              </a:ext>
            </a:extLst>
          </p:cNvPr>
          <p:cNvSpPr>
            <a:spLocks noGrp="1"/>
          </p:cNvSpPr>
          <p:nvPr/>
        </p:nvSpPr>
        <p:spPr>
          <a:xfrm>
            <a:off x="781050" y="4076700"/>
            <a:ext cx="2914650" cy="9525"/>
          </a:xfrm>
          <a:prstGeom prst="rect">
            <a:avLst/>
          </a:prstGeom>
          <a:solidFill>
            <a:srgbClr val="D8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6B755E-9B42-432A-8C07-612A1821D680}"/>
              </a:ext>
            </a:extLst>
          </p:cNvPr>
          <p:cNvSpPr>
            <a:spLocks noGrp="1"/>
          </p:cNvSpPr>
          <p:nvPr/>
        </p:nvSpPr>
        <p:spPr>
          <a:xfrm>
            <a:off x="781050" y="4286250"/>
            <a:ext cx="2914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Prepared review-aspect data and DeBERTa-v3-base training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81FBD1-D893-4A23-9FE8-9A2441E0EDE4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2914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Built Flutter demo, Python API connection, and final materials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8D3ED0-B66A-4041-92B1-27E81638AC43}"/>
              </a:ext>
            </a:extLst>
          </p:cNvPr>
          <p:cNvSpPr>
            <a:spLocks noGrp="1"/>
          </p:cNvSpPr>
          <p:nvPr/>
        </p:nvSpPr>
        <p:spPr>
          <a:xfrm>
            <a:off x="4219575" y="2724150"/>
            <a:ext cx="3409950" cy="287655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BA04EC-1E9C-4243-B364-F8462772074D}"/>
              </a:ext>
            </a:extLst>
          </p:cNvPr>
          <p:cNvSpPr>
            <a:spLocks noGrp="1"/>
          </p:cNvSpPr>
          <p:nvPr/>
        </p:nvSpPr>
        <p:spPr>
          <a:xfrm>
            <a:off x="4219575" y="2781300"/>
            <a:ext cx="66675" cy="2876550"/>
          </a:xfrm>
          <a:prstGeom prst="rect">
            <a:avLst/>
          </a:prstGeom>
          <a:solidFill>
            <a:srgbClr val="1E9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D46799-2694-413C-AB3D-81E2010BC876}"/>
              </a:ext>
            </a:extLst>
          </p:cNvPr>
          <p:cNvSpPr>
            <a:spLocks noGrp="1"/>
          </p:cNvSpPr>
          <p:nvPr/>
        </p:nvSpPr>
        <p:spPr>
          <a:xfrm>
            <a:off x="4467225" y="300990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N22DCDT038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D42BD1-C6FF-4EF5-8A21-085FDE638830}"/>
              </a:ext>
            </a:extLst>
          </p:cNvPr>
          <p:cNvSpPr>
            <a:spLocks noGrp="1"/>
          </p:cNvSpPr>
          <p:nvPr/>
        </p:nvSpPr>
        <p:spPr>
          <a:xfrm>
            <a:off x="4467225" y="3257550"/>
            <a:ext cx="2914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Dang Nhat Nam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3B7DEA-60DF-4BF6-8905-AFED0173BC44}"/>
              </a:ext>
            </a:extLst>
          </p:cNvPr>
          <p:cNvSpPr>
            <a:spLocks noGrp="1"/>
          </p:cNvSpPr>
          <p:nvPr/>
        </p:nvSpPr>
        <p:spPr>
          <a:xfrm>
            <a:off x="4467225" y="3648075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Traditional Machine Learning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E55751-1030-472A-B739-35E373A228E4}"/>
              </a:ext>
            </a:extLst>
          </p:cNvPr>
          <p:cNvSpPr>
            <a:spLocks noGrp="1"/>
          </p:cNvSpPr>
          <p:nvPr/>
        </p:nvSpPr>
        <p:spPr>
          <a:xfrm>
            <a:off x="4467225" y="4076700"/>
            <a:ext cx="2914650" cy="9525"/>
          </a:xfrm>
          <a:prstGeom prst="rect">
            <a:avLst/>
          </a:prstGeom>
          <a:solidFill>
            <a:srgbClr val="D8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5A3B0E-4B2A-4893-973E-CD9EBDD2FD60}"/>
              </a:ext>
            </a:extLst>
          </p:cNvPr>
          <p:cNvSpPr>
            <a:spLocks noGrp="1"/>
          </p:cNvSpPr>
          <p:nvPr/>
        </p:nvSpPr>
        <p:spPr>
          <a:xfrm>
            <a:off x="4467225" y="4286250"/>
            <a:ext cx="2914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Built TF-IDF text features and Logistic Regression classifiers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B3D56B-918C-4201-A20E-41AECA6A9005}"/>
              </a:ext>
            </a:extLst>
          </p:cNvPr>
          <p:cNvSpPr>
            <a:spLocks noGrp="1"/>
          </p:cNvSpPr>
          <p:nvPr/>
        </p:nvSpPr>
        <p:spPr>
          <a:xfrm>
            <a:off x="4467225" y="4743450"/>
            <a:ext cx="2914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Reported Traditional ML metrics for model comparison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DD7F42-1E34-474F-8E8F-27C574BAA6E3}"/>
              </a:ext>
            </a:extLst>
          </p:cNvPr>
          <p:cNvSpPr>
            <a:spLocks noGrp="1"/>
          </p:cNvSpPr>
          <p:nvPr/>
        </p:nvSpPr>
        <p:spPr>
          <a:xfrm>
            <a:off x="7905750" y="2724150"/>
            <a:ext cx="3409950" cy="287655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C6D150-47DA-4C78-A24B-85B4ECBE0FBA}"/>
              </a:ext>
            </a:extLst>
          </p:cNvPr>
          <p:cNvSpPr>
            <a:spLocks noGrp="1"/>
          </p:cNvSpPr>
          <p:nvPr/>
        </p:nvSpPr>
        <p:spPr>
          <a:xfrm>
            <a:off x="7905750" y="2781300"/>
            <a:ext cx="66675" cy="28765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4263ED-EB63-45F9-B0EF-1A369D70D0F2}"/>
              </a:ext>
            </a:extLst>
          </p:cNvPr>
          <p:cNvSpPr>
            <a:spLocks noGrp="1"/>
          </p:cNvSpPr>
          <p:nvPr/>
        </p:nvSpPr>
        <p:spPr>
          <a:xfrm>
            <a:off x="8153400" y="300990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N22DCAT003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2C1A91-A241-480A-9561-1DFD0DCDC879}"/>
              </a:ext>
            </a:extLst>
          </p:cNvPr>
          <p:cNvSpPr>
            <a:spLocks noGrp="1"/>
          </p:cNvSpPr>
          <p:nvPr/>
        </p:nvSpPr>
        <p:spPr>
          <a:xfrm>
            <a:off x="8153400" y="3257550"/>
            <a:ext cx="2914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Ta Quang An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31843E-D36E-43C5-8F24-216F37BEA171}"/>
              </a:ext>
            </a:extLst>
          </p:cNvPr>
          <p:cNvSpPr>
            <a:spLocks noGrp="1"/>
          </p:cNvSpPr>
          <p:nvPr/>
        </p:nvSpPr>
        <p:spPr>
          <a:xfrm>
            <a:off x="8153400" y="3648075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Rule-Based ABSA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893627-CD5B-4356-B30F-CB7FCFEF3B8E}"/>
              </a:ext>
            </a:extLst>
          </p:cNvPr>
          <p:cNvSpPr>
            <a:spLocks noGrp="1"/>
          </p:cNvSpPr>
          <p:nvPr/>
        </p:nvSpPr>
        <p:spPr>
          <a:xfrm>
            <a:off x="8153400" y="4076700"/>
            <a:ext cx="2914650" cy="9525"/>
          </a:xfrm>
          <a:prstGeom prst="rect">
            <a:avLst/>
          </a:prstGeom>
          <a:solidFill>
            <a:srgbClr val="D8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BCD2D4-7CC5-420F-9B2A-08045258027D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2914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Defined aspect keywords and sentiment lexicons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CB60F4-E56B-4371-8238-336996A290A6}"/>
              </a:ext>
            </a:extLst>
          </p:cNvPr>
          <p:cNvSpPr>
            <a:spLocks noGrp="1"/>
          </p:cNvSpPr>
          <p:nvPr/>
        </p:nvSpPr>
        <p:spPr>
          <a:xfrm>
            <a:off x="8153400" y="4743450"/>
            <a:ext cx="2914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- Implemented negation handling and spaCy dependency parsing</a:t>
            </a:r>
          </a:p>
        </p:txBody>
      </p:sp>
    </p:spTree>
    <p:extLst>
      <p:ext uri="{BB962C8B-B14F-4D97-AF65-F5344CB8AC3E}">
        <p14:creationId xmlns:p14="http://schemas.microsoft.com/office/powerpoint/2010/main" val="368255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B3FE852-5ABA-4275-BA6F-74272175C2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DF44A-90A8-44CF-9647-8755722FD1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2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75041518-2EBF-4757-A551-F5E8BC8B015E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76200" cy="7620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DC98109D-7105-4102-A0F6-DB59D289BFA0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TASK FRAMING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A4A482-78D2-40B3-A770-4C76A845E775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Whole-review sentiment hides the aspect that changed.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16F8EB-80F4-412C-AEEE-A4F65D8BEC57}"/>
              </a:ext>
            </a:extLst>
          </p:cNvPr>
          <p:cNvSpPr>
            <a:spLocks noGrp="1"/>
          </p:cNvSpPr>
          <p:nvPr/>
        </p:nvSpPr>
        <p:spPr>
          <a:xfrm>
            <a:off x="8286750" y="723900"/>
            <a:ext cx="2857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returns one label per restaurant aspect, so mixed opinions stay visible.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D97C17-1292-488D-89B3-1CE6AF8DCA71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49530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D45446-0DDB-49D4-8D82-0643A9ED9ED8}"/>
              </a:ext>
            </a:extLst>
          </p:cNvPr>
          <p:cNvSpPr>
            <a:spLocks noGrp="1"/>
          </p:cNvSpPr>
          <p:nvPr/>
        </p:nvSpPr>
        <p:spPr>
          <a:xfrm>
            <a:off x="914400" y="24384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Input review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317D84-361D-4E00-8842-32F3BB230295}"/>
              </a:ext>
            </a:extLst>
          </p:cNvPr>
          <p:cNvSpPr>
            <a:spLocks noGrp="1"/>
          </p:cNvSpPr>
          <p:nvPr/>
        </p:nvSpPr>
        <p:spPr>
          <a:xfrm>
            <a:off x="914400" y="2895600"/>
            <a:ext cx="41719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950" b="0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"The sushi was fresh and delicious, but the waiter was rude and the restaurant was too noisy."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8EDE59-D44F-4434-8A42-621B1D1F8BC3}"/>
              </a:ext>
            </a:extLst>
          </p:cNvPr>
          <p:cNvSpPr>
            <a:spLocks noGrp="1"/>
          </p:cNvSpPr>
          <p:nvPr/>
        </p:nvSpPr>
        <p:spPr>
          <a:xfrm>
            <a:off x="6191250" y="2038350"/>
            <a:ext cx="9525" cy="14288"/>
          </a:xfrm>
          <a:prstGeom prst="rect">
            <a:avLst/>
          </a:prstGeom>
          <a:solidFill>
            <a:srgbClr val="CBBFA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3159E3-F3B0-4B9C-9ADC-13ED7F60835A}"/>
              </a:ext>
            </a:extLst>
          </p:cNvPr>
          <p:cNvSpPr>
            <a:spLocks noGrp="1"/>
          </p:cNvSpPr>
          <p:nvPr/>
        </p:nvSpPr>
        <p:spPr>
          <a:xfrm>
            <a:off x="6705600" y="20002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Output table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5E9716-3507-4B58-A526-4634A3273E60}"/>
              </a:ext>
            </a:extLst>
          </p:cNvPr>
          <p:cNvSpPr>
            <a:spLocks noGrp="1"/>
          </p:cNvSpPr>
          <p:nvPr/>
        </p:nvSpPr>
        <p:spPr>
          <a:xfrm>
            <a:off x="6705600" y="2495550"/>
            <a:ext cx="3714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6C7A57-0761-4BD2-A731-FED984FAF045}"/>
              </a:ext>
            </a:extLst>
          </p:cNvPr>
          <p:cNvSpPr>
            <a:spLocks noGrp="1"/>
          </p:cNvSpPr>
          <p:nvPr/>
        </p:nvSpPr>
        <p:spPr>
          <a:xfrm>
            <a:off x="6896100" y="263842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1EBBA5-A686-4EF8-8938-0D525F86152D}"/>
              </a:ext>
            </a:extLst>
          </p:cNvPr>
          <p:cNvSpPr>
            <a:spLocks noGrp="1"/>
          </p:cNvSpPr>
          <p:nvPr/>
        </p:nvSpPr>
        <p:spPr>
          <a:xfrm>
            <a:off x="9163050" y="2609850"/>
            <a:ext cx="1066800" cy="266700"/>
          </a:xfrm>
          <a:prstGeom prst="rect">
            <a:avLst/>
          </a:prstGeom>
          <a:solidFill>
            <a:srgbClr val="3E8C55">
              <a:alpha val="13333"/>
            </a:srgbClr>
          </a:solidFill>
          <a:ln w="9525">
            <a:solidFill>
              <a:srgbClr val="3E8C5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27C4A7-9DAE-4DD4-9AA8-0008C99D50ED}"/>
              </a:ext>
            </a:extLst>
          </p:cNvPr>
          <p:cNvSpPr>
            <a:spLocks noGrp="1"/>
          </p:cNvSpPr>
          <p:nvPr/>
        </p:nvSpPr>
        <p:spPr>
          <a:xfrm>
            <a:off x="9258300" y="266700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3E8C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E8C55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99B04D-B9BD-4898-8742-FC39A3111C3A}"/>
              </a:ext>
            </a:extLst>
          </p:cNvPr>
          <p:cNvSpPr>
            <a:spLocks noGrp="1"/>
          </p:cNvSpPr>
          <p:nvPr/>
        </p:nvSpPr>
        <p:spPr>
          <a:xfrm>
            <a:off x="6705600" y="3200400"/>
            <a:ext cx="3714750" cy="495300"/>
          </a:xfrm>
          <a:prstGeom prst="rect">
            <a:avLst/>
          </a:prstGeom>
          <a:solidFill>
            <a:srgbClr val="F3ECE3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4C0C00-3AB6-4CB5-8D11-7A61297E950C}"/>
              </a:ext>
            </a:extLst>
          </p:cNvPr>
          <p:cNvSpPr>
            <a:spLocks noGrp="1"/>
          </p:cNvSpPr>
          <p:nvPr/>
        </p:nvSpPr>
        <p:spPr>
          <a:xfrm>
            <a:off x="6896100" y="334327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D64254-3AC1-4851-9B5F-D7764FB3E0E1}"/>
              </a:ext>
            </a:extLst>
          </p:cNvPr>
          <p:cNvSpPr>
            <a:spLocks noGrp="1"/>
          </p:cNvSpPr>
          <p:nvPr/>
        </p:nvSpPr>
        <p:spPr>
          <a:xfrm>
            <a:off x="9163050" y="3314700"/>
            <a:ext cx="1066800" cy="266700"/>
          </a:xfrm>
          <a:prstGeom prst="rect">
            <a:avLst/>
          </a:prstGeom>
          <a:solidFill>
            <a:srgbClr val="B23B3B">
              <a:alpha val="13333"/>
            </a:srgbClr>
          </a:solidFill>
          <a:ln w="9525">
            <a:solidFill>
              <a:srgbClr val="B23B3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40FEC4-6FD4-445F-ACB2-2D4676577EE0}"/>
              </a:ext>
            </a:extLst>
          </p:cNvPr>
          <p:cNvSpPr>
            <a:spLocks noGrp="1"/>
          </p:cNvSpPr>
          <p:nvPr/>
        </p:nvSpPr>
        <p:spPr>
          <a:xfrm>
            <a:off x="9258300" y="33718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B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B3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928C41-6165-4383-A9F7-EC1859D28064}"/>
              </a:ext>
            </a:extLst>
          </p:cNvPr>
          <p:cNvSpPr>
            <a:spLocks noGrp="1"/>
          </p:cNvSpPr>
          <p:nvPr/>
        </p:nvSpPr>
        <p:spPr>
          <a:xfrm>
            <a:off x="6705600" y="3905250"/>
            <a:ext cx="3714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643182-CF73-43C3-AD71-093482C84094}"/>
              </a:ext>
            </a:extLst>
          </p:cNvPr>
          <p:cNvSpPr>
            <a:spLocks noGrp="1"/>
          </p:cNvSpPr>
          <p:nvPr/>
        </p:nvSpPr>
        <p:spPr>
          <a:xfrm>
            <a:off x="6896100" y="404812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DE2B7B-1E26-4D9E-9F20-187CADE195B4}"/>
              </a:ext>
            </a:extLst>
          </p:cNvPr>
          <p:cNvSpPr>
            <a:spLocks noGrp="1"/>
          </p:cNvSpPr>
          <p:nvPr/>
        </p:nvSpPr>
        <p:spPr>
          <a:xfrm>
            <a:off x="9163050" y="4019550"/>
            <a:ext cx="1066800" cy="266700"/>
          </a:xfrm>
          <a:prstGeom prst="rect">
            <a:avLst/>
          </a:prstGeom>
          <a:solidFill>
            <a:srgbClr val="6E7781">
              <a:alpha val="13333"/>
            </a:srgbClr>
          </a:solidFill>
          <a:ln w="9525">
            <a:solidFill>
              <a:srgbClr val="6E77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B5D39D-ED29-4B89-9285-832AC9F0FCDD}"/>
              </a:ext>
            </a:extLst>
          </p:cNvPr>
          <p:cNvSpPr>
            <a:spLocks noGrp="1"/>
          </p:cNvSpPr>
          <p:nvPr/>
        </p:nvSpPr>
        <p:spPr>
          <a:xfrm>
            <a:off x="9258300" y="407670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DA6F63-D3C8-4967-92CA-6115F4F743CF}"/>
              </a:ext>
            </a:extLst>
          </p:cNvPr>
          <p:cNvSpPr>
            <a:spLocks noGrp="1"/>
          </p:cNvSpPr>
          <p:nvPr/>
        </p:nvSpPr>
        <p:spPr>
          <a:xfrm>
            <a:off x="6705600" y="4610100"/>
            <a:ext cx="3714750" cy="495300"/>
          </a:xfrm>
          <a:prstGeom prst="rect">
            <a:avLst/>
          </a:prstGeom>
          <a:solidFill>
            <a:srgbClr val="F3ECE3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04FFA5-A260-4436-9BB5-E1BBEC9F2DD9}"/>
              </a:ext>
            </a:extLst>
          </p:cNvPr>
          <p:cNvSpPr>
            <a:spLocks noGrp="1"/>
          </p:cNvSpPr>
          <p:nvPr/>
        </p:nvSpPr>
        <p:spPr>
          <a:xfrm>
            <a:off x="6896100" y="475297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Eating Environment / Ambiance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A8810E-3214-4F47-95AC-F8A82DC44E88}"/>
              </a:ext>
            </a:extLst>
          </p:cNvPr>
          <p:cNvSpPr>
            <a:spLocks noGrp="1"/>
          </p:cNvSpPr>
          <p:nvPr/>
        </p:nvSpPr>
        <p:spPr>
          <a:xfrm>
            <a:off x="9163050" y="4724400"/>
            <a:ext cx="1066800" cy="266700"/>
          </a:xfrm>
          <a:prstGeom prst="rect">
            <a:avLst/>
          </a:prstGeom>
          <a:solidFill>
            <a:srgbClr val="B23B3B">
              <a:alpha val="13333"/>
            </a:srgbClr>
          </a:solidFill>
          <a:ln w="9525">
            <a:solidFill>
              <a:srgbClr val="B23B3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323290-B1E4-4877-BD95-3E0FA0E7C3CE}"/>
              </a:ext>
            </a:extLst>
          </p:cNvPr>
          <p:cNvSpPr>
            <a:spLocks noGrp="1"/>
          </p:cNvSpPr>
          <p:nvPr/>
        </p:nvSpPr>
        <p:spPr>
          <a:xfrm>
            <a:off x="9258300" y="47815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B23B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B3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7E11A6-FFD4-431B-9CF2-163A461DA6ED}"/>
              </a:ext>
            </a:extLst>
          </p:cNvPr>
          <p:cNvSpPr>
            <a:spLocks noGrp="1"/>
          </p:cNvSpPr>
          <p:nvPr/>
        </p:nvSpPr>
        <p:spPr>
          <a:xfrm>
            <a:off x="6705600" y="5562600"/>
            <a:ext cx="385762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Project rule: always return all four aspects, using Unknown when an aspect is absent or unclear.</a:t>
            </a:r>
          </a:p>
        </p:txBody>
      </p:sp>
    </p:spTree>
    <p:extLst>
      <p:ext uri="{BB962C8B-B14F-4D97-AF65-F5344CB8AC3E}">
        <p14:creationId xmlns:p14="http://schemas.microsoft.com/office/powerpoint/2010/main" val="1059623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2E5DD5-B301-4B46-987C-08238F2640F2}"/>
              </a:ext>
            </a:extLst>
          </p:cNvPr>
          <p:cNvSpPr>
            <a:spLocks noGrp="1"/>
          </p:cNvSpPr>
          <p:nvPr/>
        </p:nvSpPr>
        <p:spPr>
          <a:xfrm>
            <a:off x="533400" y="600075"/>
            <a:ext cx="11125200" cy="13335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F3579D-2A54-46C4-B9B7-BDAFD4DB01C2}"/>
              </a:ext>
            </a:extLst>
          </p:cNvPr>
          <p:cNvSpPr>
            <a:spLocks noGrp="1"/>
          </p:cNvSpPr>
          <p:nvPr/>
        </p:nvSpPr>
        <p:spPr>
          <a:xfrm>
            <a:off x="533400" y="91440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RAW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A82112-CD91-4F91-B638-C9F9A7342244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8858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original SemEval XML contains human-labeled restaurant review sentences before project mapping.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2DB00F-8078-49FA-AB12-BF06B72223E4}"/>
              </a:ext>
            </a:extLst>
          </p:cNvPr>
          <p:cNvSpPr>
            <a:spLocks noGrp="1"/>
          </p:cNvSpPr>
          <p:nvPr/>
        </p:nvSpPr>
        <p:spPr>
          <a:xfrm>
            <a:off x="533400" y="1981200"/>
            <a:ext cx="971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 file: backends/da</a:t>
            </a:r>
            <a:r>
              <a:rPr lang="en-US" sz="13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</a:t>
            </a:r>
            <a:r>
              <a:rPr sz="13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a/raw/Restaurants_Train_v2.xml. Each sentence can contain aspect-category tags and polarit</a:t>
            </a:r>
            <a:r>
              <a:rPr lang="en-US" sz="13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y</a:t>
            </a:r>
            <a:r>
              <a:rPr sz="13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annotati</a:t>
            </a:r>
            <a:r>
              <a:rPr lang="en-US" sz="13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</a:t>
            </a:r>
            <a:r>
              <a:rPr sz="13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558817-3F15-44DD-B032-0BDE095D97E2}"/>
              </a:ext>
            </a:extLst>
          </p:cNvPr>
          <p:cNvSpPr>
            <a:spLocks noGrp="1"/>
          </p:cNvSpPr>
          <p:nvPr/>
        </p:nvSpPr>
        <p:spPr>
          <a:xfrm>
            <a:off x="533400" y="2686050"/>
            <a:ext cx="3448050" cy="116205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026A6E-4B6D-45CD-B353-3FF21E80F3D6}"/>
              </a:ext>
            </a:extLst>
          </p:cNvPr>
          <p:cNvSpPr>
            <a:spLocks noGrp="1"/>
          </p:cNvSpPr>
          <p:nvPr/>
        </p:nvSpPr>
        <p:spPr>
          <a:xfrm>
            <a:off x="742950" y="2933700"/>
            <a:ext cx="914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5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B1E26F-0C9D-4C2D-9A0A-19F246239F98}"/>
              </a:ext>
            </a:extLst>
          </p:cNvPr>
          <p:cNvSpPr>
            <a:spLocks noGrp="1"/>
          </p:cNvSpPr>
          <p:nvPr/>
        </p:nvSpPr>
        <p:spPr>
          <a:xfrm>
            <a:off x="742950" y="3295650"/>
            <a:ext cx="914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raw review sentences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0DFD1D-2646-4E8F-92E6-87182718C00F}"/>
              </a:ext>
            </a:extLst>
          </p:cNvPr>
          <p:cNvSpPr>
            <a:spLocks noGrp="1"/>
          </p:cNvSpPr>
          <p:nvPr/>
        </p:nvSpPr>
        <p:spPr>
          <a:xfrm>
            <a:off x="1809750" y="2933700"/>
            <a:ext cx="914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6D4CF9-B483-4B22-9CCB-31DFFAE5081C}"/>
              </a:ext>
            </a:extLst>
          </p:cNvPr>
          <p:cNvSpPr>
            <a:spLocks noGrp="1"/>
          </p:cNvSpPr>
          <p:nvPr/>
        </p:nvSpPr>
        <p:spPr>
          <a:xfrm>
            <a:off x="1809750" y="3295650"/>
            <a:ext cx="914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 categories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0C0401-ACCE-4460-AF21-8468265789BE}"/>
              </a:ext>
            </a:extLst>
          </p:cNvPr>
          <p:cNvSpPr>
            <a:spLocks noGrp="1"/>
          </p:cNvSpPr>
          <p:nvPr/>
        </p:nvSpPr>
        <p:spPr>
          <a:xfrm>
            <a:off x="2876550" y="2933700"/>
            <a:ext cx="819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5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38808F-7BEE-402E-9D0D-CB89F457C39E}"/>
              </a:ext>
            </a:extLst>
          </p:cNvPr>
          <p:cNvSpPr>
            <a:spLocks noGrp="1"/>
          </p:cNvSpPr>
          <p:nvPr/>
        </p:nvSpPr>
        <p:spPr>
          <a:xfrm>
            <a:off x="2876550" y="3295650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polarity labels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F620C7-13A5-43EA-B1AC-AD982B7BE805}"/>
              </a:ext>
            </a:extLst>
          </p:cNvPr>
          <p:cNvSpPr>
            <a:spLocks noGrp="1"/>
          </p:cNvSpPr>
          <p:nvPr/>
        </p:nvSpPr>
        <p:spPr>
          <a:xfrm>
            <a:off x="4343400" y="2686050"/>
            <a:ext cx="7315200" cy="116205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785370-B61F-4AF4-890C-AF0881564278}"/>
              </a:ext>
            </a:extLst>
          </p:cNvPr>
          <p:cNvSpPr>
            <a:spLocks noGrp="1"/>
          </p:cNvSpPr>
          <p:nvPr/>
        </p:nvSpPr>
        <p:spPr>
          <a:xfrm>
            <a:off x="4610100" y="29146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Raw XML example structure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70B71-5C7D-41E6-A4FD-4DA817241B63}"/>
              </a:ext>
            </a:extLst>
          </p:cNvPr>
          <p:cNvSpPr>
            <a:spLocks noGrp="1"/>
          </p:cNvSpPr>
          <p:nvPr/>
        </p:nvSpPr>
        <p:spPr>
          <a:xfrm>
            <a:off x="4610100" y="3200400"/>
            <a:ext cx="6553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20263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202636"/>
                </a:solidFill>
                <a:latin typeface="Aptos Mono"/>
                <a:ea typeface="Aptos Mono"/>
                <a:cs typeface="Aptos Mono"/>
              </a:rPr>
              <a:t>&lt;sentence id="3121"&gt; review text + &lt;aspectCategory category="service" polarity="negative"/&gt;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4A20D0-4227-4F40-9013-CB26C8081144}"/>
              </a:ext>
            </a:extLst>
          </p:cNvPr>
          <p:cNvSpPr>
            <a:spLocks noGrp="1"/>
          </p:cNvSpPr>
          <p:nvPr/>
        </p:nvSpPr>
        <p:spPr>
          <a:xfrm>
            <a:off x="590550" y="4191000"/>
            <a:ext cx="5257800" cy="180975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23AB63-06E8-4844-B60E-79F9F7F026EA}"/>
              </a:ext>
            </a:extLst>
          </p:cNvPr>
          <p:cNvSpPr>
            <a:spLocks noGrp="1"/>
          </p:cNvSpPr>
          <p:nvPr/>
        </p:nvSpPr>
        <p:spPr>
          <a:xfrm>
            <a:off x="781050" y="44005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Original aspect categories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08F0F8-8D3D-4649-B0A5-86EC2FA7EB84}"/>
              </a:ext>
            </a:extLst>
          </p:cNvPr>
          <p:cNvSpPr>
            <a:spLocks noGrp="1"/>
          </p:cNvSpPr>
          <p:nvPr/>
        </p:nvSpPr>
        <p:spPr>
          <a:xfrm>
            <a:off x="781050" y="476250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3F604A-BB35-471C-B373-D12277C4F2B4}"/>
              </a:ext>
            </a:extLst>
          </p:cNvPr>
          <p:cNvSpPr>
            <a:spLocks noGrp="1"/>
          </p:cNvSpPr>
          <p:nvPr/>
        </p:nvSpPr>
        <p:spPr>
          <a:xfrm>
            <a:off x="2476500" y="4800600"/>
            <a:ext cx="2809875" cy="95250"/>
          </a:xfrm>
          <a:prstGeom prst="rect">
            <a:avLst/>
          </a:prstGeom>
          <a:solidFill>
            <a:srgbClr val="E5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9A339D-AB48-400A-BDC7-479D04E03A49}"/>
              </a:ext>
            </a:extLst>
          </p:cNvPr>
          <p:cNvSpPr>
            <a:spLocks noGrp="1"/>
          </p:cNvSpPr>
          <p:nvPr/>
        </p:nvSpPr>
        <p:spPr>
          <a:xfrm>
            <a:off x="2476500" y="4800600"/>
            <a:ext cx="2809875" cy="95250"/>
          </a:xfrm>
          <a:prstGeom prst="rect">
            <a:avLst/>
          </a:prstGeom>
          <a:solidFill>
            <a:srgbClr val="2D6C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E737B8-E4E7-4873-9317-B5BB62A3FFE0}"/>
              </a:ext>
            </a:extLst>
          </p:cNvPr>
          <p:cNvSpPr>
            <a:spLocks noGrp="1"/>
          </p:cNvSpPr>
          <p:nvPr/>
        </p:nvSpPr>
        <p:spPr>
          <a:xfrm>
            <a:off x="5353050" y="4752975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1232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24160B-CFF6-4F2F-B26D-E3AFFCF5C73B}"/>
              </a:ext>
            </a:extLst>
          </p:cNvPr>
          <p:cNvSpPr>
            <a:spLocks noGrp="1"/>
          </p:cNvSpPr>
          <p:nvPr/>
        </p:nvSpPr>
        <p:spPr>
          <a:xfrm>
            <a:off x="781050" y="501015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anecdotes/misc.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4F3BD0-8F41-45E7-B131-E5FED7067271}"/>
              </a:ext>
            </a:extLst>
          </p:cNvPr>
          <p:cNvSpPr>
            <a:spLocks noGrp="1"/>
          </p:cNvSpPr>
          <p:nvPr/>
        </p:nvSpPr>
        <p:spPr>
          <a:xfrm>
            <a:off x="2476500" y="5048250"/>
            <a:ext cx="2809875" cy="95250"/>
          </a:xfrm>
          <a:prstGeom prst="rect">
            <a:avLst/>
          </a:prstGeom>
          <a:solidFill>
            <a:srgbClr val="E5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E6D105-3835-439E-A895-493353B8E6DC}"/>
              </a:ext>
            </a:extLst>
          </p:cNvPr>
          <p:cNvSpPr>
            <a:spLocks noGrp="1"/>
          </p:cNvSpPr>
          <p:nvPr/>
        </p:nvSpPr>
        <p:spPr>
          <a:xfrm>
            <a:off x="2476500" y="5048250"/>
            <a:ext cx="2581801" cy="952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55FF42-22E5-434F-9D91-3DF2D78EF403}"/>
              </a:ext>
            </a:extLst>
          </p:cNvPr>
          <p:cNvSpPr>
            <a:spLocks noGrp="1"/>
          </p:cNvSpPr>
          <p:nvPr/>
        </p:nvSpPr>
        <p:spPr>
          <a:xfrm>
            <a:off x="5353050" y="5000625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1132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F0897B-6A02-46D6-B7A3-1B0896ADCC09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E6C195-55D2-4F3A-9937-2E05D721FCDA}"/>
              </a:ext>
            </a:extLst>
          </p:cNvPr>
          <p:cNvSpPr>
            <a:spLocks noGrp="1"/>
          </p:cNvSpPr>
          <p:nvPr/>
        </p:nvSpPr>
        <p:spPr>
          <a:xfrm>
            <a:off x="2476500" y="5295900"/>
            <a:ext cx="2809875" cy="95250"/>
          </a:xfrm>
          <a:prstGeom prst="rect">
            <a:avLst/>
          </a:prstGeom>
          <a:solidFill>
            <a:srgbClr val="E5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1A0D45-B59A-4907-9130-25871D381868}"/>
              </a:ext>
            </a:extLst>
          </p:cNvPr>
          <p:cNvSpPr>
            <a:spLocks noGrp="1"/>
          </p:cNvSpPr>
          <p:nvPr/>
        </p:nvSpPr>
        <p:spPr>
          <a:xfrm>
            <a:off x="2476500" y="5295900"/>
            <a:ext cx="1361603" cy="95250"/>
          </a:xfrm>
          <a:prstGeom prst="rect">
            <a:avLst/>
          </a:prstGeom>
          <a:solidFill>
            <a:srgbClr val="1E9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E25BCA-0A12-41FA-872C-C48890C9321B}"/>
              </a:ext>
            </a:extLst>
          </p:cNvPr>
          <p:cNvSpPr>
            <a:spLocks noGrp="1"/>
          </p:cNvSpPr>
          <p:nvPr/>
        </p:nvSpPr>
        <p:spPr>
          <a:xfrm>
            <a:off x="5353050" y="5248275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597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0DA9AF-EA33-4F67-9A3B-FF1676D16CF4}"/>
              </a:ext>
            </a:extLst>
          </p:cNvPr>
          <p:cNvSpPr>
            <a:spLocks noGrp="1"/>
          </p:cNvSpPr>
          <p:nvPr/>
        </p:nvSpPr>
        <p:spPr>
          <a:xfrm>
            <a:off x="781050" y="550545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ambience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C89A13-5879-46B3-B925-AC474EBC5EA6}"/>
              </a:ext>
            </a:extLst>
          </p:cNvPr>
          <p:cNvSpPr>
            <a:spLocks noGrp="1"/>
          </p:cNvSpPr>
          <p:nvPr/>
        </p:nvSpPr>
        <p:spPr>
          <a:xfrm>
            <a:off x="2476500" y="5543550"/>
            <a:ext cx="2809875" cy="95250"/>
          </a:xfrm>
          <a:prstGeom prst="rect">
            <a:avLst/>
          </a:prstGeom>
          <a:solidFill>
            <a:srgbClr val="E5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EDF1F3-D94A-4EBC-BA9E-4463391CB5B6}"/>
              </a:ext>
            </a:extLst>
          </p:cNvPr>
          <p:cNvSpPr>
            <a:spLocks noGrp="1"/>
          </p:cNvSpPr>
          <p:nvPr/>
        </p:nvSpPr>
        <p:spPr>
          <a:xfrm>
            <a:off x="2476500" y="5543550"/>
            <a:ext cx="983000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7872F8-30C8-4069-8C15-D0A049DB9D01}"/>
              </a:ext>
            </a:extLst>
          </p:cNvPr>
          <p:cNvSpPr>
            <a:spLocks noGrp="1"/>
          </p:cNvSpPr>
          <p:nvPr/>
        </p:nvSpPr>
        <p:spPr>
          <a:xfrm>
            <a:off x="5353050" y="5495925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431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C3D0F17-F5DC-42D9-8193-A8E2DAC1971D}"/>
              </a:ext>
            </a:extLst>
          </p:cNvPr>
          <p:cNvSpPr>
            <a:spLocks noGrp="1"/>
          </p:cNvSpPr>
          <p:nvPr/>
        </p:nvSpPr>
        <p:spPr>
          <a:xfrm>
            <a:off x="781050" y="575310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1E4E41-C90D-4291-B062-F8D4DAD0EE41}"/>
              </a:ext>
            </a:extLst>
          </p:cNvPr>
          <p:cNvSpPr>
            <a:spLocks noGrp="1"/>
          </p:cNvSpPr>
          <p:nvPr/>
        </p:nvSpPr>
        <p:spPr>
          <a:xfrm>
            <a:off x="2476500" y="5791200"/>
            <a:ext cx="2809875" cy="95250"/>
          </a:xfrm>
          <a:prstGeom prst="rect">
            <a:avLst/>
          </a:prstGeom>
          <a:solidFill>
            <a:srgbClr val="E5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E55396-F2F4-4E66-BA5A-9EFD1B788EDF}"/>
              </a:ext>
            </a:extLst>
          </p:cNvPr>
          <p:cNvSpPr>
            <a:spLocks noGrp="1"/>
          </p:cNvSpPr>
          <p:nvPr/>
        </p:nvSpPr>
        <p:spPr>
          <a:xfrm>
            <a:off x="2476500" y="5791200"/>
            <a:ext cx="732118" cy="9525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E4E066-7028-4FF3-BEB6-98740C8B368B}"/>
              </a:ext>
            </a:extLst>
          </p:cNvPr>
          <p:cNvSpPr>
            <a:spLocks noGrp="1"/>
          </p:cNvSpPr>
          <p:nvPr/>
        </p:nvSpPr>
        <p:spPr>
          <a:xfrm>
            <a:off x="5353050" y="5743575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321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1936EB-190D-4B72-9AB4-15E88111BC0A}"/>
              </a:ext>
            </a:extLst>
          </p:cNvPr>
          <p:cNvSpPr>
            <a:spLocks noGrp="1"/>
          </p:cNvSpPr>
          <p:nvPr/>
        </p:nvSpPr>
        <p:spPr>
          <a:xfrm>
            <a:off x="6496050" y="4191000"/>
            <a:ext cx="5257800" cy="180975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50BBCA7-0F3A-478A-883D-B87EBF1D0856}"/>
              </a:ext>
            </a:extLst>
          </p:cNvPr>
          <p:cNvSpPr>
            <a:spLocks noGrp="1"/>
          </p:cNvSpPr>
          <p:nvPr/>
        </p:nvSpPr>
        <p:spPr>
          <a:xfrm>
            <a:off x="6648450" y="44005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Original polarity labels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177FCB7-EDA7-41BF-850D-081BB7F2F2B6}"/>
              </a:ext>
            </a:extLst>
          </p:cNvPr>
          <p:cNvSpPr>
            <a:spLocks noGrp="1"/>
          </p:cNvSpPr>
          <p:nvPr/>
        </p:nvSpPr>
        <p:spPr>
          <a:xfrm>
            <a:off x="6648450" y="481965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9575BE3-62FC-4909-AD70-590DDBECD813}"/>
              </a:ext>
            </a:extLst>
          </p:cNvPr>
          <p:cNvSpPr>
            <a:spLocks noGrp="1"/>
          </p:cNvSpPr>
          <p:nvPr/>
        </p:nvSpPr>
        <p:spPr>
          <a:xfrm>
            <a:off x="8343900" y="4857750"/>
            <a:ext cx="2809875" cy="95250"/>
          </a:xfrm>
          <a:prstGeom prst="rect">
            <a:avLst/>
          </a:prstGeom>
          <a:solidFill>
            <a:srgbClr val="E5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D504C2-3651-4B1A-BF6D-C143F7B42DED}"/>
              </a:ext>
            </a:extLst>
          </p:cNvPr>
          <p:cNvSpPr>
            <a:spLocks noGrp="1"/>
          </p:cNvSpPr>
          <p:nvPr/>
        </p:nvSpPr>
        <p:spPr>
          <a:xfrm>
            <a:off x="8343900" y="4857750"/>
            <a:ext cx="2809875" cy="95250"/>
          </a:xfrm>
          <a:prstGeom prst="rect">
            <a:avLst/>
          </a:prstGeom>
          <a:solidFill>
            <a:srgbClr val="1E9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8045C3E-1505-4A6F-A8DE-D1899A27FBD7}"/>
              </a:ext>
            </a:extLst>
          </p:cNvPr>
          <p:cNvSpPr>
            <a:spLocks noGrp="1"/>
          </p:cNvSpPr>
          <p:nvPr/>
        </p:nvSpPr>
        <p:spPr>
          <a:xfrm>
            <a:off x="11220450" y="4810125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2179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90C149-2F0D-4580-9F69-F04F0F4A9170}"/>
              </a:ext>
            </a:extLst>
          </p:cNvPr>
          <p:cNvSpPr>
            <a:spLocks noGrp="1"/>
          </p:cNvSpPr>
          <p:nvPr/>
        </p:nvSpPr>
        <p:spPr>
          <a:xfrm>
            <a:off x="6648450" y="512445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659209B-F5CC-4507-B474-9009E975D7CC}"/>
              </a:ext>
            </a:extLst>
          </p:cNvPr>
          <p:cNvSpPr>
            <a:spLocks noGrp="1"/>
          </p:cNvSpPr>
          <p:nvPr/>
        </p:nvSpPr>
        <p:spPr>
          <a:xfrm>
            <a:off x="8343900" y="5162550"/>
            <a:ext cx="2809875" cy="95250"/>
          </a:xfrm>
          <a:prstGeom prst="rect">
            <a:avLst/>
          </a:prstGeom>
          <a:solidFill>
            <a:srgbClr val="E5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DEB54E9-0EB9-46C0-A79C-CA996D388BEA}"/>
              </a:ext>
            </a:extLst>
          </p:cNvPr>
          <p:cNvSpPr>
            <a:spLocks noGrp="1"/>
          </p:cNvSpPr>
          <p:nvPr/>
        </p:nvSpPr>
        <p:spPr>
          <a:xfrm>
            <a:off x="8343900" y="5162550"/>
            <a:ext cx="1081911" cy="9525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0E44E59-47FA-47A2-92EB-3E243FB58ECB}"/>
              </a:ext>
            </a:extLst>
          </p:cNvPr>
          <p:cNvSpPr>
            <a:spLocks noGrp="1"/>
          </p:cNvSpPr>
          <p:nvPr/>
        </p:nvSpPr>
        <p:spPr>
          <a:xfrm>
            <a:off x="11220450" y="5114925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839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C544F39-072F-4314-9C0C-86C513DAB36F}"/>
              </a:ext>
            </a:extLst>
          </p:cNvPr>
          <p:cNvSpPr>
            <a:spLocks noGrp="1"/>
          </p:cNvSpPr>
          <p:nvPr/>
        </p:nvSpPr>
        <p:spPr>
          <a:xfrm>
            <a:off x="6648450" y="542925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ECC4364-4D23-4D90-A295-320D1FB6FE1C}"/>
              </a:ext>
            </a:extLst>
          </p:cNvPr>
          <p:cNvSpPr>
            <a:spLocks noGrp="1"/>
          </p:cNvSpPr>
          <p:nvPr/>
        </p:nvSpPr>
        <p:spPr>
          <a:xfrm>
            <a:off x="8343900" y="5467350"/>
            <a:ext cx="2809875" cy="95250"/>
          </a:xfrm>
          <a:prstGeom prst="rect">
            <a:avLst/>
          </a:prstGeom>
          <a:solidFill>
            <a:srgbClr val="E5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AA2793E-DCDD-4112-8388-B0ECB64401B8}"/>
              </a:ext>
            </a:extLst>
          </p:cNvPr>
          <p:cNvSpPr>
            <a:spLocks noGrp="1"/>
          </p:cNvSpPr>
          <p:nvPr/>
        </p:nvSpPr>
        <p:spPr>
          <a:xfrm>
            <a:off x="8343900" y="5467350"/>
            <a:ext cx="644763" cy="95250"/>
          </a:xfrm>
          <a:prstGeom prst="rect">
            <a:avLst/>
          </a:prstGeom>
          <a:solidFill>
            <a:srgbClr val="2D6C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6F14BE4-26A1-46AA-B0E6-8699F0DD65F9}"/>
              </a:ext>
            </a:extLst>
          </p:cNvPr>
          <p:cNvSpPr>
            <a:spLocks noGrp="1"/>
          </p:cNvSpPr>
          <p:nvPr/>
        </p:nvSpPr>
        <p:spPr>
          <a:xfrm>
            <a:off x="11220450" y="5419725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500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805C58D-B80C-4187-9878-E448816E4E7D}"/>
              </a:ext>
            </a:extLst>
          </p:cNvPr>
          <p:cNvSpPr>
            <a:spLocks noGrp="1"/>
          </p:cNvSpPr>
          <p:nvPr/>
        </p:nvSpPr>
        <p:spPr>
          <a:xfrm>
            <a:off x="6648450" y="573405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636"/>
                </a:solidFill>
                <a:latin typeface="Aptos"/>
                <a:ea typeface="Aptos"/>
                <a:cs typeface="Aptos"/>
              </a:rPr>
              <a:t>conflict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97A5FA0-7863-4381-A4C4-976063430BA0}"/>
              </a:ext>
            </a:extLst>
          </p:cNvPr>
          <p:cNvSpPr>
            <a:spLocks noGrp="1"/>
          </p:cNvSpPr>
          <p:nvPr/>
        </p:nvSpPr>
        <p:spPr>
          <a:xfrm>
            <a:off x="8343900" y="5772150"/>
            <a:ext cx="2809875" cy="95250"/>
          </a:xfrm>
          <a:prstGeom prst="rect">
            <a:avLst/>
          </a:prstGeom>
          <a:solidFill>
            <a:srgbClr val="E5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1FE258E-C05E-4E2D-9643-854F0D0DAE98}"/>
              </a:ext>
            </a:extLst>
          </p:cNvPr>
          <p:cNvSpPr>
            <a:spLocks noGrp="1"/>
          </p:cNvSpPr>
          <p:nvPr/>
        </p:nvSpPr>
        <p:spPr>
          <a:xfrm>
            <a:off x="8343900" y="5772150"/>
            <a:ext cx="251457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632709C-14FA-4DDC-A44E-74373704D985}"/>
              </a:ext>
            </a:extLst>
          </p:cNvPr>
          <p:cNvSpPr>
            <a:spLocks noGrp="1"/>
          </p:cNvSpPr>
          <p:nvPr/>
        </p:nvSpPr>
        <p:spPr>
          <a:xfrm>
            <a:off x="11220450" y="5724525"/>
            <a:ext cx="438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195</a:t>
            </a:r>
          </a:p>
        </p:txBody>
      </p:sp>
    </p:spTree>
    <p:extLst>
      <p:ext uri="{BB962C8B-B14F-4D97-AF65-F5344CB8AC3E}">
        <p14:creationId xmlns:p14="http://schemas.microsoft.com/office/powerpoint/2010/main" val="73417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AC4D2EF9-0A8E-4718-B62B-998B1E0329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F69AC-6B7E-42FC-ACE9-C9AD046DF570}"/>
              </a:ext>
            </a:extLst>
          </p:cNvPr>
          <p:cNvSpPr>
            <a:spLocks noGrp="1"/>
          </p:cNvSpPr>
          <p:nvPr/>
        </p:nvSpPr>
        <p:spPr>
          <a:xfrm>
            <a:off x="533400" y="600075"/>
            <a:ext cx="11125200" cy="13335"/>
          </a:xfrm>
          <a:prstGeom prst="rect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467CD6-64CF-478F-936B-EBE9AE1A033D}"/>
              </a:ext>
            </a:extLst>
          </p:cNvPr>
          <p:cNvSpPr>
            <a:spLocks noGrp="1"/>
          </p:cNvSpPr>
          <p:nvPr/>
        </p:nvSpPr>
        <p:spPr>
          <a:xfrm>
            <a:off x="533400" y="9144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PREPROCESSED 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675A76-EE52-4225-A413-54BD0A343EEF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876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Raw SemEval annotations are converted into fixed, model-ready ABSA tables.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F67237-519D-406B-8EB0-6B35A3F79B71}"/>
              </a:ext>
            </a:extLst>
          </p:cNvPr>
          <p:cNvSpPr>
            <a:spLocks noGrp="1"/>
          </p:cNvSpPr>
          <p:nvPr/>
        </p:nvSpPr>
        <p:spPr>
          <a:xfrm>
            <a:off x="523875" y="2009775"/>
            <a:ext cx="828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preprocessing step makes every model solve the same task: four aspects and three labels for every review.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465B84-1E33-4B45-BDBE-E79BDA21363A}"/>
              </a:ext>
            </a:extLst>
          </p:cNvPr>
          <p:cNvSpPr>
            <a:spLocks noGrp="1"/>
          </p:cNvSpPr>
          <p:nvPr/>
        </p:nvSpPr>
        <p:spPr>
          <a:xfrm>
            <a:off x="533400" y="2552700"/>
            <a:ext cx="3714750" cy="207645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28ACFC-60E9-4C5F-B9EB-053705EE6AF9}"/>
              </a:ext>
            </a:extLst>
          </p:cNvPr>
          <p:cNvSpPr>
            <a:spLocks noGrp="1"/>
          </p:cNvSpPr>
          <p:nvPr/>
        </p:nvSpPr>
        <p:spPr>
          <a:xfrm>
            <a:off x="800100" y="2800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was changed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7567C-953C-468E-A1DA-73F14FDBFA63}"/>
              </a:ext>
            </a:extLst>
          </p:cNvPr>
          <p:cNvSpPr>
            <a:spLocks noGrp="1"/>
          </p:cNvSpPr>
          <p:nvPr/>
        </p:nvSpPr>
        <p:spPr>
          <a:xfrm>
            <a:off x="800100" y="3133725"/>
            <a:ext cx="152400" cy="152400"/>
          </a:xfrm>
          <a:prstGeom prst="rect">
            <a:avLst/>
          </a:prstGeom>
          <a:solidFill>
            <a:srgbClr val="2D6C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8DE92F-E5D3-4EFB-9FDA-BCFDE87E4FF9}"/>
              </a:ext>
            </a:extLst>
          </p:cNvPr>
          <p:cNvSpPr>
            <a:spLocks noGrp="1"/>
          </p:cNvSpPr>
          <p:nvPr/>
        </p:nvSpPr>
        <p:spPr>
          <a:xfrm>
            <a:off x="1066800" y="31051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Mapped categories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C922A5-D01A-4D06-A182-BF009181E1ED}"/>
              </a:ext>
            </a:extLst>
          </p:cNvPr>
          <p:cNvSpPr>
            <a:spLocks noGrp="1"/>
          </p:cNvSpPr>
          <p:nvPr/>
        </p:nvSpPr>
        <p:spPr>
          <a:xfrm>
            <a:off x="1066800" y="33147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food, service, price, ambience -&gt; four project aspects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9AFEF5-7772-41A7-B1F3-E0A85357B873}"/>
              </a:ext>
            </a:extLst>
          </p:cNvPr>
          <p:cNvSpPr>
            <a:spLocks noGrp="1"/>
          </p:cNvSpPr>
          <p:nvPr/>
        </p:nvSpPr>
        <p:spPr>
          <a:xfrm>
            <a:off x="800100" y="3686175"/>
            <a:ext cx="152400" cy="1524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AAA348-9738-4C30-954C-7F5DDD4E1B7F}"/>
              </a:ext>
            </a:extLst>
          </p:cNvPr>
          <p:cNvSpPr>
            <a:spLocks noGrp="1"/>
          </p:cNvSpPr>
          <p:nvPr/>
        </p:nvSpPr>
        <p:spPr>
          <a:xfrm>
            <a:off x="1066800" y="36576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Mapped polarities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D75A34-DE53-4EA7-B9B3-C6E2B6510D20}"/>
              </a:ext>
            </a:extLst>
          </p:cNvPr>
          <p:cNvSpPr>
            <a:spLocks noGrp="1"/>
          </p:cNvSpPr>
          <p:nvPr/>
        </p:nvSpPr>
        <p:spPr>
          <a:xfrm>
            <a:off x="1066800" y="38671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positive / negative kept; neutral and conflict become Unknown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2D7D92-B72D-45BA-B36A-FEF7F524E70F}"/>
              </a:ext>
            </a:extLst>
          </p:cNvPr>
          <p:cNvSpPr>
            <a:spLocks noGrp="1"/>
          </p:cNvSpPr>
          <p:nvPr/>
        </p:nvSpPr>
        <p:spPr>
          <a:xfrm>
            <a:off x="800100" y="4238625"/>
            <a:ext cx="152400" cy="1524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92944A-9852-48F7-9703-3553127D7723}"/>
              </a:ext>
            </a:extLst>
          </p:cNvPr>
          <p:cNvSpPr>
            <a:spLocks noGrp="1"/>
          </p:cNvSpPr>
          <p:nvPr/>
        </p:nvSpPr>
        <p:spPr>
          <a:xfrm>
            <a:off x="1066800" y="42100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Ignored misc.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F999F5-D8F8-484D-8025-F0C0C866E2BB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miscellaneous category removed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182D22-AA36-475A-A227-2DCA4B427D2B}"/>
              </a:ext>
            </a:extLst>
          </p:cNvPr>
          <p:cNvSpPr>
            <a:spLocks noGrp="1"/>
          </p:cNvSpPr>
          <p:nvPr/>
        </p:nvSpPr>
        <p:spPr>
          <a:xfrm>
            <a:off x="4533900" y="2552700"/>
            <a:ext cx="3295650" cy="2076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D8BC94-BADD-4168-9B9D-2B4CCEB66F28}"/>
              </a:ext>
            </a:extLst>
          </p:cNvPr>
          <p:cNvSpPr>
            <a:spLocks noGrp="1"/>
          </p:cNvSpPr>
          <p:nvPr/>
        </p:nvSpPr>
        <p:spPr>
          <a:xfrm>
            <a:off x="4800600" y="28003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Output schema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38D363-F497-4EA2-A4B7-65B0D1E440AB}"/>
              </a:ext>
            </a:extLst>
          </p:cNvPr>
          <p:cNvSpPr>
            <a:spLocks noGrp="1"/>
          </p:cNvSpPr>
          <p:nvPr/>
        </p:nvSpPr>
        <p:spPr>
          <a:xfrm>
            <a:off x="4800600" y="316230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Wide CSV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D95391-BCBB-452F-B5C6-2BBA507BF8CD}"/>
              </a:ext>
            </a:extLst>
          </p:cNvPr>
          <p:cNvSpPr>
            <a:spLocks noGrp="1"/>
          </p:cNvSpPr>
          <p:nvPr/>
        </p:nvSpPr>
        <p:spPr>
          <a:xfrm>
            <a:off x="4800600" y="339090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One review row with columns: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1BB0A2-D90F-48C3-9A30-298B45BE41E0}"/>
              </a:ext>
            </a:extLst>
          </p:cNvPr>
          <p:cNvSpPr>
            <a:spLocks noGrp="1"/>
          </p:cNvSpPr>
          <p:nvPr/>
        </p:nvSpPr>
        <p:spPr>
          <a:xfrm>
            <a:off x="4800600" y="3600450"/>
            <a:ext cx="2724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202636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202636"/>
                </a:solidFill>
                <a:latin typeface="Aptos Mono"/>
                <a:ea typeface="Aptos Mono"/>
                <a:cs typeface="Aptos Mono"/>
              </a:rPr>
              <a:t>id | review | Food | Service | Price | Ambiance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7DFE41-CB14-4B3C-81A6-BEB31DF4F2D5}"/>
              </a:ext>
            </a:extLst>
          </p:cNvPr>
          <p:cNvSpPr>
            <a:spLocks noGrp="1"/>
          </p:cNvSpPr>
          <p:nvPr/>
        </p:nvSpPr>
        <p:spPr>
          <a:xfrm>
            <a:off x="4800600" y="39433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Long CSV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6686BF-D396-4D48-B7E3-647FFD7A6732}"/>
              </a:ext>
            </a:extLst>
          </p:cNvPr>
          <p:cNvSpPr>
            <a:spLocks noGrp="1"/>
          </p:cNvSpPr>
          <p:nvPr/>
        </p:nvSpPr>
        <p:spPr>
          <a:xfrm>
            <a:off x="4800600" y="4171950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Four rows per review, one per aspect: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2341B9-95AA-4493-B674-B37262496542}"/>
              </a:ext>
            </a:extLst>
          </p:cNvPr>
          <p:cNvSpPr>
            <a:spLocks noGrp="1"/>
          </p:cNvSpPr>
          <p:nvPr/>
        </p:nvSpPr>
        <p:spPr>
          <a:xfrm>
            <a:off x="4800600" y="4381500"/>
            <a:ext cx="2571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202636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202636"/>
                </a:solidFill>
                <a:latin typeface="Aptos Mono"/>
                <a:ea typeface="Aptos Mono"/>
                <a:cs typeface="Aptos Mono"/>
              </a:rPr>
              <a:t>id | review | aspect | sentiment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F7BF84-F902-41EB-9CC1-1B6AF903DF50}"/>
              </a:ext>
            </a:extLst>
          </p:cNvPr>
          <p:cNvSpPr>
            <a:spLocks noGrp="1"/>
          </p:cNvSpPr>
          <p:nvPr/>
        </p:nvSpPr>
        <p:spPr>
          <a:xfrm>
            <a:off x="8115300" y="2552700"/>
            <a:ext cx="3543300" cy="207645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F210D4-5473-4D3F-BA92-5770B4F6B0A6}"/>
              </a:ext>
            </a:extLst>
          </p:cNvPr>
          <p:cNvSpPr>
            <a:spLocks noGrp="1"/>
          </p:cNvSpPr>
          <p:nvPr/>
        </p:nvSpPr>
        <p:spPr>
          <a:xfrm>
            <a:off x="8382000" y="28003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Validation rules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FEECDD-D05F-40A4-A1CD-A710307E3C37}"/>
              </a:ext>
            </a:extLst>
          </p:cNvPr>
          <p:cNvSpPr>
            <a:spLocks noGrp="1"/>
          </p:cNvSpPr>
          <p:nvPr/>
        </p:nvSpPr>
        <p:spPr>
          <a:xfrm>
            <a:off x="8382000" y="3133725"/>
            <a:ext cx="152400" cy="152400"/>
          </a:xfrm>
          <a:prstGeom prst="rect">
            <a:avLst/>
          </a:prstGeom>
          <a:solidFill>
            <a:srgbClr val="1E9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3965BA-8F56-4D20-8267-E43B80956A75}"/>
              </a:ext>
            </a:extLst>
          </p:cNvPr>
          <p:cNvSpPr>
            <a:spLocks noGrp="1"/>
          </p:cNvSpPr>
          <p:nvPr/>
        </p:nvSpPr>
        <p:spPr>
          <a:xfrm>
            <a:off x="8648700" y="31051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Non-empty text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8EDAE1-FA7D-4EEF-822A-40BB72FE8F19}"/>
              </a:ext>
            </a:extLst>
          </p:cNvPr>
          <p:cNvSpPr>
            <a:spLocks noGrp="1"/>
          </p:cNvSpPr>
          <p:nvPr/>
        </p:nvSpPr>
        <p:spPr>
          <a:xfrm>
            <a:off x="8648700" y="33147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Drop or reject rows with empty review text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900D0A-EB08-4927-82E4-396A0E549CB4}"/>
              </a:ext>
            </a:extLst>
          </p:cNvPr>
          <p:cNvSpPr>
            <a:spLocks noGrp="1"/>
          </p:cNvSpPr>
          <p:nvPr/>
        </p:nvSpPr>
        <p:spPr>
          <a:xfrm>
            <a:off x="8382000" y="3686175"/>
            <a:ext cx="152400" cy="152400"/>
          </a:xfrm>
          <a:prstGeom prst="rect">
            <a:avLst/>
          </a:prstGeom>
          <a:solidFill>
            <a:srgbClr val="2D6C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0F9EA6-7C25-4267-9A1D-964860F43272}"/>
              </a:ext>
            </a:extLst>
          </p:cNvPr>
          <p:cNvSpPr>
            <a:spLocks noGrp="1"/>
          </p:cNvSpPr>
          <p:nvPr/>
        </p:nvSpPr>
        <p:spPr>
          <a:xfrm>
            <a:off x="8648700" y="36576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Valid columns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6B9D86-EFC2-485E-9FDE-733980A72D17}"/>
              </a:ext>
            </a:extLst>
          </p:cNvPr>
          <p:cNvSpPr>
            <a:spLocks noGrp="1"/>
          </p:cNvSpPr>
          <p:nvPr/>
        </p:nvSpPr>
        <p:spPr>
          <a:xfrm>
            <a:off x="8648700" y="38671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Ensure expected fields exist in both CSV formats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423313F-0E6B-4097-A7E3-4DE9024B4BE4}"/>
              </a:ext>
            </a:extLst>
          </p:cNvPr>
          <p:cNvSpPr>
            <a:spLocks noGrp="1"/>
          </p:cNvSpPr>
          <p:nvPr/>
        </p:nvSpPr>
        <p:spPr>
          <a:xfrm>
            <a:off x="8382000" y="4238625"/>
            <a:ext cx="152400" cy="1524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DAD25A7-B70E-486E-811A-345C95FF91D9}"/>
              </a:ext>
            </a:extLst>
          </p:cNvPr>
          <p:cNvSpPr>
            <a:spLocks noGrp="1"/>
          </p:cNvSpPr>
          <p:nvPr/>
        </p:nvSpPr>
        <p:spPr>
          <a:xfrm>
            <a:off x="8648700" y="42100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Valid labels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32185BD-8A51-4C78-A10F-F8A8749FA0ED}"/>
              </a:ext>
            </a:extLst>
          </p:cNvPr>
          <p:cNvSpPr>
            <a:spLocks noGrp="1"/>
          </p:cNvSpPr>
          <p:nvPr/>
        </p:nvSpPr>
        <p:spPr>
          <a:xfrm>
            <a:off x="8648700" y="44196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Only Positive / Negative / Unknown allowed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4DA3CC-A0F9-4328-AA62-34CD07DF1716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49720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8DB937F-2528-4C97-97F8-DBA77D208062}"/>
              </a:ext>
            </a:extLst>
          </p:cNvPr>
          <p:cNvSpPr>
            <a:spLocks noGrp="1"/>
          </p:cNvSpPr>
          <p:nvPr/>
        </p:nvSpPr>
        <p:spPr>
          <a:xfrm>
            <a:off x="800100" y="51244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Final dataset features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DA05B5-A3B9-4BC4-BC32-03154C713F99}"/>
              </a:ext>
            </a:extLst>
          </p:cNvPr>
          <p:cNvSpPr>
            <a:spLocks noGrp="1"/>
          </p:cNvSpPr>
          <p:nvPr/>
        </p:nvSpPr>
        <p:spPr>
          <a:xfrm>
            <a:off x="876300" y="542925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95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D6CDF"/>
                </a:solidFill>
                <a:latin typeface="Aptos Display"/>
                <a:ea typeface="Aptos Display"/>
                <a:cs typeface="Aptos Display"/>
              </a:rPr>
              <a:t>3,041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4603166-615B-4327-80F3-7F245E8D87B3}"/>
              </a:ext>
            </a:extLst>
          </p:cNvPr>
          <p:cNvSpPr>
            <a:spLocks noGrp="1"/>
          </p:cNvSpPr>
          <p:nvPr/>
        </p:nvSpPr>
        <p:spPr>
          <a:xfrm>
            <a:off x="876300" y="5753100"/>
            <a:ext cx="112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wide rows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1652436-3CB1-4CDA-8A36-FE09FC0F4371}"/>
              </a:ext>
            </a:extLst>
          </p:cNvPr>
          <p:cNvSpPr>
            <a:spLocks noGrp="1"/>
          </p:cNvSpPr>
          <p:nvPr/>
        </p:nvSpPr>
        <p:spPr>
          <a:xfrm>
            <a:off x="2209800" y="542925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9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12,164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CD2F73F-F69F-44DF-98A2-501190891540}"/>
              </a:ext>
            </a:extLst>
          </p:cNvPr>
          <p:cNvSpPr>
            <a:spLocks noGrp="1"/>
          </p:cNvSpPr>
          <p:nvPr/>
        </p:nvSpPr>
        <p:spPr>
          <a:xfrm>
            <a:off x="2209800" y="5753100"/>
            <a:ext cx="112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aspect rows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ABC5595-66A5-4339-AACF-15FCE56ABD9C}"/>
              </a:ext>
            </a:extLst>
          </p:cNvPr>
          <p:cNvSpPr>
            <a:spLocks noGrp="1"/>
          </p:cNvSpPr>
          <p:nvPr/>
        </p:nvSpPr>
        <p:spPr>
          <a:xfrm>
            <a:off x="3543300" y="5429250"/>
            <a:ext cx="1123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95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E9E75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565B76C-490A-41D2-9A19-014B6551E913}"/>
              </a:ext>
            </a:extLst>
          </p:cNvPr>
          <p:cNvSpPr>
            <a:spLocks noGrp="1"/>
          </p:cNvSpPr>
          <p:nvPr/>
        </p:nvSpPr>
        <p:spPr>
          <a:xfrm>
            <a:off x="3543300" y="5753100"/>
            <a:ext cx="112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fixed aspects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98E16E8-EE71-46E8-BB82-92DEC4DF4660}"/>
              </a:ext>
            </a:extLst>
          </p:cNvPr>
          <p:cNvSpPr>
            <a:spLocks noGrp="1"/>
          </p:cNvSpPr>
          <p:nvPr/>
        </p:nvSpPr>
        <p:spPr>
          <a:xfrm>
            <a:off x="5829300" y="4952999"/>
            <a:ext cx="58293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2C76EB1-300F-4944-94E3-3E954052DFC4}"/>
              </a:ext>
            </a:extLst>
          </p:cNvPr>
          <p:cNvSpPr>
            <a:spLocks noGrp="1"/>
          </p:cNvSpPr>
          <p:nvPr/>
        </p:nvSpPr>
        <p:spPr>
          <a:xfrm>
            <a:off x="6096000" y="5124450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Label distribution after preprocessing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2BD0C22-EB1C-4474-8368-CE2AC8349359}"/>
              </a:ext>
            </a:extLst>
          </p:cNvPr>
          <p:cNvSpPr>
            <a:spLocks noGrp="1"/>
          </p:cNvSpPr>
          <p:nvPr/>
        </p:nvSpPr>
        <p:spPr>
          <a:xfrm>
            <a:off x="6096000" y="544830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1">
                <a:solidFill>
                  <a:srgbClr val="20263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02636"/>
                </a:solidFill>
                <a:latin typeface="Aptos"/>
                <a:ea typeface="Aptos"/>
                <a:cs typeface="Aptos"/>
              </a:rPr>
              <a:t>All labels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A4A89C3-EA72-4FFB-9101-CB0E80C6B7B4}"/>
              </a:ext>
            </a:extLst>
          </p:cNvPr>
          <p:cNvSpPr>
            <a:spLocks noGrp="1"/>
          </p:cNvSpPr>
          <p:nvPr/>
        </p:nvSpPr>
        <p:spPr>
          <a:xfrm>
            <a:off x="7162800" y="5486400"/>
            <a:ext cx="421977" cy="114300"/>
          </a:xfrm>
          <a:prstGeom prst="rect">
            <a:avLst/>
          </a:prstGeom>
          <a:solidFill>
            <a:srgbClr val="1E9E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84FE80F-0106-45D6-A396-A8A4031AA4E7}"/>
              </a:ext>
            </a:extLst>
          </p:cNvPr>
          <p:cNvSpPr>
            <a:spLocks noGrp="1"/>
          </p:cNvSpPr>
          <p:nvPr/>
        </p:nvSpPr>
        <p:spPr>
          <a:xfrm>
            <a:off x="7584777" y="5486400"/>
            <a:ext cx="165380" cy="114300"/>
          </a:xfrm>
          <a:prstGeom prst="rect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C25B163-2AE0-4DFE-BFB3-4A8F3F232F86}"/>
              </a:ext>
            </a:extLst>
          </p:cNvPr>
          <p:cNvSpPr>
            <a:spLocks noGrp="1"/>
          </p:cNvSpPr>
          <p:nvPr/>
        </p:nvSpPr>
        <p:spPr>
          <a:xfrm>
            <a:off x="7750157" y="5486400"/>
            <a:ext cx="2555893" cy="11430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FB22C42-6501-4CF4-827D-F290E21C0F7C}"/>
              </a:ext>
            </a:extLst>
          </p:cNvPr>
          <p:cNvSpPr>
            <a:spLocks noGrp="1"/>
          </p:cNvSpPr>
          <p:nvPr/>
        </p:nvSpPr>
        <p:spPr>
          <a:xfrm>
            <a:off x="9372600" y="5257800"/>
            <a:ext cx="1143000" cy="266700"/>
          </a:xfrm>
          <a:prstGeom prst="rect">
            <a:avLst/>
          </a:prstGeom>
          <a:solidFill>
            <a:srgbClr val="FFFFFF"/>
          </a:solidFill>
          <a:ln w="11430">
            <a:solidFill>
              <a:srgbClr val="1E9E7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84AF511-A45D-42E8-A200-1191701AC1BC}"/>
              </a:ext>
            </a:extLst>
          </p:cNvPr>
          <p:cNvSpPr>
            <a:spLocks noGrp="1"/>
          </p:cNvSpPr>
          <p:nvPr/>
        </p:nvSpPr>
        <p:spPr>
          <a:xfrm>
            <a:off x="9467850" y="5324475"/>
            <a:ext cx="952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1E9E75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E9E75"/>
                </a:solidFill>
                <a:latin typeface="Aptos"/>
                <a:ea typeface="Aptos"/>
                <a:cs typeface="Aptos"/>
              </a:rPr>
              <a:t>Positive 1,633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6F5AC95-FC3F-4582-8A2C-2896EB4E167B}"/>
              </a:ext>
            </a:extLst>
          </p:cNvPr>
          <p:cNvSpPr>
            <a:spLocks noGrp="1"/>
          </p:cNvSpPr>
          <p:nvPr/>
        </p:nvSpPr>
        <p:spPr>
          <a:xfrm>
            <a:off x="10629900" y="5257800"/>
            <a:ext cx="933450" cy="266700"/>
          </a:xfrm>
          <a:prstGeom prst="rect">
            <a:avLst/>
          </a:prstGeom>
          <a:solidFill>
            <a:srgbClr val="FFFFFF"/>
          </a:solidFill>
          <a:ln w="1143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3ECED82-DC96-445E-887A-878DE3F9B78B}"/>
              </a:ext>
            </a:extLst>
          </p:cNvPr>
          <p:cNvSpPr>
            <a:spLocks noGrp="1"/>
          </p:cNvSpPr>
          <p:nvPr/>
        </p:nvSpPr>
        <p:spPr>
          <a:xfrm>
            <a:off x="10725150" y="5324475"/>
            <a:ext cx="7429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Negative 640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88487BD-F8F6-42EC-A21F-3B0C90913A4F}"/>
              </a:ext>
            </a:extLst>
          </p:cNvPr>
          <p:cNvSpPr>
            <a:spLocks noGrp="1"/>
          </p:cNvSpPr>
          <p:nvPr/>
        </p:nvSpPr>
        <p:spPr>
          <a:xfrm>
            <a:off x="9372600" y="5581650"/>
            <a:ext cx="2190750" cy="266700"/>
          </a:xfrm>
          <a:prstGeom prst="rect">
            <a:avLst/>
          </a:prstGeom>
          <a:solidFill>
            <a:srgbClr val="FFFFFF"/>
          </a:solidFill>
          <a:ln w="1143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15AF585-733E-45AA-B150-EBAB1178D5F4}"/>
              </a:ext>
            </a:extLst>
          </p:cNvPr>
          <p:cNvSpPr>
            <a:spLocks noGrp="1"/>
          </p:cNvSpPr>
          <p:nvPr/>
        </p:nvSpPr>
        <p:spPr>
          <a:xfrm>
            <a:off x="9467850" y="5648325"/>
            <a:ext cx="2000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Unknown 9,891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4C8FDD7-B324-4F35-AF6C-8FBBC599CCD0}"/>
              </a:ext>
            </a:extLst>
          </p:cNvPr>
          <p:cNvSpPr>
            <a:spLocks noGrp="1"/>
          </p:cNvSpPr>
          <p:nvPr/>
        </p:nvSpPr>
        <p:spPr>
          <a:xfrm>
            <a:off x="533400" y="6191250"/>
            <a:ext cx="11125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Result: a consistent ABSA dataset that supports rule-based output, traditional ML training, transformer review-aspect training, and fair evaluation.</a:t>
            </a:r>
          </a:p>
        </p:txBody>
      </p:sp>
    </p:spTree>
    <p:extLst>
      <p:ext uri="{BB962C8B-B14F-4D97-AF65-F5344CB8AC3E}">
        <p14:creationId xmlns:p14="http://schemas.microsoft.com/office/powerpoint/2010/main" val="1385393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3B8524F5-7056-4869-89E0-858466EBFC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146828-DC6C-4087-9439-79234C71EF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2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34E0E6B7-E896-4C7A-B48F-302FDCBC5FFC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76200" cy="7620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4561A7BF-A771-4626-9F57-B48A8FCE2AA6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92FDF9-2359-4B32-A21E-3D4CCC3627A3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SemEval annotations are reshaped into app-ready and model-ready data.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0AC3C1-C39D-4BEF-A873-BADE74D6DB53}"/>
              </a:ext>
            </a:extLst>
          </p:cNvPr>
          <p:cNvSpPr>
            <a:spLocks noGrp="1"/>
          </p:cNvSpPr>
          <p:nvPr/>
        </p:nvSpPr>
        <p:spPr>
          <a:xfrm>
            <a:off x="8286750" y="723900"/>
            <a:ext cx="2857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Two output files support different parts of the system.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6826F6-DBB4-4E93-9741-7E3A865C9BB2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17145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6170BE-5BCD-4A34-B227-9463924FE40C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Raw XML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F59B80-6BAE-49C0-BC79-758FC380566B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1295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 review text with aspect-category annotations.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E2BC6D-1F5F-412F-8D2E-6D0CD0D501C6}"/>
              </a:ext>
            </a:extLst>
          </p:cNvPr>
          <p:cNvSpPr>
            <a:spLocks noGrp="1"/>
          </p:cNvSpPr>
          <p:nvPr/>
        </p:nvSpPr>
        <p:spPr>
          <a:xfrm>
            <a:off x="2419350" y="2857500"/>
            <a:ext cx="304800" cy="285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2966BE-BA2C-4336-BD26-3F55D19156B9}"/>
              </a:ext>
            </a:extLst>
          </p:cNvPr>
          <p:cNvSpPr>
            <a:spLocks noGrp="1"/>
          </p:cNvSpPr>
          <p:nvPr/>
        </p:nvSpPr>
        <p:spPr>
          <a:xfrm>
            <a:off x="2686050" y="2800350"/>
            <a:ext cx="85725" cy="1428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BD233-D7B2-410B-A1E3-4151B6A1A80B}"/>
              </a:ext>
            </a:extLst>
          </p:cNvPr>
          <p:cNvSpPr>
            <a:spLocks noGrp="1"/>
          </p:cNvSpPr>
          <p:nvPr/>
        </p:nvSpPr>
        <p:spPr>
          <a:xfrm>
            <a:off x="2800350" y="2324100"/>
            <a:ext cx="17145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39761C-9003-4017-ACC2-B3C341BF1A36}"/>
              </a:ext>
            </a:extLst>
          </p:cNvPr>
          <p:cNvSpPr>
            <a:spLocks noGrp="1"/>
          </p:cNvSpPr>
          <p:nvPr/>
        </p:nvSpPr>
        <p:spPr>
          <a:xfrm>
            <a:off x="2971800" y="25146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2BF6C8-A17A-4CD0-9565-259953CD7509}"/>
              </a:ext>
            </a:extLst>
          </p:cNvPr>
          <p:cNvSpPr>
            <a:spLocks noGrp="1"/>
          </p:cNvSpPr>
          <p:nvPr/>
        </p:nvSpPr>
        <p:spPr>
          <a:xfrm>
            <a:off x="2971800" y="2857500"/>
            <a:ext cx="1295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Clean text, standardize IDs, validate non-empty reviews.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F38B24-D874-404B-A73A-8656CA69C687}"/>
              </a:ext>
            </a:extLst>
          </p:cNvPr>
          <p:cNvSpPr>
            <a:spLocks noGrp="1"/>
          </p:cNvSpPr>
          <p:nvPr/>
        </p:nvSpPr>
        <p:spPr>
          <a:xfrm>
            <a:off x="4610100" y="2857500"/>
            <a:ext cx="304800" cy="285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914DAA-1765-49B9-A6A6-51ADF637CC4C}"/>
              </a:ext>
            </a:extLst>
          </p:cNvPr>
          <p:cNvSpPr>
            <a:spLocks noGrp="1"/>
          </p:cNvSpPr>
          <p:nvPr/>
        </p:nvSpPr>
        <p:spPr>
          <a:xfrm>
            <a:off x="4876800" y="2800350"/>
            <a:ext cx="85725" cy="1428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DB1B72-7048-4B17-8250-9B413B90BFFD}"/>
              </a:ext>
            </a:extLst>
          </p:cNvPr>
          <p:cNvSpPr>
            <a:spLocks noGrp="1"/>
          </p:cNvSpPr>
          <p:nvPr/>
        </p:nvSpPr>
        <p:spPr>
          <a:xfrm>
            <a:off x="4991100" y="2324100"/>
            <a:ext cx="17145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4E0900-89A1-4CE1-A257-BFFFA141279D}"/>
              </a:ext>
            </a:extLst>
          </p:cNvPr>
          <p:cNvSpPr>
            <a:spLocks noGrp="1"/>
          </p:cNvSpPr>
          <p:nvPr/>
        </p:nvSpPr>
        <p:spPr>
          <a:xfrm>
            <a:off x="5162550" y="25146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Map aspects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A6E93A-9BC4-48CB-99B1-9FA371E950F2}"/>
              </a:ext>
            </a:extLst>
          </p:cNvPr>
          <p:cNvSpPr>
            <a:spLocks noGrp="1"/>
          </p:cNvSpPr>
          <p:nvPr/>
        </p:nvSpPr>
        <p:spPr>
          <a:xfrm>
            <a:off x="5162550" y="2857500"/>
            <a:ext cx="1295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Collapse source categories into Food, Service, Price, Ambiance.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D207DA-D7C1-43AF-BEEA-E340981A8DA6}"/>
              </a:ext>
            </a:extLst>
          </p:cNvPr>
          <p:cNvSpPr>
            <a:spLocks noGrp="1"/>
          </p:cNvSpPr>
          <p:nvPr/>
        </p:nvSpPr>
        <p:spPr>
          <a:xfrm>
            <a:off x="6800850" y="2857500"/>
            <a:ext cx="304800" cy="285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96EA93-4A91-455A-B0D8-57C001D2EE1F}"/>
              </a:ext>
            </a:extLst>
          </p:cNvPr>
          <p:cNvSpPr>
            <a:spLocks noGrp="1"/>
          </p:cNvSpPr>
          <p:nvPr/>
        </p:nvSpPr>
        <p:spPr>
          <a:xfrm>
            <a:off x="7067550" y="2800350"/>
            <a:ext cx="85725" cy="1428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7F0B00-4032-4155-B4F7-ED5072291A58}"/>
              </a:ext>
            </a:extLst>
          </p:cNvPr>
          <p:cNvSpPr>
            <a:spLocks noGrp="1"/>
          </p:cNvSpPr>
          <p:nvPr/>
        </p:nvSpPr>
        <p:spPr>
          <a:xfrm>
            <a:off x="7181850" y="2324100"/>
            <a:ext cx="17145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2B6066-5499-4234-8801-C9D87765E66B}"/>
              </a:ext>
            </a:extLst>
          </p:cNvPr>
          <p:cNvSpPr>
            <a:spLocks noGrp="1"/>
          </p:cNvSpPr>
          <p:nvPr/>
        </p:nvSpPr>
        <p:spPr>
          <a:xfrm>
            <a:off x="7353300" y="25146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Fill Unknown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AC2BC9-6B58-4EFF-BE98-9FA831320C0C}"/>
              </a:ext>
            </a:extLst>
          </p:cNvPr>
          <p:cNvSpPr>
            <a:spLocks noGrp="1"/>
          </p:cNvSpPr>
          <p:nvPr/>
        </p:nvSpPr>
        <p:spPr>
          <a:xfrm>
            <a:off x="7353300" y="2857500"/>
            <a:ext cx="1295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Every review receives all four aspect labels.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2B205D-274F-484A-B552-4DBD95819618}"/>
              </a:ext>
            </a:extLst>
          </p:cNvPr>
          <p:cNvSpPr>
            <a:spLocks noGrp="1"/>
          </p:cNvSpPr>
          <p:nvPr/>
        </p:nvSpPr>
        <p:spPr>
          <a:xfrm>
            <a:off x="8991600" y="2857500"/>
            <a:ext cx="304800" cy="285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842B77-6034-4D82-AADA-6946B2D34EBC}"/>
              </a:ext>
            </a:extLst>
          </p:cNvPr>
          <p:cNvSpPr>
            <a:spLocks noGrp="1"/>
          </p:cNvSpPr>
          <p:nvPr/>
        </p:nvSpPr>
        <p:spPr>
          <a:xfrm>
            <a:off x="9258300" y="2800350"/>
            <a:ext cx="85725" cy="1428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629392-E0A3-4E9F-90DD-90AA64D4FE98}"/>
              </a:ext>
            </a:extLst>
          </p:cNvPr>
          <p:cNvSpPr>
            <a:spLocks noGrp="1"/>
          </p:cNvSpPr>
          <p:nvPr/>
        </p:nvSpPr>
        <p:spPr>
          <a:xfrm>
            <a:off x="9372600" y="2324100"/>
            <a:ext cx="1714500" cy="1123950"/>
          </a:xfrm>
          <a:prstGeom prst="rect">
            <a:avLst/>
          </a:prstGeom>
          <a:solidFill>
            <a:srgbClr val="24313E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7E974C-9169-4781-9FD8-76F86A984168}"/>
              </a:ext>
            </a:extLst>
          </p:cNvPr>
          <p:cNvSpPr>
            <a:spLocks noGrp="1"/>
          </p:cNvSpPr>
          <p:nvPr/>
        </p:nvSpPr>
        <p:spPr>
          <a:xfrm>
            <a:off x="9544050" y="25146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2EA"/>
                </a:solidFill>
                <a:latin typeface="Aptos"/>
                <a:ea typeface="Aptos"/>
                <a:cs typeface="Aptos"/>
              </a:rPr>
              <a:t>Export CSVs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11D3D0-BEC1-4DB8-BE40-3D34E09205A6}"/>
              </a:ext>
            </a:extLst>
          </p:cNvPr>
          <p:cNvSpPr>
            <a:spLocks noGrp="1"/>
          </p:cNvSpPr>
          <p:nvPr/>
        </p:nvSpPr>
        <p:spPr>
          <a:xfrm>
            <a:off x="9544050" y="2857500"/>
            <a:ext cx="1295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Wide table for API output; long table for aspect-pair training.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B9E76E-EAF9-47FE-A5FA-3789CFD8930A}"/>
              </a:ext>
            </a:extLst>
          </p:cNvPr>
          <p:cNvSpPr>
            <a:spLocks noGrp="1"/>
          </p:cNvSpPr>
          <p:nvPr/>
        </p:nvSpPr>
        <p:spPr>
          <a:xfrm>
            <a:off x="1428750" y="4648200"/>
            <a:ext cx="2381250" cy="914400"/>
          </a:xfrm>
          <a:prstGeom prst="rect">
            <a:avLst/>
          </a:prstGeom>
          <a:solidFill>
            <a:srgbClr val="FFFFFF">
              <a:alpha val="53333"/>
            </a:srgbClr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749E398-2B9B-454F-BFA9-69F25666A24F}"/>
              </a:ext>
            </a:extLst>
          </p:cNvPr>
          <p:cNvSpPr>
            <a:spLocks noGrp="1"/>
          </p:cNvSpPr>
          <p:nvPr/>
        </p:nvSpPr>
        <p:spPr>
          <a:xfrm>
            <a:off x="1428750" y="4648200"/>
            <a:ext cx="47625" cy="914400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283B81-BE07-4574-8AE5-ABB91E0DBBEE}"/>
              </a:ext>
            </a:extLst>
          </p:cNvPr>
          <p:cNvSpPr>
            <a:spLocks noGrp="1"/>
          </p:cNvSpPr>
          <p:nvPr/>
        </p:nvSpPr>
        <p:spPr>
          <a:xfrm>
            <a:off x="1600200" y="4781550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Wide format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111478-C1FC-432F-8F62-06B1AE2B8D47}"/>
              </a:ext>
            </a:extLst>
          </p:cNvPr>
          <p:cNvSpPr>
            <a:spLocks noGrp="1"/>
          </p:cNvSpPr>
          <p:nvPr/>
        </p:nvSpPr>
        <p:spPr>
          <a:xfrm>
            <a:off x="1600200" y="50482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restaurant_absa_4_aspects.csv: id, review, and four aspect columns.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1A41BE-C918-4B04-B3C5-DB02E4311C17}"/>
              </a:ext>
            </a:extLst>
          </p:cNvPr>
          <p:cNvSpPr>
            <a:spLocks noGrp="1"/>
          </p:cNvSpPr>
          <p:nvPr/>
        </p:nvSpPr>
        <p:spPr>
          <a:xfrm>
            <a:off x="4572000" y="4648200"/>
            <a:ext cx="2381250" cy="914400"/>
          </a:xfrm>
          <a:prstGeom prst="rect">
            <a:avLst/>
          </a:prstGeom>
          <a:solidFill>
            <a:srgbClr val="FFFFFF">
              <a:alpha val="53333"/>
            </a:srgbClr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9F1EAF7-E084-4EA5-87C3-7E18DEA44D7B}"/>
              </a:ext>
            </a:extLst>
          </p:cNvPr>
          <p:cNvSpPr>
            <a:spLocks noGrp="1"/>
          </p:cNvSpPr>
          <p:nvPr/>
        </p:nvSpPr>
        <p:spPr>
          <a:xfrm>
            <a:off x="4572000" y="4648200"/>
            <a:ext cx="47625" cy="914400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A407AA2-8F9A-47B0-A196-C912E2CB8829}"/>
              </a:ext>
            </a:extLst>
          </p:cNvPr>
          <p:cNvSpPr>
            <a:spLocks noGrp="1"/>
          </p:cNvSpPr>
          <p:nvPr/>
        </p:nvSpPr>
        <p:spPr>
          <a:xfrm>
            <a:off x="4743450" y="4781550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Long format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264A9E-ADE7-4EFE-B755-7ED446A7B26A}"/>
              </a:ext>
            </a:extLst>
          </p:cNvPr>
          <p:cNvSpPr>
            <a:spLocks noGrp="1"/>
          </p:cNvSpPr>
          <p:nvPr/>
        </p:nvSpPr>
        <p:spPr>
          <a:xfrm>
            <a:off x="4743450" y="50482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restaurant_absa_aspect_rows.csv: one row for each review-aspect pair.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508E3D-DFDD-4EBE-A73D-3B7B81B974ED}"/>
              </a:ext>
            </a:extLst>
          </p:cNvPr>
          <p:cNvSpPr>
            <a:spLocks noGrp="1"/>
          </p:cNvSpPr>
          <p:nvPr/>
        </p:nvSpPr>
        <p:spPr>
          <a:xfrm>
            <a:off x="7715250" y="4648200"/>
            <a:ext cx="2381250" cy="914400"/>
          </a:xfrm>
          <a:prstGeom prst="rect">
            <a:avLst/>
          </a:prstGeom>
          <a:solidFill>
            <a:srgbClr val="FFFFFF">
              <a:alpha val="53333"/>
            </a:srgbClr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BF6BC4A-91E9-47D5-AEB8-A4E7BA523DCE}"/>
              </a:ext>
            </a:extLst>
          </p:cNvPr>
          <p:cNvSpPr>
            <a:spLocks noGrp="1"/>
          </p:cNvSpPr>
          <p:nvPr/>
        </p:nvSpPr>
        <p:spPr>
          <a:xfrm>
            <a:off x="7715250" y="4648200"/>
            <a:ext cx="47625" cy="91440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18D4EE1-BC36-4BE9-97CD-C19784B5C13D}"/>
              </a:ext>
            </a:extLst>
          </p:cNvPr>
          <p:cNvSpPr>
            <a:spLocks noGrp="1"/>
          </p:cNvSpPr>
          <p:nvPr/>
        </p:nvSpPr>
        <p:spPr>
          <a:xfrm>
            <a:off x="7886700" y="4781550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73F6C1-AE83-4D4A-A365-70CA980CA4C3}"/>
              </a:ext>
            </a:extLst>
          </p:cNvPr>
          <p:cNvSpPr>
            <a:spLocks noGrp="1"/>
          </p:cNvSpPr>
          <p:nvPr/>
        </p:nvSpPr>
        <p:spPr>
          <a:xfrm>
            <a:off x="7886700" y="50482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Checks expected columns, valid labels, and non-empty review text before training.</a:t>
            </a:r>
          </a:p>
        </p:txBody>
      </p:sp>
    </p:spTree>
    <p:extLst>
      <p:ext uri="{BB962C8B-B14F-4D97-AF65-F5344CB8AC3E}">
        <p14:creationId xmlns:p14="http://schemas.microsoft.com/office/powerpoint/2010/main" val="649608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8A7BD58-2831-4445-B5D5-5C52D01068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01F652-BE9E-44AE-B591-6C94CF70C1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2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605AA58F-B6CC-4B76-9095-B7666E79FD02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76200" cy="7620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C7F80234-4F7F-4A73-9E91-E5573841685B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CBB5DF-9942-45E2-B570-74E5885AAE04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same review can flow through three model backends.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5741BC-A507-44AD-8CEF-F0C871EDC696}"/>
              </a:ext>
            </a:extLst>
          </p:cNvPr>
          <p:cNvSpPr>
            <a:spLocks noGrp="1"/>
          </p:cNvSpPr>
          <p:nvPr/>
        </p:nvSpPr>
        <p:spPr>
          <a:xfrm>
            <a:off x="1660403" y="2009775"/>
            <a:ext cx="16764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D27318-5F41-4025-9F40-B04402EF4052}"/>
              </a:ext>
            </a:extLst>
          </p:cNvPr>
          <p:cNvSpPr>
            <a:spLocks noGrp="1"/>
          </p:cNvSpPr>
          <p:nvPr/>
        </p:nvSpPr>
        <p:spPr>
          <a:xfrm>
            <a:off x="1812803" y="2181225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Flutter UI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A6CA0B-1A3B-47A8-BB85-A19F3BC09F89}"/>
              </a:ext>
            </a:extLst>
          </p:cNvPr>
          <p:cNvSpPr>
            <a:spLocks noGrp="1"/>
          </p:cNvSpPr>
          <p:nvPr/>
        </p:nvSpPr>
        <p:spPr>
          <a:xfrm>
            <a:off x="1812803" y="2486025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User enters review and selects method.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1FF1F2-446C-49F8-AA32-4F964839F2BD}"/>
              </a:ext>
            </a:extLst>
          </p:cNvPr>
          <p:cNvSpPr>
            <a:spLocks noGrp="1"/>
          </p:cNvSpPr>
          <p:nvPr/>
        </p:nvSpPr>
        <p:spPr>
          <a:xfrm>
            <a:off x="3422528" y="2447925"/>
            <a:ext cx="323850" cy="285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E76460-803E-41B4-A33C-D9AEB228AE17}"/>
              </a:ext>
            </a:extLst>
          </p:cNvPr>
          <p:cNvSpPr>
            <a:spLocks noGrp="1"/>
          </p:cNvSpPr>
          <p:nvPr/>
        </p:nvSpPr>
        <p:spPr>
          <a:xfrm>
            <a:off x="3851153" y="2009775"/>
            <a:ext cx="1676400" cy="952500"/>
          </a:xfrm>
          <a:prstGeom prst="rect">
            <a:avLst/>
          </a:prstGeom>
          <a:solidFill>
            <a:srgbClr val="19222B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DA6E62-5E3B-42C1-BC98-66A5F338A6F6}"/>
              </a:ext>
            </a:extLst>
          </p:cNvPr>
          <p:cNvSpPr>
            <a:spLocks noGrp="1"/>
          </p:cNvSpPr>
          <p:nvPr/>
        </p:nvSpPr>
        <p:spPr>
          <a:xfrm>
            <a:off x="4003553" y="2181225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2EA"/>
                </a:solidFill>
                <a:latin typeface="Aptos"/>
                <a:ea typeface="Aptos"/>
                <a:cs typeface="Aptos"/>
              </a:rPr>
              <a:t>Python API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D46816-BB0F-404C-B8C7-A3F45C68AC1F}"/>
              </a:ext>
            </a:extLst>
          </p:cNvPr>
          <p:cNvSpPr>
            <a:spLocks noGrp="1"/>
          </p:cNvSpPr>
          <p:nvPr/>
        </p:nvSpPr>
        <p:spPr>
          <a:xfrm>
            <a:off x="4003553" y="2486025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ThreadingHTTPServer handles JSON and CORS.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94FD18-9C68-4752-8E6C-DACA235B6A7C}"/>
              </a:ext>
            </a:extLst>
          </p:cNvPr>
          <p:cNvSpPr>
            <a:spLocks noGrp="1"/>
          </p:cNvSpPr>
          <p:nvPr/>
        </p:nvSpPr>
        <p:spPr>
          <a:xfrm>
            <a:off x="5613278" y="2447925"/>
            <a:ext cx="323850" cy="285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C6DD0D-7BD3-4455-BA7A-338E7F1B88F2}"/>
              </a:ext>
            </a:extLst>
          </p:cNvPr>
          <p:cNvSpPr>
            <a:spLocks noGrp="1"/>
          </p:cNvSpPr>
          <p:nvPr/>
        </p:nvSpPr>
        <p:spPr>
          <a:xfrm>
            <a:off x="6041903" y="2009775"/>
            <a:ext cx="16764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E78C0E-D504-4806-97CE-65FD999B5FBB}"/>
              </a:ext>
            </a:extLst>
          </p:cNvPr>
          <p:cNvSpPr>
            <a:spLocks noGrp="1"/>
          </p:cNvSpPr>
          <p:nvPr/>
        </p:nvSpPr>
        <p:spPr>
          <a:xfrm>
            <a:off x="6194303" y="2181225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Model layer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A21BB9-AF9F-47AE-B765-27AE5BBF22DB}"/>
              </a:ext>
            </a:extLst>
          </p:cNvPr>
          <p:cNvSpPr>
            <a:spLocks noGrp="1"/>
          </p:cNvSpPr>
          <p:nvPr/>
        </p:nvSpPr>
        <p:spPr>
          <a:xfrm>
            <a:off x="6194303" y="2486025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rule_based, traditional_ml, or bert.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1423E1-04A3-4544-BAD0-9CA8BAC8FA8E}"/>
              </a:ext>
            </a:extLst>
          </p:cNvPr>
          <p:cNvSpPr>
            <a:spLocks noGrp="1"/>
          </p:cNvSpPr>
          <p:nvPr/>
        </p:nvSpPr>
        <p:spPr>
          <a:xfrm>
            <a:off x="7804028" y="2447925"/>
            <a:ext cx="323850" cy="285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8CF473-1214-46EE-906A-8E4C938F29A5}"/>
              </a:ext>
            </a:extLst>
          </p:cNvPr>
          <p:cNvSpPr>
            <a:spLocks noGrp="1"/>
          </p:cNvSpPr>
          <p:nvPr/>
        </p:nvSpPr>
        <p:spPr>
          <a:xfrm>
            <a:off x="8232653" y="2009775"/>
            <a:ext cx="16764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E17-DA14-4649-8886-8B3D27BC2C53}"/>
              </a:ext>
            </a:extLst>
          </p:cNvPr>
          <p:cNvSpPr>
            <a:spLocks noGrp="1"/>
          </p:cNvSpPr>
          <p:nvPr/>
        </p:nvSpPr>
        <p:spPr>
          <a:xfrm>
            <a:off x="8385053" y="2181225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Structured output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BD3795-7A89-49C0-A473-10AD8223D79C}"/>
              </a:ext>
            </a:extLst>
          </p:cNvPr>
          <p:cNvSpPr>
            <a:spLocks noGrp="1"/>
          </p:cNvSpPr>
          <p:nvPr/>
        </p:nvSpPr>
        <p:spPr>
          <a:xfrm>
            <a:off x="8385053" y="2486025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review, method, and four aspect results.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71257" y="3209925"/>
            <a:ext cx="503988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767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BFEAC1D0-E0FD-4893-BA92-DD5B447E34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083A96-CE57-4DC7-B2C8-40550BB565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2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7178388B-90E3-4D96-AD13-970A976B4D85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76200" cy="7620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E88607A3-5CAB-48C4-9DBD-281F15C4C13D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MODEL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455B71-7012-464D-B329-9899A57A900C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Each model answers the same task with a different level of context.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FF9DB8-35B8-4241-8498-E404BF0D84E2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2857500" cy="2590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4E2A14-B0A7-49A6-A12C-4E95F34997DD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2857500" cy="76200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C66F13-AD96-4FF8-8D05-2CB5750CD660}"/>
              </a:ext>
            </a:extLst>
          </p:cNvPr>
          <p:cNvSpPr>
            <a:spLocks noGrp="1"/>
          </p:cNvSpPr>
          <p:nvPr/>
        </p:nvSpPr>
        <p:spPr>
          <a:xfrm>
            <a:off x="1047750" y="23241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Rule-based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314E82-8703-4379-A838-2FD1860F3983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22669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spaCy dependency parsing, aspect keywords, sentiment lexicons, negation and intensifier rules.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F07C94-DB51-41F6-8143-275FF8CC0C52}"/>
              </a:ext>
            </a:extLst>
          </p:cNvPr>
          <p:cNvSpPr>
            <a:spLocks noGrp="1"/>
          </p:cNvSpPr>
          <p:nvPr/>
        </p:nvSpPr>
        <p:spPr>
          <a:xfrm>
            <a:off x="1047750" y="4038600"/>
            <a:ext cx="1619250" cy="266700"/>
          </a:xfrm>
          <a:prstGeom prst="rect">
            <a:avLst/>
          </a:prstGeom>
          <a:solidFill>
            <a:srgbClr val="8A9A5B">
              <a:alpha val="13333"/>
            </a:srgbClr>
          </a:solidFill>
          <a:ln w="9525">
            <a:solidFill>
              <a:srgbClr val="8A9A5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DECA5F-5D83-4095-8E89-949D62385E42}"/>
              </a:ext>
            </a:extLst>
          </p:cNvPr>
          <p:cNvSpPr>
            <a:spLocks noGrp="1"/>
          </p:cNvSpPr>
          <p:nvPr/>
        </p:nvSpPr>
        <p:spPr>
          <a:xfrm>
            <a:off x="1143000" y="409575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8A9A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9A5B"/>
                </a:solidFill>
                <a:latin typeface="Aptos"/>
                <a:ea typeface="Aptos"/>
                <a:cs typeface="Aptos"/>
              </a:rPr>
              <a:t>Most explainable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0FF061-4329-4C9B-AD20-A11E58BA6F11}"/>
              </a:ext>
            </a:extLst>
          </p:cNvPr>
          <p:cNvSpPr>
            <a:spLocks noGrp="1"/>
          </p:cNvSpPr>
          <p:nvPr/>
        </p:nvSpPr>
        <p:spPr>
          <a:xfrm>
            <a:off x="4343400" y="2038350"/>
            <a:ext cx="2857500" cy="2590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ECC58C-0D55-4168-97E9-69BE5BBB2F54}"/>
              </a:ext>
            </a:extLst>
          </p:cNvPr>
          <p:cNvSpPr>
            <a:spLocks noGrp="1"/>
          </p:cNvSpPr>
          <p:nvPr/>
        </p:nvSpPr>
        <p:spPr>
          <a:xfrm>
            <a:off x="4343400" y="2038350"/>
            <a:ext cx="2857500" cy="76200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DAA9EF-0757-4E3B-A316-7B7116ADA0ED}"/>
              </a:ext>
            </a:extLst>
          </p:cNvPr>
          <p:cNvSpPr>
            <a:spLocks noGrp="1"/>
          </p:cNvSpPr>
          <p:nvPr/>
        </p:nvSpPr>
        <p:spPr>
          <a:xfrm>
            <a:off x="4572000" y="23241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Traditional ML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81D086-5411-4B36-9223-86D9560A6370}"/>
              </a:ext>
            </a:extLst>
          </p:cNvPr>
          <p:cNvSpPr>
            <a:spLocks noGrp="1"/>
          </p:cNvSpPr>
          <p:nvPr/>
        </p:nvSpPr>
        <p:spPr>
          <a:xfrm>
            <a:off x="4572000" y="2857500"/>
            <a:ext cx="22669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TF-IDF unigrams/bigrams plus one balanced Logistic Regression classifier per aspect.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866631-8DCE-4195-A5AF-DB4D7E8ABA0C}"/>
              </a:ext>
            </a:extLst>
          </p:cNvPr>
          <p:cNvSpPr>
            <a:spLocks noGrp="1"/>
          </p:cNvSpPr>
          <p:nvPr/>
        </p:nvSpPr>
        <p:spPr>
          <a:xfrm>
            <a:off x="4572000" y="4038600"/>
            <a:ext cx="1619250" cy="266700"/>
          </a:xfrm>
          <a:prstGeom prst="rect">
            <a:avLst/>
          </a:prstGeom>
          <a:solidFill>
            <a:srgbClr val="2C7A7B">
              <a:alpha val="13333"/>
            </a:srgbClr>
          </a:solidFill>
          <a:ln w="9525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0A2E75-BDD4-4298-A7C9-30DE1FCFC90A}"/>
              </a:ext>
            </a:extLst>
          </p:cNvPr>
          <p:cNvSpPr>
            <a:spLocks noGrp="1"/>
          </p:cNvSpPr>
          <p:nvPr/>
        </p:nvSpPr>
        <p:spPr>
          <a:xfrm>
            <a:off x="4667250" y="409575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Fast learned baseline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9892F1-5E58-434D-B2BF-D51673C427B4}"/>
              </a:ext>
            </a:extLst>
          </p:cNvPr>
          <p:cNvSpPr>
            <a:spLocks noGrp="1"/>
          </p:cNvSpPr>
          <p:nvPr/>
        </p:nvSpPr>
        <p:spPr>
          <a:xfrm>
            <a:off x="7867650" y="2038350"/>
            <a:ext cx="2857500" cy="2590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80C66E-5C72-46AB-8E2A-84DFF6D206A0}"/>
              </a:ext>
            </a:extLst>
          </p:cNvPr>
          <p:cNvSpPr>
            <a:spLocks noGrp="1"/>
          </p:cNvSpPr>
          <p:nvPr/>
        </p:nvSpPr>
        <p:spPr>
          <a:xfrm>
            <a:off x="7867650" y="2038350"/>
            <a:ext cx="2857500" cy="7620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4B6E8F-8C53-4C58-95EC-D691F784DB79}"/>
              </a:ext>
            </a:extLst>
          </p:cNvPr>
          <p:cNvSpPr>
            <a:spLocks noGrp="1"/>
          </p:cNvSpPr>
          <p:nvPr/>
        </p:nvSpPr>
        <p:spPr>
          <a:xfrm>
            <a:off x="8096250" y="23241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DeBERTa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75D618-FBCE-424A-8BA9-F1BBA489CF8A}"/>
              </a:ext>
            </a:extLst>
          </p:cNvPr>
          <p:cNvSpPr>
            <a:spLocks noGrp="1"/>
          </p:cNvSpPr>
          <p:nvPr/>
        </p:nvSpPr>
        <p:spPr>
          <a:xfrm>
            <a:off x="8096250" y="2857500"/>
            <a:ext cx="22669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microsoft/deberta-v3-base receives review + aspect pairs and predicts one of three labels.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19D159-ED52-4F1C-B326-39182F6E6742}"/>
              </a:ext>
            </a:extLst>
          </p:cNvPr>
          <p:cNvSpPr>
            <a:spLocks noGrp="1"/>
          </p:cNvSpPr>
          <p:nvPr/>
        </p:nvSpPr>
        <p:spPr>
          <a:xfrm>
            <a:off x="8096250" y="4038600"/>
            <a:ext cx="1619250" cy="266700"/>
          </a:xfrm>
          <a:prstGeom prst="rect">
            <a:avLst/>
          </a:prstGeom>
          <a:solidFill>
            <a:srgbClr val="D24B35">
              <a:alpha val="13333"/>
            </a:srgbClr>
          </a:solidFill>
          <a:ln w="9525">
            <a:solidFill>
              <a:srgbClr val="D24B3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D044FB-9C56-4F16-927C-4F535B16B361}"/>
              </a:ext>
            </a:extLst>
          </p:cNvPr>
          <p:cNvSpPr>
            <a:spLocks noGrp="1"/>
          </p:cNvSpPr>
          <p:nvPr/>
        </p:nvSpPr>
        <p:spPr>
          <a:xfrm>
            <a:off x="8191500" y="409575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Best contextual model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088183-A287-4ABC-803D-4E2C3B4E4CD0}"/>
              </a:ext>
            </a:extLst>
          </p:cNvPr>
          <p:cNvSpPr>
            <a:spLocks noGrp="1"/>
          </p:cNvSpPr>
          <p:nvPr/>
        </p:nvSpPr>
        <p:spPr>
          <a:xfrm>
            <a:off x="1162050" y="521970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Tradeoff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99AA1B-7254-4DA1-A7C3-CABCB3862F6C}"/>
              </a:ext>
            </a:extLst>
          </p:cNvPr>
          <p:cNvSpPr>
            <a:spLocks noGrp="1"/>
          </p:cNvSpPr>
          <p:nvPr/>
        </p:nvSpPr>
        <p:spPr>
          <a:xfrm>
            <a:off x="2133600" y="5305425"/>
            <a:ext cx="7715250" cy="38100"/>
          </a:xfrm>
          <a:prstGeom prst="rect">
            <a:avLst/>
          </a:prstGeom>
          <a:solidFill>
            <a:srgbClr val="CBBFA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D62713-6A56-4E79-929F-DA53B19D7282}"/>
              </a:ext>
            </a:extLst>
          </p:cNvPr>
          <p:cNvSpPr>
            <a:spLocks noGrp="1"/>
          </p:cNvSpPr>
          <p:nvPr/>
        </p:nvSpPr>
        <p:spPr>
          <a:xfrm>
            <a:off x="2133600" y="5267325"/>
            <a:ext cx="114300" cy="114300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AA39C5-50F4-4A9D-8EEE-30C012440490}"/>
              </a:ext>
            </a:extLst>
          </p:cNvPr>
          <p:cNvSpPr>
            <a:spLocks noGrp="1"/>
          </p:cNvSpPr>
          <p:nvPr/>
        </p:nvSpPr>
        <p:spPr>
          <a:xfrm>
            <a:off x="5905500" y="5267325"/>
            <a:ext cx="114300" cy="114300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0A0E7C-5481-4389-BB1A-1AC6CEA3E516}"/>
              </a:ext>
            </a:extLst>
          </p:cNvPr>
          <p:cNvSpPr>
            <a:spLocks noGrp="1"/>
          </p:cNvSpPr>
          <p:nvPr/>
        </p:nvSpPr>
        <p:spPr>
          <a:xfrm>
            <a:off x="9791700" y="5267325"/>
            <a:ext cx="114300" cy="11430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5EA826-83AF-411E-8403-F2D33E98C89D}"/>
              </a:ext>
            </a:extLst>
          </p:cNvPr>
          <p:cNvSpPr>
            <a:spLocks noGrp="1"/>
          </p:cNvSpPr>
          <p:nvPr/>
        </p:nvSpPr>
        <p:spPr>
          <a:xfrm>
            <a:off x="2038350" y="556260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Transparent rules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FD4E032-4FC3-4038-8A84-8D122C7A88C9}"/>
              </a:ext>
            </a:extLst>
          </p:cNvPr>
          <p:cNvSpPr>
            <a:spLocks noGrp="1"/>
          </p:cNvSpPr>
          <p:nvPr/>
        </p:nvSpPr>
        <p:spPr>
          <a:xfrm>
            <a:off x="5257800" y="55626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Learned lexical patterns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AA816D-5E47-4D5E-A0BD-D6301F5D16E3}"/>
              </a:ext>
            </a:extLst>
          </p:cNvPr>
          <p:cNvSpPr>
            <a:spLocks noGrp="1"/>
          </p:cNvSpPr>
          <p:nvPr/>
        </p:nvSpPr>
        <p:spPr>
          <a:xfrm>
            <a:off x="9067800" y="55626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Contextual transformer</a:t>
            </a:r>
          </a:p>
        </p:txBody>
      </p:sp>
    </p:spTree>
    <p:extLst>
      <p:ext uri="{BB962C8B-B14F-4D97-AF65-F5344CB8AC3E}">
        <p14:creationId xmlns:p14="http://schemas.microsoft.com/office/powerpoint/2010/main" val="1439074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E2A5461-2A52-47A1-8535-7703598A70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9108B3-B348-4895-8B64-45A46326E3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2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A99271-DB59-473B-97EE-87ED56DE1CD8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B71F55-6BA8-46DC-8153-3EB3A2EE6386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37B90080-5103-4115-BB84-733E8C65EAAB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76200" cy="7620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CACFAC0A-0A6B-4AF4-BEA9-A10F074D1B82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EVALUATION 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12A8D7-74D6-402A-9490-F0704E837DB0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Macro F1 is the main score because the dataset is imbalanced.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9661B2-CB98-4F83-8FB8-070C5935C39D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40957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D3A36E-A02B-4A2E-9B94-C59BE49B2E7A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41CC2C-2604-49B1-99AE-DB3ECCAF89FD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3333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Overall correct predictions; useful but can hide majority-class bias.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EB553-2EF0-4755-8DA5-7D69BF9CD3D3}"/>
              </a:ext>
            </a:extLst>
          </p:cNvPr>
          <p:cNvSpPr>
            <a:spLocks noGrp="1"/>
          </p:cNvSpPr>
          <p:nvPr/>
        </p:nvSpPr>
        <p:spPr>
          <a:xfrm>
            <a:off x="5638800" y="2152650"/>
            <a:ext cx="40957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A79083-8A4C-4C38-A77B-F3F0AEDFCCB6}"/>
              </a:ext>
            </a:extLst>
          </p:cNvPr>
          <p:cNvSpPr>
            <a:spLocks noGrp="1"/>
          </p:cNvSpPr>
          <p:nvPr/>
        </p:nvSpPr>
        <p:spPr>
          <a:xfrm>
            <a:off x="5867400" y="23431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38F87B-2655-4657-BE21-5B433FF8ADBE}"/>
              </a:ext>
            </a:extLst>
          </p:cNvPr>
          <p:cNvSpPr>
            <a:spLocks noGrp="1"/>
          </p:cNvSpPr>
          <p:nvPr/>
        </p:nvSpPr>
        <p:spPr>
          <a:xfrm>
            <a:off x="5867400" y="2667000"/>
            <a:ext cx="3333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Computes F1 per label, then averages equally across Positive, Negative, Unknown.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599538-CDD2-4F54-A773-233E585476ED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40957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C3C920-0877-4CA6-903F-E0C6BBCE68E1}"/>
              </a:ext>
            </a:extLst>
          </p:cNvPr>
          <p:cNvSpPr>
            <a:spLocks noGrp="1"/>
          </p:cNvSpPr>
          <p:nvPr/>
        </p:nvSpPr>
        <p:spPr>
          <a:xfrm>
            <a:off x="914400" y="37719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D1C388-2079-4D3A-87D6-8C31A96BC12A}"/>
              </a:ext>
            </a:extLst>
          </p:cNvPr>
          <p:cNvSpPr>
            <a:spLocks noGrp="1"/>
          </p:cNvSpPr>
          <p:nvPr/>
        </p:nvSpPr>
        <p:spPr>
          <a:xfrm>
            <a:off x="914400" y="4095750"/>
            <a:ext cx="3333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F1 weighted by support; reflects the class distribution.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93ADFD-33DC-41C2-B380-BCE023ED338B}"/>
              </a:ext>
            </a:extLst>
          </p:cNvPr>
          <p:cNvSpPr>
            <a:spLocks noGrp="1"/>
          </p:cNvSpPr>
          <p:nvPr/>
        </p:nvSpPr>
        <p:spPr>
          <a:xfrm>
            <a:off x="5638800" y="3581400"/>
            <a:ext cx="40957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578ECD-8637-4F0F-A64C-8F253759D3A0}"/>
              </a:ext>
            </a:extLst>
          </p:cNvPr>
          <p:cNvSpPr>
            <a:spLocks noGrp="1"/>
          </p:cNvSpPr>
          <p:nvPr/>
        </p:nvSpPr>
        <p:spPr>
          <a:xfrm>
            <a:off x="5867400" y="37719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eval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F680B3-635F-4E52-835C-7C1731BA11E0}"/>
              </a:ext>
            </a:extLst>
          </p:cNvPr>
          <p:cNvSpPr>
            <a:spLocks noGrp="1"/>
          </p:cNvSpPr>
          <p:nvPr/>
        </p:nvSpPr>
        <p:spPr>
          <a:xfrm>
            <a:off x="5867400" y="4095750"/>
            <a:ext cx="3333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Filters to Positive and Negative examples to test actual sentiment detection.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EE9B5B-7939-4301-A8D5-4C6BD1A6D659}"/>
              </a:ext>
            </a:extLst>
          </p:cNvPr>
          <p:cNvSpPr>
            <a:spLocks noGrp="1"/>
          </p:cNvSpPr>
          <p:nvPr/>
        </p:nvSpPr>
        <p:spPr>
          <a:xfrm>
            <a:off x="2476500" y="5295900"/>
            <a:ext cx="6477000" cy="476250"/>
          </a:xfrm>
          <a:prstGeom prst="rect">
            <a:avLst/>
          </a:prstGeom>
          <a:solidFill>
            <a:srgbClr val="192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A26A55-579C-44BF-A52B-92B6507A60AA}"/>
              </a:ext>
            </a:extLst>
          </p:cNvPr>
          <p:cNvSpPr>
            <a:spLocks noGrp="1"/>
          </p:cNvSpPr>
          <p:nvPr/>
        </p:nvSpPr>
        <p:spPr>
          <a:xfrm>
            <a:off x="2781300" y="5448300"/>
            <a:ext cx="586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Evaluation labels: Positive, Negative, Unknown | Aspects: Food, Service, Price, Ambiance</a:t>
            </a:r>
          </a:p>
        </p:txBody>
      </p:sp>
    </p:spTree>
    <p:extLst>
      <p:ext uri="{BB962C8B-B14F-4D97-AF65-F5344CB8AC3E}">
        <p14:creationId xmlns:p14="http://schemas.microsoft.com/office/powerpoint/2010/main" val="1022346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0845C6D9-457D-4B0F-9624-5ED595E6F1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92737E-7383-401F-9E5F-D3CD54AF08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2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B20EF-8A90-4141-AC72-65AF3B7E8C43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6B3CA4-3AF2-4113-A5DD-BD0FB939E661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85C5428E-B298-4170-AEF2-80B300EF29C5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76200" cy="7620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622453BE-52FC-435B-A162-8250257EADBD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OVERALL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B00209-42C9-401F-A1A7-D93E7A34964B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DeBERTa wins the final comparison by the metric that matters most.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6AF337-9954-49BC-A8EE-8F8646F53201}"/>
              </a:ext>
            </a:extLst>
          </p:cNvPr>
          <p:cNvSpPr>
            <a:spLocks noGrp="1"/>
          </p:cNvSpPr>
          <p:nvPr/>
        </p:nvSpPr>
        <p:spPr>
          <a:xfrm>
            <a:off x="8286750" y="723900"/>
            <a:ext cx="2857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70/30 fresh evaluation from the final report.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84D052-A74B-4203-8C5D-0A2FC83028F0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5CF962-55C1-48DF-820D-04F511535090}"/>
              </a:ext>
            </a:extLst>
          </p:cNvPr>
          <p:cNvSpPr>
            <a:spLocks noGrp="1"/>
          </p:cNvSpPr>
          <p:nvPr/>
        </p:nvSpPr>
        <p:spPr>
          <a:xfrm>
            <a:off x="2343150" y="2133600"/>
            <a:ext cx="19494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431A75-F002-4CC0-AA1E-0CF663653048}"/>
              </a:ext>
            </a:extLst>
          </p:cNvPr>
          <p:cNvSpPr>
            <a:spLocks noGrp="1"/>
          </p:cNvSpPr>
          <p:nvPr/>
        </p:nvSpPr>
        <p:spPr>
          <a:xfrm>
            <a:off x="2343150" y="2133600"/>
            <a:ext cx="1662296" cy="133350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9413D2-6A64-4267-9724-0BF33616D0BB}"/>
              </a:ext>
            </a:extLst>
          </p:cNvPr>
          <p:cNvSpPr>
            <a:spLocks noGrp="1"/>
          </p:cNvSpPr>
          <p:nvPr/>
        </p:nvSpPr>
        <p:spPr>
          <a:xfrm>
            <a:off x="3854450" y="21145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5A6471-FDD6-4989-947C-FE32FFACEC4D}"/>
              </a:ext>
            </a:extLst>
          </p:cNvPr>
          <p:cNvSpPr>
            <a:spLocks noGrp="1"/>
          </p:cNvSpPr>
          <p:nvPr/>
        </p:nvSpPr>
        <p:spPr>
          <a:xfrm>
            <a:off x="4502150" y="2133600"/>
            <a:ext cx="19494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328D6B-3332-4A7C-B499-5576FD059C82}"/>
              </a:ext>
            </a:extLst>
          </p:cNvPr>
          <p:cNvSpPr>
            <a:spLocks noGrp="1"/>
          </p:cNvSpPr>
          <p:nvPr/>
        </p:nvSpPr>
        <p:spPr>
          <a:xfrm>
            <a:off x="4502150" y="2133600"/>
            <a:ext cx="1086234" cy="13335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C7CDCB-38B3-45F9-A305-33DA96BB3E9C}"/>
              </a:ext>
            </a:extLst>
          </p:cNvPr>
          <p:cNvSpPr>
            <a:spLocks noGrp="1"/>
          </p:cNvSpPr>
          <p:nvPr/>
        </p:nvSpPr>
        <p:spPr>
          <a:xfrm>
            <a:off x="6013450" y="21145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0.557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B2AC7-3C29-4FE3-927F-B8D0AE689F96}"/>
              </a:ext>
            </a:extLst>
          </p:cNvPr>
          <p:cNvSpPr>
            <a:spLocks noGrp="1"/>
          </p:cNvSpPr>
          <p:nvPr/>
        </p:nvSpPr>
        <p:spPr>
          <a:xfrm>
            <a:off x="6661150" y="2133600"/>
            <a:ext cx="19494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A5ED18-84DE-4467-8C62-BAE4FD4371C6}"/>
              </a:ext>
            </a:extLst>
          </p:cNvPr>
          <p:cNvSpPr>
            <a:spLocks noGrp="1"/>
          </p:cNvSpPr>
          <p:nvPr/>
        </p:nvSpPr>
        <p:spPr>
          <a:xfrm>
            <a:off x="6661150" y="2133600"/>
            <a:ext cx="1604592" cy="133350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B67CA3-8D1C-4602-BC5A-1D63D47B4465}"/>
              </a:ext>
            </a:extLst>
          </p:cNvPr>
          <p:cNvSpPr>
            <a:spLocks noGrp="1"/>
          </p:cNvSpPr>
          <p:nvPr/>
        </p:nvSpPr>
        <p:spPr>
          <a:xfrm>
            <a:off x="8172450" y="21145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0.823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3926DA-61AB-45EE-B88A-C28436972996}"/>
              </a:ext>
            </a:extLst>
          </p:cNvPr>
          <p:cNvSpPr>
            <a:spLocks noGrp="1"/>
          </p:cNvSpPr>
          <p:nvPr/>
        </p:nvSpPr>
        <p:spPr>
          <a:xfrm>
            <a:off x="914400" y="305435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DF7CA2-7120-41D2-9E64-E917E02F1515}"/>
              </a:ext>
            </a:extLst>
          </p:cNvPr>
          <p:cNvSpPr>
            <a:spLocks noGrp="1"/>
          </p:cNvSpPr>
          <p:nvPr/>
        </p:nvSpPr>
        <p:spPr>
          <a:xfrm>
            <a:off x="2343150" y="3092450"/>
            <a:ext cx="19494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D38E05-B998-4EBB-A286-6DCA5F162B70}"/>
              </a:ext>
            </a:extLst>
          </p:cNvPr>
          <p:cNvSpPr>
            <a:spLocks noGrp="1"/>
          </p:cNvSpPr>
          <p:nvPr/>
        </p:nvSpPr>
        <p:spPr>
          <a:xfrm>
            <a:off x="2343150" y="3092450"/>
            <a:ext cx="1709863" cy="133350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939BC0-7AC1-4DD7-8831-A0E18035B707}"/>
              </a:ext>
            </a:extLst>
          </p:cNvPr>
          <p:cNvSpPr>
            <a:spLocks noGrp="1"/>
          </p:cNvSpPr>
          <p:nvPr/>
        </p:nvSpPr>
        <p:spPr>
          <a:xfrm>
            <a:off x="3854450" y="307340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0.877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600B8A-A66A-46C7-BCAD-39DEDC72AED9}"/>
              </a:ext>
            </a:extLst>
          </p:cNvPr>
          <p:cNvSpPr>
            <a:spLocks noGrp="1"/>
          </p:cNvSpPr>
          <p:nvPr/>
        </p:nvSpPr>
        <p:spPr>
          <a:xfrm>
            <a:off x="4502150" y="3092450"/>
            <a:ext cx="19494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D8FA45-5AB5-49CE-B288-12782D55A351}"/>
              </a:ext>
            </a:extLst>
          </p:cNvPr>
          <p:cNvSpPr>
            <a:spLocks noGrp="1"/>
          </p:cNvSpPr>
          <p:nvPr/>
        </p:nvSpPr>
        <p:spPr>
          <a:xfrm>
            <a:off x="4502150" y="3092450"/>
            <a:ext cx="1196767" cy="13335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BA4776-556D-4C76-928D-90806E967E36}"/>
              </a:ext>
            </a:extLst>
          </p:cNvPr>
          <p:cNvSpPr>
            <a:spLocks noGrp="1"/>
          </p:cNvSpPr>
          <p:nvPr/>
        </p:nvSpPr>
        <p:spPr>
          <a:xfrm>
            <a:off x="6013450" y="307340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0.614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86E976-DD37-4678-A192-8A35A863F224}"/>
              </a:ext>
            </a:extLst>
          </p:cNvPr>
          <p:cNvSpPr>
            <a:spLocks noGrp="1"/>
          </p:cNvSpPr>
          <p:nvPr/>
        </p:nvSpPr>
        <p:spPr>
          <a:xfrm>
            <a:off x="6661150" y="3092450"/>
            <a:ext cx="19494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F81707-2FDB-4FE8-9F29-D2183ABBD940}"/>
              </a:ext>
            </a:extLst>
          </p:cNvPr>
          <p:cNvSpPr>
            <a:spLocks noGrp="1"/>
          </p:cNvSpPr>
          <p:nvPr/>
        </p:nvSpPr>
        <p:spPr>
          <a:xfrm>
            <a:off x="6661150" y="3092450"/>
            <a:ext cx="1673993" cy="133350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FE848B-D37A-4193-B89D-4D226D0FCEA2}"/>
              </a:ext>
            </a:extLst>
          </p:cNvPr>
          <p:cNvSpPr>
            <a:spLocks noGrp="1"/>
          </p:cNvSpPr>
          <p:nvPr/>
        </p:nvSpPr>
        <p:spPr>
          <a:xfrm>
            <a:off x="8172450" y="307340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4D2962-46B3-4BC4-BC74-266251F679FB}"/>
              </a:ext>
            </a:extLst>
          </p:cNvPr>
          <p:cNvSpPr>
            <a:spLocks noGrp="1"/>
          </p:cNvSpPr>
          <p:nvPr/>
        </p:nvSpPr>
        <p:spPr>
          <a:xfrm>
            <a:off x="914400" y="40132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7C45FA-D0B4-4F09-A752-3CB184D44561}"/>
              </a:ext>
            </a:extLst>
          </p:cNvPr>
          <p:cNvSpPr>
            <a:spLocks noGrp="1"/>
          </p:cNvSpPr>
          <p:nvPr/>
        </p:nvSpPr>
        <p:spPr>
          <a:xfrm>
            <a:off x="2343150" y="4051300"/>
            <a:ext cx="19494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1583A5-A830-4182-AD5F-194622B753E8}"/>
              </a:ext>
            </a:extLst>
          </p:cNvPr>
          <p:cNvSpPr>
            <a:spLocks noGrp="1"/>
          </p:cNvSpPr>
          <p:nvPr/>
        </p:nvSpPr>
        <p:spPr>
          <a:xfrm>
            <a:off x="2343150" y="4051300"/>
            <a:ext cx="1851783" cy="133350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D12C95-3946-4CA4-A55C-B1D13976415E}"/>
              </a:ext>
            </a:extLst>
          </p:cNvPr>
          <p:cNvSpPr>
            <a:spLocks noGrp="1"/>
          </p:cNvSpPr>
          <p:nvPr/>
        </p:nvSpPr>
        <p:spPr>
          <a:xfrm>
            <a:off x="3854450" y="40322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0.950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0E3003-B49A-4B1B-9657-D643D45D5B39}"/>
              </a:ext>
            </a:extLst>
          </p:cNvPr>
          <p:cNvSpPr>
            <a:spLocks noGrp="1"/>
          </p:cNvSpPr>
          <p:nvPr/>
        </p:nvSpPr>
        <p:spPr>
          <a:xfrm>
            <a:off x="4502150" y="4051300"/>
            <a:ext cx="19494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5882656-5296-46F7-A330-27CD16AB3EA0}"/>
              </a:ext>
            </a:extLst>
          </p:cNvPr>
          <p:cNvSpPr>
            <a:spLocks noGrp="1"/>
          </p:cNvSpPr>
          <p:nvPr/>
        </p:nvSpPr>
        <p:spPr>
          <a:xfrm>
            <a:off x="4502150" y="4051300"/>
            <a:ext cx="1728187" cy="13335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8563585-5FE1-41E3-A3CD-B214D34B5E1D}"/>
              </a:ext>
            </a:extLst>
          </p:cNvPr>
          <p:cNvSpPr>
            <a:spLocks noGrp="1"/>
          </p:cNvSpPr>
          <p:nvPr/>
        </p:nvSpPr>
        <p:spPr>
          <a:xfrm>
            <a:off x="6013450" y="40322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0.886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125CEA-A051-476D-BAA4-0A0C522230AF}"/>
              </a:ext>
            </a:extLst>
          </p:cNvPr>
          <p:cNvSpPr>
            <a:spLocks noGrp="1"/>
          </p:cNvSpPr>
          <p:nvPr/>
        </p:nvSpPr>
        <p:spPr>
          <a:xfrm>
            <a:off x="6661150" y="4051300"/>
            <a:ext cx="19494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0D6DFC-108F-4B9A-9DA4-A2C6F9E3DF3F}"/>
              </a:ext>
            </a:extLst>
          </p:cNvPr>
          <p:cNvSpPr>
            <a:spLocks noGrp="1"/>
          </p:cNvSpPr>
          <p:nvPr/>
        </p:nvSpPr>
        <p:spPr>
          <a:xfrm>
            <a:off x="6661150" y="4051300"/>
            <a:ext cx="1853147" cy="133350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E3B456-060D-49AE-9FA2-B095ABDF7E51}"/>
              </a:ext>
            </a:extLst>
          </p:cNvPr>
          <p:cNvSpPr>
            <a:spLocks noGrp="1"/>
          </p:cNvSpPr>
          <p:nvPr/>
        </p:nvSpPr>
        <p:spPr>
          <a:xfrm>
            <a:off x="8172450" y="40322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0.951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DC84972-C3FB-483E-BE30-F8C8630E73CB}"/>
              </a:ext>
            </a:extLst>
          </p:cNvPr>
          <p:cNvSpPr>
            <a:spLocks noGrp="1"/>
          </p:cNvSpPr>
          <p:nvPr/>
        </p:nvSpPr>
        <p:spPr>
          <a:xfrm>
            <a:off x="2343150" y="4962525"/>
            <a:ext cx="142875" cy="142875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7C0CD8-8C09-421C-9116-841DEBBFD75C}"/>
              </a:ext>
            </a:extLst>
          </p:cNvPr>
          <p:cNvSpPr>
            <a:spLocks noGrp="1"/>
          </p:cNvSpPr>
          <p:nvPr/>
        </p:nvSpPr>
        <p:spPr>
          <a:xfrm>
            <a:off x="2552700" y="4933950"/>
            <a:ext cx="99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8A5F55-4C74-4012-9868-28C5CDFCFA74}"/>
              </a:ext>
            </a:extLst>
          </p:cNvPr>
          <p:cNvSpPr>
            <a:spLocks noGrp="1"/>
          </p:cNvSpPr>
          <p:nvPr/>
        </p:nvSpPr>
        <p:spPr>
          <a:xfrm>
            <a:off x="3581400" y="4962525"/>
            <a:ext cx="142875" cy="1428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5C37194-667A-4B7D-8D8F-6D6E9631431C}"/>
              </a:ext>
            </a:extLst>
          </p:cNvPr>
          <p:cNvSpPr>
            <a:spLocks noGrp="1"/>
          </p:cNvSpPr>
          <p:nvPr/>
        </p:nvSpPr>
        <p:spPr>
          <a:xfrm>
            <a:off x="3790950" y="4933950"/>
            <a:ext cx="99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F7F5677-9D9D-430D-9BD0-46A463196BAA}"/>
              </a:ext>
            </a:extLst>
          </p:cNvPr>
          <p:cNvSpPr>
            <a:spLocks noGrp="1"/>
          </p:cNvSpPr>
          <p:nvPr/>
        </p:nvSpPr>
        <p:spPr>
          <a:xfrm>
            <a:off x="4819650" y="4962525"/>
            <a:ext cx="142875" cy="142875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508B6D-050B-4731-8A92-C9F393CED538}"/>
              </a:ext>
            </a:extLst>
          </p:cNvPr>
          <p:cNvSpPr>
            <a:spLocks noGrp="1"/>
          </p:cNvSpPr>
          <p:nvPr/>
        </p:nvSpPr>
        <p:spPr>
          <a:xfrm>
            <a:off x="5029200" y="4933950"/>
            <a:ext cx="99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BD8F67A-B44E-4D38-B466-5755A4841505}"/>
              </a:ext>
            </a:extLst>
          </p:cNvPr>
          <p:cNvSpPr>
            <a:spLocks noGrp="1"/>
          </p:cNvSpPr>
          <p:nvPr/>
        </p:nvSpPr>
        <p:spPr>
          <a:xfrm>
            <a:off x="9391650" y="2247900"/>
            <a:ext cx="1714500" cy="2400300"/>
          </a:xfrm>
          <a:prstGeom prst="rect">
            <a:avLst/>
          </a:prstGeom>
          <a:solidFill>
            <a:srgbClr val="192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540020F-C213-4000-B479-F4E1FD204E1A}"/>
              </a:ext>
            </a:extLst>
          </p:cNvPr>
          <p:cNvSpPr>
            <a:spLocks noGrp="1"/>
          </p:cNvSpPr>
          <p:nvPr/>
        </p:nvSpPr>
        <p:spPr>
          <a:xfrm>
            <a:off x="9620250" y="2628900"/>
            <a:ext cx="1143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6A642"/>
                </a:solidFill>
                <a:latin typeface="Aptos Display"/>
                <a:ea typeface="Aptos Display"/>
                <a:cs typeface="Aptos Display"/>
              </a:rPr>
              <a:t>+0.2726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70ABCEE-D305-4F60-8418-10949EB8A112}"/>
              </a:ext>
            </a:extLst>
          </p:cNvPr>
          <p:cNvSpPr>
            <a:spLocks noGrp="1"/>
          </p:cNvSpPr>
          <p:nvPr/>
        </p:nvSpPr>
        <p:spPr>
          <a:xfrm>
            <a:off x="9620250" y="3105150"/>
            <a:ext cx="1066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macro F1 lead over Traditional ML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D80C45D-9F2D-44C1-B31D-EEA2B0059BFF}"/>
              </a:ext>
            </a:extLst>
          </p:cNvPr>
          <p:cNvSpPr>
            <a:spLocks noGrp="1"/>
          </p:cNvSpPr>
          <p:nvPr/>
        </p:nvSpPr>
        <p:spPr>
          <a:xfrm>
            <a:off x="9620250" y="3848100"/>
            <a:ext cx="12573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Rule-based: 0.5572</a:t>
            </a:r>
          </a:p>
          <a:p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Traditional ML: 0.6139</a:t>
            </a:r>
          </a:p>
          <a:p>
            <a:pPr algn="l">
              <a:buNone/>
              <a:defRPr sz="938" b="0">
                <a:solidFill>
                  <a:srgbClr val="D8D2C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2C8"/>
                </a:solidFill>
                <a:latin typeface="Aptos"/>
                <a:ea typeface="Aptos"/>
                <a:cs typeface="Aptos"/>
              </a:rPr>
              <a:t>DeBERTa: 0.8865</a:t>
            </a:r>
          </a:p>
        </p:txBody>
      </p:sp>
    </p:spTree>
    <p:extLst>
      <p:ext uri="{BB962C8B-B14F-4D97-AF65-F5344CB8AC3E}">
        <p14:creationId xmlns:p14="http://schemas.microsoft.com/office/powerpoint/2010/main" val="1314818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B595188C-21ED-46EC-A5B4-EE9FC643DB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7C21B3-60EE-4104-B8AA-664ABA4EA4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2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5FCFA2-57CE-469A-8872-52780E6588BB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98C2A6-FE07-417B-AB2F-35711758BD18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EF0C52A5-D522-4822-9F94-43AD1403C2CE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76200" cy="7620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F3921483-1A92-433D-8A7C-2AB15EDD126B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ASPECT PERFORMANCE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110BFC-A838-4D0B-B2F9-4FDFABD0319D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transformer stays strong across all four restaurant aspects.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276ED4-A4DF-42B7-9AB0-D5D83F7DD6C0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94C2BF-A74C-4276-AFCF-DE7034A739A6}"/>
              </a:ext>
            </a:extLst>
          </p:cNvPr>
          <p:cNvSpPr>
            <a:spLocks noGrp="1"/>
          </p:cNvSpPr>
          <p:nvPr/>
        </p:nvSpPr>
        <p:spPr>
          <a:xfrm>
            <a:off x="2190750" y="2114550"/>
            <a:ext cx="217170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CADFDE-3299-491F-9648-D1B70CEEADD9}"/>
              </a:ext>
            </a:extLst>
          </p:cNvPr>
          <p:cNvSpPr>
            <a:spLocks noGrp="1"/>
          </p:cNvSpPr>
          <p:nvPr/>
        </p:nvSpPr>
        <p:spPr>
          <a:xfrm>
            <a:off x="2190750" y="2114550"/>
            <a:ext cx="1110825" cy="133350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E72A23-A9D3-45D0-AE0B-2B0AED49630D}"/>
              </a:ext>
            </a:extLst>
          </p:cNvPr>
          <p:cNvSpPr>
            <a:spLocks noGrp="1"/>
          </p:cNvSpPr>
          <p:nvPr/>
        </p:nvSpPr>
        <p:spPr>
          <a:xfrm>
            <a:off x="3924300" y="209550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0.511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92E6C5-7FE0-4285-A3D2-068381D74E1E}"/>
              </a:ext>
            </a:extLst>
          </p:cNvPr>
          <p:cNvSpPr>
            <a:spLocks noGrp="1"/>
          </p:cNvSpPr>
          <p:nvPr/>
        </p:nvSpPr>
        <p:spPr>
          <a:xfrm>
            <a:off x="4572000" y="2114550"/>
            <a:ext cx="217170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8F245C-6354-4563-9F8F-6D996F199510}"/>
              </a:ext>
            </a:extLst>
          </p:cNvPr>
          <p:cNvSpPr>
            <a:spLocks noGrp="1"/>
          </p:cNvSpPr>
          <p:nvPr/>
        </p:nvSpPr>
        <p:spPr>
          <a:xfrm>
            <a:off x="4572000" y="2114550"/>
            <a:ext cx="1433322" cy="133350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B4A5ED-EB8F-4ADB-8690-C1C9EEEDD801}"/>
              </a:ext>
            </a:extLst>
          </p:cNvPr>
          <p:cNvSpPr>
            <a:spLocks noGrp="1"/>
          </p:cNvSpPr>
          <p:nvPr/>
        </p:nvSpPr>
        <p:spPr>
          <a:xfrm>
            <a:off x="6305550" y="209550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0.660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DEE976-F614-432F-B7B8-AC1F34BC4534}"/>
              </a:ext>
            </a:extLst>
          </p:cNvPr>
          <p:cNvSpPr>
            <a:spLocks noGrp="1"/>
          </p:cNvSpPr>
          <p:nvPr/>
        </p:nvSpPr>
        <p:spPr>
          <a:xfrm>
            <a:off x="6953250" y="2114550"/>
            <a:ext cx="217170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24BD64-BB28-4855-80B0-810F17B5FE56}"/>
              </a:ext>
            </a:extLst>
          </p:cNvPr>
          <p:cNvSpPr>
            <a:spLocks noGrp="1"/>
          </p:cNvSpPr>
          <p:nvPr/>
        </p:nvSpPr>
        <p:spPr>
          <a:xfrm>
            <a:off x="6953250" y="2114550"/>
            <a:ext cx="1948015" cy="13335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280983-781A-4C7B-BFD9-75F30B1AD9D2}"/>
              </a:ext>
            </a:extLst>
          </p:cNvPr>
          <p:cNvSpPr>
            <a:spLocks noGrp="1"/>
          </p:cNvSpPr>
          <p:nvPr/>
        </p:nvSpPr>
        <p:spPr>
          <a:xfrm>
            <a:off x="8686800" y="209550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0.897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EDF0C5-C941-4904-8624-435F722C51F8}"/>
              </a:ext>
            </a:extLst>
          </p:cNvPr>
          <p:cNvSpPr>
            <a:spLocks noGrp="1"/>
          </p:cNvSpPr>
          <p:nvPr/>
        </p:nvSpPr>
        <p:spPr>
          <a:xfrm>
            <a:off x="762000" y="2886075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B61546-D047-43A8-B5E7-A3EE47BBA3E7}"/>
              </a:ext>
            </a:extLst>
          </p:cNvPr>
          <p:cNvSpPr>
            <a:spLocks noGrp="1"/>
          </p:cNvSpPr>
          <p:nvPr/>
        </p:nvSpPr>
        <p:spPr>
          <a:xfrm>
            <a:off x="2190750" y="2924175"/>
            <a:ext cx="217170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B551CB-DFD9-4D76-98B5-FBA5CE3FE4FE}"/>
              </a:ext>
            </a:extLst>
          </p:cNvPr>
          <p:cNvSpPr>
            <a:spLocks noGrp="1"/>
          </p:cNvSpPr>
          <p:nvPr/>
        </p:nvSpPr>
        <p:spPr>
          <a:xfrm>
            <a:off x="2190750" y="2924175"/>
            <a:ext cx="1258717" cy="133350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CD9E75-9456-4AFD-ACB6-FF6B1D1CC1E6}"/>
              </a:ext>
            </a:extLst>
          </p:cNvPr>
          <p:cNvSpPr>
            <a:spLocks noGrp="1"/>
          </p:cNvSpPr>
          <p:nvPr/>
        </p:nvSpPr>
        <p:spPr>
          <a:xfrm>
            <a:off x="3924300" y="2905125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0.580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CE5D51-58A8-4FA9-9CFB-9E5F94146E0C}"/>
              </a:ext>
            </a:extLst>
          </p:cNvPr>
          <p:cNvSpPr>
            <a:spLocks noGrp="1"/>
          </p:cNvSpPr>
          <p:nvPr/>
        </p:nvSpPr>
        <p:spPr>
          <a:xfrm>
            <a:off x="4572000" y="2924175"/>
            <a:ext cx="217170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AB83F6-D389-493E-9375-0D130F883D56}"/>
              </a:ext>
            </a:extLst>
          </p:cNvPr>
          <p:cNvSpPr>
            <a:spLocks noGrp="1"/>
          </p:cNvSpPr>
          <p:nvPr/>
        </p:nvSpPr>
        <p:spPr>
          <a:xfrm>
            <a:off x="4572000" y="2924175"/>
            <a:ext cx="1273268" cy="133350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7595D9-A3DF-486C-B7B4-9A2134338E0C}"/>
              </a:ext>
            </a:extLst>
          </p:cNvPr>
          <p:cNvSpPr>
            <a:spLocks noGrp="1"/>
          </p:cNvSpPr>
          <p:nvPr/>
        </p:nvSpPr>
        <p:spPr>
          <a:xfrm>
            <a:off x="6305550" y="2905125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0.586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638B7D-5A8E-4231-A157-621A5F6FDDDA}"/>
              </a:ext>
            </a:extLst>
          </p:cNvPr>
          <p:cNvSpPr>
            <a:spLocks noGrp="1"/>
          </p:cNvSpPr>
          <p:nvPr/>
        </p:nvSpPr>
        <p:spPr>
          <a:xfrm>
            <a:off x="6953250" y="2924175"/>
            <a:ext cx="217170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10C5BC-8303-4DB7-8AA5-76C0EF236C3B}"/>
              </a:ext>
            </a:extLst>
          </p:cNvPr>
          <p:cNvSpPr>
            <a:spLocks noGrp="1"/>
          </p:cNvSpPr>
          <p:nvPr/>
        </p:nvSpPr>
        <p:spPr>
          <a:xfrm>
            <a:off x="6953250" y="2924175"/>
            <a:ext cx="1887642" cy="13335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06C502-12CC-433A-9FF2-1D92510A1EBC}"/>
              </a:ext>
            </a:extLst>
          </p:cNvPr>
          <p:cNvSpPr>
            <a:spLocks noGrp="1"/>
          </p:cNvSpPr>
          <p:nvPr/>
        </p:nvSpPr>
        <p:spPr>
          <a:xfrm>
            <a:off x="8686800" y="2905125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0.869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51EC82-A1CE-4D4A-A2DA-DAF53B280C50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06D8EF-E4C7-4F25-86B3-7E97FE230405}"/>
              </a:ext>
            </a:extLst>
          </p:cNvPr>
          <p:cNvSpPr>
            <a:spLocks noGrp="1"/>
          </p:cNvSpPr>
          <p:nvPr/>
        </p:nvSpPr>
        <p:spPr>
          <a:xfrm>
            <a:off x="2190750" y="3733800"/>
            <a:ext cx="217170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02376E-5CF5-41A3-8D78-4750617666E5}"/>
              </a:ext>
            </a:extLst>
          </p:cNvPr>
          <p:cNvSpPr>
            <a:spLocks noGrp="1"/>
          </p:cNvSpPr>
          <p:nvPr/>
        </p:nvSpPr>
        <p:spPr>
          <a:xfrm>
            <a:off x="2190750" y="3733800"/>
            <a:ext cx="1453519" cy="133350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CE3AF0A-0310-4443-BABD-14DB1957AF0F}"/>
              </a:ext>
            </a:extLst>
          </p:cNvPr>
          <p:cNvSpPr>
            <a:spLocks noGrp="1"/>
          </p:cNvSpPr>
          <p:nvPr/>
        </p:nvSpPr>
        <p:spPr>
          <a:xfrm>
            <a:off x="3924300" y="37147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0.669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F5323C-4F23-44BF-86C6-0289ECD7615E}"/>
              </a:ext>
            </a:extLst>
          </p:cNvPr>
          <p:cNvSpPr>
            <a:spLocks noGrp="1"/>
          </p:cNvSpPr>
          <p:nvPr/>
        </p:nvSpPr>
        <p:spPr>
          <a:xfrm>
            <a:off x="4572000" y="3733800"/>
            <a:ext cx="217170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F6C054C-9109-414A-B0B7-65920C293FA4}"/>
              </a:ext>
            </a:extLst>
          </p:cNvPr>
          <p:cNvSpPr>
            <a:spLocks noGrp="1"/>
          </p:cNvSpPr>
          <p:nvPr/>
        </p:nvSpPr>
        <p:spPr>
          <a:xfrm>
            <a:off x="4572000" y="3733800"/>
            <a:ext cx="1190743" cy="133350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7333201-F38E-4CB0-B621-786E92DDD56E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0.548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E687C7-1D04-4EA8-8A56-3EBB22EAE8C8}"/>
              </a:ext>
            </a:extLst>
          </p:cNvPr>
          <p:cNvSpPr>
            <a:spLocks noGrp="1"/>
          </p:cNvSpPr>
          <p:nvPr/>
        </p:nvSpPr>
        <p:spPr>
          <a:xfrm>
            <a:off x="6953250" y="3733800"/>
            <a:ext cx="217170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DDF190F-1286-40AC-82B7-186CADB667BB}"/>
              </a:ext>
            </a:extLst>
          </p:cNvPr>
          <p:cNvSpPr>
            <a:spLocks noGrp="1"/>
          </p:cNvSpPr>
          <p:nvPr/>
        </p:nvSpPr>
        <p:spPr>
          <a:xfrm>
            <a:off x="6953250" y="3733800"/>
            <a:ext cx="1933899" cy="13335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6A47AA-3348-4E00-A567-154343A18061}"/>
              </a:ext>
            </a:extLst>
          </p:cNvPr>
          <p:cNvSpPr>
            <a:spLocks noGrp="1"/>
          </p:cNvSpPr>
          <p:nvPr/>
        </p:nvSpPr>
        <p:spPr>
          <a:xfrm>
            <a:off x="8686800" y="37147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0.890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4A453E1-4D79-445C-9BDE-1196FC505DC8}"/>
              </a:ext>
            </a:extLst>
          </p:cNvPr>
          <p:cNvSpPr>
            <a:spLocks noGrp="1"/>
          </p:cNvSpPr>
          <p:nvPr/>
        </p:nvSpPr>
        <p:spPr>
          <a:xfrm>
            <a:off x="762000" y="4505325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83948B-EB2C-44FA-BC66-697518C2C3C6}"/>
              </a:ext>
            </a:extLst>
          </p:cNvPr>
          <p:cNvSpPr>
            <a:spLocks noGrp="1"/>
          </p:cNvSpPr>
          <p:nvPr/>
        </p:nvSpPr>
        <p:spPr>
          <a:xfrm>
            <a:off x="2190750" y="4543425"/>
            <a:ext cx="217170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E439C4-3685-4567-8979-20287976048D}"/>
              </a:ext>
            </a:extLst>
          </p:cNvPr>
          <p:cNvSpPr>
            <a:spLocks noGrp="1"/>
          </p:cNvSpPr>
          <p:nvPr/>
        </p:nvSpPr>
        <p:spPr>
          <a:xfrm>
            <a:off x="2190750" y="4543425"/>
            <a:ext cx="1075426" cy="133350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DB753BA-1EE3-482A-8B6B-2FB8C4596CF5}"/>
              </a:ext>
            </a:extLst>
          </p:cNvPr>
          <p:cNvSpPr>
            <a:spLocks noGrp="1"/>
          </p:cNvSpPr>
          <p:nvPr/>
        </p:nvSpPr>
        <p:spPr>
          <a:xfrm>
            <a:off x="3924300" y="4524375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0.495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76319F0-46BB-4213-8793-3296545B72AD}"/>
              </a:ext>
            </a:extLst>
          </p:cNvPr>
          <p:cNvSpPr>
            <a:spLocks noGrp="1"/>
          </p:cNvSpPr>
          <p:nvPr/>
        </p:nvSpPr>
        <p:spPr>
          <a:xfrm>
            <a:off x="4572000" y="4543425"/>
            <a:ext cx="217170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008BAAE-8E02-4E18-BFF8-EA973A2A030E}"/>
              </a:ext>
            </a:extLst>
          </p:cNvPr>
          <p:cNvSpPr>
            <a:spLocks noGrp="1"/>
          </p:cNvSpPr>
          <p:nvPr/>
        </p:nvSpPr>
        <p:spPr>
          <a:xfrm>
            <a:off x="4572000" y="4543425"/>
            <a:ext cx="1156647" cy="133350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7EB008F-A942-454D-BB19-6C9FF33A109F}"/>
              </a:ext>
            </a:extLst>
          </p:cNvPr>
          <p:cNvSpPr>
            <a:spLocks noGrp="1"/>
          </p:cNvSpPr>
          <p:nvPr/>
        </p:nvSpPr>
        <p:spPr>
          <a:xfrm>
            <a:off x="6305550" y="4524375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0.533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3B53AA-EFF2-4C17-AC6E-B23B3E3DCC44}"/>
              </a:ext>
            </a:extLst>
          </p:cNvPr>
          <p:cNvSpPr>
            <a:spLocks noGrp="1"/>
          </p:cNvSpPr>
          <p:nvPr/>
        </p:nvSpPr>
        <p:spPr>
          <a:xfrm>
            <a:off x="6953250" y="4543425"/>
            <a:ext cx="217170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F6C4157-B527-42D9-AADF-77C806806F0C}"/>
              </a:ext>
            </a:extLst>
          </p:cNvPr>
          <p:cNvSpPr>
            <a:spLocks noGrp="1"/>
          </p:cNvSpPr>
          <p:nvPr/>
        </p:nvSpPr>
        <p:spPr>
          <a:xfrm>
            <a:off x="6953250" y="4543425"/>
            <a:ext cx="1853329" cy="13335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A667CD1-DAD1-49C6-BDD3-E2FC5B537D6F}"/>
              </a:ext>
            </a:extLst>
          </p:cNvPr>
          <p:cNvSpPr>
            <a:spLocks noGrp="1"/>
          </p:cNvSpPr>
          <p:nvPr/>
        </p:nvSpPr>
        <p:spPr>
          <a:xfrm>
            <a:off x="8686800" y="4524375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0.853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0646B2-C593-4ABD-AEED-699E844CC0FD}"/>
              </a:ext>
            </a:extLst>
          </p:cNvPr>
          <p:cNvSpPr>
            <a:spLocks noGrp="1"/>
          </p:cNvSpPr>
          <p:nvPr/>
        </p:nvSpPr>
        <p:spPr>
          <a:xfrm>
            <a:off x="2190750" y="5305425"/>
            <a:ext cx="142875" cy="142875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9A00109-0551-4C4B-A776-55C1D1CE0104}"/>
              </a:ext>
            </a:extLst>
          </p:cNvPr>
          <p:cNvSpPr>
            <a:spLocks noGrp="1"/>
          </p:cNvSpPr>
          <p:nvPr/>
        </p:nvSpPr>
        <p:spPr>
          <a:xfrm>
            <a:off x="2400300" y="5276850"/>
            <a:ext cx="99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3863D1D-D54A-49EB-BA9F-1B5D377448B0}"/>
              </a:ext>
            </a:extLst>
          </p:cNvPr>
          <p:cNvSpPr>
            <a:spLocks noGrp="1"/>
          </p:cNvSpPr>
          <p:nvPr/>
        </p:nvSpPr>
        <p:spPr>
          <a:xfrm>
            <a:off x="3429000" y="5305425"/>
            <a:ext cx="142875" cy="142875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E2A9644-F7C3-4102-8329-ECE658018E5A}"/>
              </a:ext>
            </a:extLst>
          </p:cNvPr>
          <p:cNvSpPr>
            <a:spLocks noGrp="1"/>
          </p:cNvSpPr>
          <p:nvPr/>
        </p:nvSpPr>
        <p:spPr>
          <a:xfrm>
            <a:off x="3638550" y="5276850"/>
            <a:ext cx="99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DD7712-CD58-4945-BAD4-AA7F3A8B45B5}"/>
              </a:ext>
            </a:extLst>
          </p:cNvPr>
          <p:cNvSpPr>
            <a:spLocks noGrp="1"/>
          </p:cNvSpPr>
          <p:nvPr/>
        </p:nvSpPr>
        <p:spPr>
          <a:xfrm>
            <a:off x="4667250" y="5305425"/>
            <a:ext cx="142875" cy="1428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E70D5BB-54BA-4B99-990F-F25DA478E082}"/>
              </a:ext>
            </a:extLst>
          </p:cNvPr>
          <p:cNvSpPr>
            <a:spLocks noGrp="1"/>
          </p:cNvSpPr>
          <p:nvPr/>
        </p:nvSpPr>
        <p:spPr>
          <a:xfrm>
            <a:off x="4876800" y="5276850"/>
            <a:ext cx="99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AB67DDF-5EA1-4CDD-AD76-803CE784F4B9}"/>
              </a:ext>
            </a:extLst>
          </p:cNvPr>
          <p:cNvSpPr>
            <a:spLocks noGrp="1"/>
          </p:cNvSpPr>
          <p:nvPr/>
        </p:nvSpPr>
        <p:spPr>
          <a:xfrm>
            <a:off x="9358312" y="2270149"/>
            <a:ext cx="2381250" cy="914400"/>
          </a:xfrm>
          <a:prstGeom prst="rect">
            <a:avLst/>
          </a:prstGeom>
          <a:solidFill>
            <a:srgbClr val="FFFFFF">
              <a:alpha val="53333"/>
            </a:srgbClr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BB9C24B-56AE-4E5B-8EEC-C05F4C11F73D}"/>
              </a:ext>
            </a:extLst>
          </p:cNvPr>
          <p:cNvSpPr>
            <a:spLocks noGrp="1"/>
          </p:cNvSpPr>
          <p:nvPr/>
        </p:nvSpPr>
        <p:spPr>
          <a:xfrm>
            <a:off x="9529762" y="2403499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EF8B6BC-0DC8-4B1A-BB11-76A51D30AF0D}"/>
              </a:ext>
            </a:extLst>
          </p:cNvPr>
          <p:cNvSpPr>
            <a:spLocks noGrp="1"/>
          </p:cNvSpPr>
          <p:nvPr/>
        </p:nvSpPr>
        <p:spPr>
          <a:xfrm>
            <a:off x="9529762" y="2670199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Best overall aspect: DeBERTa reaches 0.8970 macro F1.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EFB817C-A27A-42D2-BB87-09464A6E3B2D}"/>
              </a:ext>
            </a:extLst>
          </p:cNvPr>
          <p:cNvSpPr>
            <a:spLocks noGrp="1"/>
          </p:cNvSpPr>
          <p:nvPr/>
        </p:nvSpPr>
        <p:spPr>
          <a:xfrm>
            <a:off x="9358312" y="3489349"/>
            <a:ext cx="2381250" cy="914400"/>
          </a:xfrm>
          <a:prstGeom prst="rect">
            <a:avLst/>
          </a:prstGeom>
          <a:solidFill>
            <a:srgbClr val="FFFFFF">
              <a:alpha val="53333"/>
            </a:srgbClr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BD5203B-2D56-413C-8886-60FF8745B3AF}"/>
              </a:ext>
            </a:extLst>
          </p:cNvPr>
          <p:cNvSpPr>
            <a:spLocks noGrp="1"/>
          </p:cNvSpPr>
          <p:nvPr/>
        </p:nvSpPr>
        <p:spPr>
          <a:xfrm>
            <a:off x="9529762" y="3622699"/>
            <a:ext cx="1981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Ambiance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5019323-E3B3-456B-9948-F60C0F990B00}"/>
              </a:ext>
            </a:extLst>
          </p:cNvPr>
          <p:cNvSpPr>
            <a:spLocks noGrp="1"/>
          </p:cNvSpPr>
          <p:nvPr/>
        </p:nvSpPr>
        <p:spPr>
          <a:xfrm>
            <a:off x="9529762" y="3889399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Harder for simpler models because terms are diverse and context-dependent.</a:t>
            </a:r>
          </a:p>
        </p:txBody>
      </p:sp>
    </p:spTree>
    <p:extLst>
      <p:ext uri="{BB962C8B-B14F-4D97-AF65-F5344CB8AC3E}">
        <p14:creationId xmlns:p14="http://schemas.microsoft.com/office/powerpoint/2010/main" val="16803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B3C5DDF8-8E97-4713-A0FE-6BAAAFA889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603DE7-F225-4456-B495-932B41FD96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2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B45A3D-4372-4398-B3A2-A60DE10CFD89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65842-4C1C-4A5E-8A78-93D1400D937E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897F238F-1691-4819-B0C1-53A567BA90F2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76200" cy="7620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48AAA4ED-C563-4A87-9830-75B64279A2F8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PER-LABEL F1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FB8841-22DD-4349-98FB-AA3078828961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simple models score well on Unknown but miss real sentiment.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F3349-E9B5-4BC1-B8E3-D1B73B341B23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9D9760-15FE-4561-BF5F-5E4DCD5CE53F}"/>
              </a:ext>
            </a:extLst>
          </p:cNvPr>
          <p:cNvSpPr>
            <a:spLocks noGrp="1"/>
          </p:cNvSpPr>
          <p:nvPr/>
        </p:nvSpPr>
        <p:spPr>
          <a:xfrm>
            <a:off x="2305050" y="2133600"/>
            <a:ext cx="20129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F32633-2FAB-4386-B229-3D426129773B}"/>
              </a:ext>
            </a:extLst>
          </p:cNvPr>
          <p:cNvSpPr>
            <a:spLocks noGrp="1"/>
          </p:cNvSpPr>
          <p:nvPr/>
        </p:nvSpPr>
        <p:spPr>
          <a:xfrm>
            <a:off x="2305050" y="2133600"/>
            <a:ext cx="878854" cy="133350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A2C502-A8A5-4FD8-9502-C3870B5747A5}"/>
              </a:ext>
            </a:extLst>
          </p:cNvPr>
          <p:cNvSpPr>
            <a:spLocks noGrp="1"/>
          </p:cNvSpPr>
          <p:nvPr/>
        </p:nvSpPr>
        <p:spPr>
          <a:xfrm>
            <a:off x="3879850" y="21145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0.437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D24A4F-453F-4C6F-8BA1-F48B78F7098B}"/>
              </a:ext>
            </a:extLst>
          </p:cNvPr>
          <p:cNvSpPr>
            <a:spLocks noGrp="1"/>
          </p:cNvSpPr>
          <p:nvPr/>
        </p:nvSpPr>
        <p:spPr>
          <a:xfrm>
            <a:off x="4527550" y="2133600"/>
            <a:ext cx="20129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51EF80-3892-4A4A-9562-689340D4A8B9}"/>
              </a:ext>
            </a:extLst>
          </p:cNvPr>
          <p:cNvSpPr>
            <a:spLocks noGrp="1"/>
          </p:cNvSpPr>
          <p:nvPr/>
        </p:nvSpPr>
        <p:spPr>
          <a:xfrm>
            <a:off x="4527550" y="2133600"/>
            <a:ext cx="1231523" cy="133350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AC4F68-0BAE-472D-9285-A21A8088E640}"/>
              </a:ext>
            </a:extLst>
          </p:cNvPr>
          <p:cNvSpPr>
            <a:spLocks noGrp="1"/>
          </p:cNvSpPr>
          <p:nvPr/>
        </p:nvSpPr>
        <p:spPr>
          <a:xfrm>
            <a:off x="6102350" y="21145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0.612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A7ACF3-8D6A-443F-A9AF-58D2145C2CBD}"/>
              </a:ext>
            </a:extLst>
          </p:cNvPr>
          <p:cNvSpPr>
            <a:spLocks noGrp="1"/>
          </p:cNvSpPr>
          <p:nvPr/>
        </p:nvSpPr>
        <p:spPr>
          <a:xfrm>
            <a:off x="6750050" y="2133600"/>
            <a:ext cx="20129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3476FA-B04D-45EC-BBC6-0760FB8ADB00}"/>
              </a:ext>
            </a:extLst>
          </p:cNvPr>
          <p:cNvSpPr>
            <a:spLocks noGrp="1"/>
          </p:cNvSpPr>
          <p:nvPr/>
        </p:nvSpPr>
        <p:spPr>
          <a:xfrm>
            <a:off x="6750050" y="2133600"/>
            <a:ext cx="1731741" cy="13335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DAEED9-13F9-4549-B489-E65B8DCF3A58}"/>
              </a:ext>
            </a:extLst>
          </p:cNvPr>
          <p:cNvSpPr>
            <a:spLocks noGrp="1"/>
          </p:cNvSpPr>
          <p:nvPr/>
        </p:nvSpPr>
        <p:spPr>
          <a:xfrm>
            <a:off x="8324850" y="21145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0.860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6FFEAB-BDE7-40D1-8DE9-E7552D69DE71}"/>
              </a:ext>
            </a:extLst>
          </p:cNvPr>
          <p:cNvSpPr>
            <a:spLocks noGrp="1"/>
          </p:cNvSpPr>
          <p:nvPr/>
        </p:nvSpPr>
        <p:spPr>
          <a:xfrm>
            <a:off x="876300" y="306705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D861B9-E8CB-4081-B77F-71F9F2528F2B}"/>
              </a:ext>
            </a:extLst>
          </p:cNvPr>
          <p:cNvSpPr>
            <a:spLocks noGrp="1"/>
          </p:cNvSpPr>
          <p:nvPr/>
        </p:nvSpPr>
        <p:spPr>
          <a:xfrm>
            <a:off x="2305050" y="3105150"/>
            <a:ext cx="20129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A53929-C754-418A-AF0B-27C94FBD936B}"/>
              </a:ext>
            </a:extLst>
          </p:cNvPr>
          <p:cNvSpPr>
            <a:spLocks noGrp="1"/>
          </p:cNvSpPr>
          <p:nvPr/>
        </p:nvSpPr>
        <p:spPr>
          <a:xfrm>
            <a:off x="2305050" y="3105150"/>
            <a:ext cx="641527" cy="133350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89E2CC-0A0B-4AC9-8C34-C60681BA962F}"/>
              </a:ext>
            </a:extLst>
          </p:cNvPr>
          <p:cNvSpPr>
            <a:spLocks noGrp="1"/>
          </p:cNvSpPr>
          <p:nvPr/>
        </p:nvSpPr>
        <p:spPr>
          <a:xfrm>
            <a:off x="3879850" y="308610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0.319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E2A54E-9A96-40EE-9260-B28F697217BF}"/>
              </a:ext>
            </a:extLst>
          </p:cNvPr>
          <p:cNvSpPr>
            <a:spLocks noGrp="1"/>
          </p:cNvSpPr>
          <p:nvPr/>
        </p:nvSpPr>
        <p:spPr>
          <a:xfrm>
            <a:off x="4527550" y="3105150"/>
            <a:ext cx="20129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641C7A-D3A5-4755-B1E2-4DBC37516B35}"/>
              </a:ext>
            </a:extLst>
          </p:cNvPr>
          <p:cNvSpPr>
            <a:spLocks noGrp="1"/>
          </p:cNvSpPr>
          <p:nvPr/>
        </p:nvSpPr>
        <p:spPr>
          <a:xfrm>
            <a:off x="4527550" y="3105150"/>
            <a:ext cx="594827" cy="133350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1007A2-B143-44D5-82F8-442FCDB3DACE}"/>
              </a:ext>
            </a:extLst>
          </p:cNvPr>
          <p:cNvSpPr>
            <a:spLocks noGrp="1"/>
          </p:cNvSpPr>
          <p:nvPr/>
        </p:nvSpPr>
        <p:spPr>
          <a:xfrm>
            <a:off x="6102350" y="308610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0.295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BC08FD-1A0C-4D0F-9699-BB874DEDB137}"/>
              </a:ext>
            </a:extLst>
          </p:cNvPr>
          <p:cNvSpPr>
            <a:spLocks noGrp="1"/>
          </p:cNvSpPr>
          <p:nvPr/>
        </p:nvSpPr>
        <p:spPr>
          <a:xfrm>
            <a:off x="6750050" y="3105150"/>
            <a:ext cx="20129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EFD294-E100-441E-95A3-8030BBB6A887}"/>
              </a:ext>
            </a:extLst>
          </p:cNvPr>
          <p:cNvSpPr>
            <a:spLocks noGrp="1"/>
          </p:cNvSpPr>
          <p:nvPr/>
        </p:nvSpPr>
        <p:spPr>
          <a:xfrm>
            <a:off x="6750050" y="3105150"/>
            <a:ext cx="1663301" cy="13335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0EF6E8-67B0-417A-913A-45695FED79A1}"/>
              </a:ext>
            </a:extLst>
          </p:cNvPr>
          <p:cNvSpPr>
            <a:spLocks noGrp="1"/>
          </p:cNvSpPr>
          <p:nvPr/>
        </p:nvSpPr>
        <p:spPr>
          <a:xfrm>
            <a:off x="8324850" y="308610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0.826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23F99B-6D21-42D6-99CF-3654C665DEF8}"/>
              </a:ext>
            </a:extLst>
          </p:cNvPr>
          <p:cNvSpPr>
            <a:spLocks noGrp="1"/>
          </p:cNvSpPr>
          <p:nvPr/>
        </p:nvSpPr>
        <p:spPr>
          <a:xfrm>
            <a:off x="876300" y="40386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1A2C7D-6900-4D0C-9645-B5D452197DA9}"/>
              </a:ext>
            </a:extLst>
          </p:cNvPr>
          <p:cNvSpPr>
            <a:spLocks noGrp="1"/>
          </p:cNvSpPr>
          <p:nvPr/>
        </p:nvSpPr>
        <p:spPr>
          <a:xfrm>
            <a:off x="2305050" y="4076700"/>
            <a:ext cx="20129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EAB28E-1DFD-4DBC-9A76-B259457B214F}"/>
              </a:ext>
            </a:extLst>
          </p:cNvPr>
          <p:cNvSpPr>
            <a:spLocks noGrp="1"/>
          </p:cNvSpPr>
          <p:nvPr/>
        </p:nvSpPr>
        <p:spPr>
          <a:xfrm>
            <a:off x="2305050" y="4076700"/>
            <a:ext cx="1844265" cy="133350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794C921-9BAE-4166-998A-BE2350BD4591}"/>
              </a:ext>
            </a:extLst>
          </p:cNvPr>
          <p:cNvSpPr>
            <a:spLocks noGrp="1"/>
          </p:cNvSpPr>
          <p:nvPr/>
        </p:nvSpPr>
        <p:spPr>
          <a:xfrm>
            <a:off x="3879850" y="40576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0.916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4DD331-60FA-4B8E-A189-6B66578035D6}"/>
              </a:ext>
            </a:extLst>
          </p:cNvPr>
          <p:cNvSpPr>
            <a:spLocks noGrp="1"/>
          </p:cNvSpPr>
          <p:nvPr/>
        </p:nvSpPr>
        <p:spPr>
          <a:xfrm>
            <a:off x="4527550" y="4076700"/>
            <a:ext cx="20129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1C8A293-51E7-44FD-922A-652FADD8D685}"/>
              </a:ext>
            </a:extLst>
          </p:cNvPr>
          <p:cNvSpPr>
            <a:spLocks noGrp="1"/>
          </p:cNvSpPr>
          <p:nvPr/>
        </p:nvSpPr>
        <p:spPr>
          <a:xfrm>
            <a:off x="4527550" y="4076700"/>
            <a:ext cx="1881102" cy="133350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D2B9E7-6B46-4201-BA38-43C49C08ED54}"/>
              </a:ext>
            </a:extLst>
          </p:cNvPr>
          <p:cNvSpPr>
            <a:spLocks noGrp="1"/>
          </p:cNvSpPr>
          <p:nvPr/>
        </p:nvSpPr>
        <p:spPr>
          <a:xfrm>
            <a:off x="6102350" y="40576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0.934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7DC28B-8A90-46C6-BEDE-717065FD532C}"/>
              </a:ext>
            </a:extLst>
          </p:cNvPr>
          <p:cNvSpPr>
            <a:spLocks noGrp="1"/>
          </p:cNvSpPr>
          <p:nvPr/>
        </p:nvSpPr>
        <p:spPr>
          <a:xfrm>
            <a:off x="6750050" y="4076700"/>
            <a:ext cx="2012950" cy="1333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9BE36FD-322D-4C23-820C-8EEF5B4D5BE8}"/>
              </a:ext>
            </a:extLst>
          </p:cNvPr>
          <p:cNvSpPr>
            <a:spLocks noGrp="1"/>
          </p:cNvSpPr>
          <p:nvPr/>
        </p:nvSpPr>
        <p:spPr>
          <a:xfrm>
            <a:off x="6750050" y="4076700"/>
            <a:ext cx="1958198" cy="13335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D1D53D-1503-4E48-8E89-30770ECB7ABD}"/>
              </a:ext>
            </a:extLst>
          </p:cNvPr>
          <p:cNvSpPr>
            <a:spLocks noGrp="1"/>
          </p:cNvSpPr>
          <p:nvPr/>
        </p:nvSpPr>
        <p:spPr>
          <a:xfrm>
            <a:off x="8324850" y="4057650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0.973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95BA45-56E5-4986-AD82-677776384CFA}"/>
              </a:ext>
            </a:extLst>
          </p:cNvPr>
          <p:cNvSpPr>
            <a:spLocks noGrp="1"/>
          </p:cNvSpPr>
          <p:nvPr/>
        </p:nvSpPr>
        <p:spPr>
          <a:xfrm>
            <a:off x="2305050" y="5000625"/>
            <a:ext cx="142875" cy="142875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EC41BB8-CD36-4DE7-8752-208889C6C887}"/>
              </a:ext>
            </a:extLst>
          </p:cNvPr>
          <p:cNvSpPr>
            <a:spLocks noGrp="1"/>
          </p:cNvSpPr>
          <p:nvPr/>
        </p:nvSpPr>
        <p:spPr>
          <a:xfrm>
            <a:off x="2514600" y="4972050"/>
            <a:ext cx="99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BCAF67A-FE4A-4DF9-B53C-0A5AA28DB98D}"/>
              </a:ext>
            </a:extLst>
          </p:cNvPr>
          <p:cNvSpPr>
            <a:spLocks noGrp="1"/>
          </p:cNvSpPr>
          <p:nvPr/>
        </p:nvSpPr>
        <p:spPr>
          <a:xfrm>
            <a:off x="3543300" y="5000625"/>
            <a:ext cx="142875" cy="142875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9E3C1C3-0D0C-4F45-8F84-963F4BA70E00}"/>
              </a:ext>
            </a:extLst>
          </p:cNvPr>
          <p:cNvSpPr>
            <a:spLocks noGrp="1"/>
          </p:cNvSpPr>
          <p:nvPr/>
        </p:nvSpPr>
        <p:spPr>
          <a:xfrm>
            <a:off x="3752850" y="4972050"/>
            <a:ext cx="99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C91217F-2BAB-41F8-A8E6-D4B840C67C03}"/>
              </a:ext>
            </a:extLst>
          </p:cNvPr>
          <p:cNvSpPr>
            <a:spLocks noGrp="1"/>
          </p:cNvSpPr>
          <p:nvPr/>
        </p:nvSpPr>
        <p:spPr>
          <a:xfrm>
            <a:off x="4781550" y="5000625"/>
            <a:ext cx="142875" cy="1428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0A0CE4B-BB02-40FF-9F92-E6B5C929AE36}"/>
              </a:ext>
            </a:extLst>
          </p:cNvPr>
          <p:cNvSpPr>
            <a:spLocks noGrp="1"/>
          </p:cNvSpPr>
          <p:nvPr/>
        </p:nvSpPr>
        <p:spPr>
          <a:xfrm>
            <a:off x="4991100" y="4972050"/>
            <a:ext cx="99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F793508-0CD2-4D3C-8E6D-2E9627CD2E4C}"/>
              </a:ext>
            </a:extLst>
          </p:cNvPr>
          <p:cNvSpPr>
            <a:spLocks noGrp="1"/>
          </p:cNvSpPr>
          <p:nvPr/>
        </p:nvSpPr>
        <p:spPr>
          <a:xfrm>
            <a:off x="9353550" y="2190750"/>
            <a:ext cx="1809750" cy="2400300"/>
          </a:xfrm>
          <a:prstGeom prst="rect">
            <a:avLst/>
          </a:prstGeom>
          <a:solidFill>
            <a:srgbClr val="FFFFFF">
              <a:alpha val="53333"/>
            </a:srgbClr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B326367-9945-4AFB-A03D-9134800ED9C5}"/>
              </a:ext>
            </a:extLst>
          </p:cNvPr>
          <p:cNvSpPr>
            <a:spLocks noGrp="1"/>
          </p:cNvSpPr>
          <p:nvPr/>
        </p:nvSpPr>
        <p:spPr>
          <a:xfrm>
            <a:off x="9601200" y="24574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B50891F-B026-4347-AB99-40169D815EEB}"/>
              </a:ext>
            </a:extLst>
          </p:cNvPr>
          <p:cNvSpPr>
            <a:spLocks noGrp="1"/>
          </p:cNvSpPr>
          <p:nvPr/>
        </p:nvSpPr>
        <p:spPr>
          <a:xfrm>
            <a:off x="9601200" y="2895600"/>
            <a:ext cx="12573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 lifts Negative F1 from 0.2955-0.3187 to 0.8263, which is the clearest sign that context helps.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8EBD9DB-2BF0-4195-9091-B3FD7E46DE21}"/>
              </a:ext>
            </a:extLst>
          </p:cNvPr>
          <p:cNvSpPr>
            <a:spLocks noGrp="1"/>
          </p:cNvSpPr>
          <p:nvPr/>
        </p:nvSpPr>
        <p:spPr>
          <a:xfrm>
            <a:off x="9601200" y="403860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 is high for every model, so it cannot be the only evidence.</a:t>
            </a:r>
          </a:p>
        </p:txBody>
      </p:sp>
    </p:spTree>
    <p:extLst>
      <p:ext uri="{BB962C8B-B14F-4D97-AF65-F5344CB8AC3E}">
        <p14:creationId xmlns:p14="http://schemas.microsoft.com/office/powerpoint/2010/main" val="1793660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732A3183-69BE-4687-8C98-3F2A9CAB53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AA04FE-9310-4D3C-B43A-6A190D7FF8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2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48DBE4-7222-413F-8F55-018585FAF0C0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ABSA Restaurant Reviews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5621D7-CDD3-4EED-822B-7BD83FDF885A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7958765D-6AA0-43FF-82B0-4BFA5E713D58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76200" cy="7620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8A00E028-1A34-4A41-9C0F-9975CF18539E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KNOWN-ASPECT CHECK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F411B-CD0D-495C-B6AC-07BF28ED804E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dirty="0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When Unknown is removed, </a:t>
            </a:r>
            <a:r>
              <a:rPr sz="2700" b="1" dirty="0" err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DeBERTa</a:t>
            </a:r>
            <a:r>
              <a:rPr sz="2700" b="1" dirty="0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 wins decisively.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E5622-F5AA-4097-88F8-4B30510F088A}"/>
              </a:ext>
            </a:extLst>
          </p:cNvPr>
          <p:cNvSpPr>
            <a:spLocks noGrp="1"/>
          </p:cNvSpPr>
          <p:nvPr/>
        </p:nvSpPr>
        <p:spPr>
          <a:xfrm>
            <a:off x="781050" y="19812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macro F1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3A269D-1033-4EA0-8928-284D9765EB93}"/>
              </a:ext>
            </a:extLst>
          </p:cNvPr>
          <p:cNvSpPr>
            <a:spLocks noGrp="1"/>
          </p:cNvSpPr>
          <p:nvPr/>
        </p:nvSpPr>
        <p:spPr>
          <a:xfrm>
            <a:off x="819150" y="251460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1C619D-DD12-4BDE-B7E5-A5C7DF76D521}"/>
              </a:ext>
            </a:extLst>
          </p:cNvPr>
          <p:cNvSpPr>
            <a:spLocks noGrp="1"/>
          </p:cNvSpPr>
          <p:nvPr/>
        </p:nvSpPr>
        <p:spPr>
          <a:xfrm>
            <a:off x="2381250" y="2533650"/>
            <a:ext cx="3619500" cy="1714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4B25AD-15A1-4E4A-9015-59B0A92D2565}"/>
              </a:ext>
            </a:extLst>
          </p:cNvPr>
          <p:cNvSpPr>
            <a:spLocks noGrp="1"/>
          </p:cNvSpPr>
          <p:nvPr/>
        </p:nvSpPr>
        <p:spPr>
          <a:xfrm>
            <a:off x="2381250" y="2533650"/>
            <a:ext cx="1456849" cy="171450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53AFD8-5E05-4C96-A5DF-951BEF106809}"/>
              </a:ext>
            </a:extLst>
          </p:cNvPr>
          <p:cNvSpPr>
            <a:spLocks noGrp="1"/>
          </p:cNvSpPr>
          <p:nvPr/>
        </p:nvSpPr>
        <p:spPr>
          <a:xfrm>
            <a:off x="5562600" y="251460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0.4025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AE69FC-815D-486F-A732-4E541112871E}"/>
              </a:ext>
            </a:extLst>
          </p:cNvPr>
          <p:cNvSpPr>
            <a:spLocks noGrp="1"/>
          </p:cNvSpPr>
          <p:nvPr/>
        </p:nvSpPr>
        <p:spPr>
          <a:xfrm>
            <a:off x="2381250" y="27813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0.9931 | Recall 0.2553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5EFCB-18F6-4DF6-A427-3AC6ECF4AFFD}"/>
              </a:ext>
            </a:extLst>
          </p:cNvPr>
          <p:cNvSpPr>
            <a:spLocks noGrp="1"/>
          </p:cNvSpPr>
          <p:nvPr/>
        </p:nvSpPr>
        <p:spPr>
          <a:xfrm>
            <a:off x="819150" y="31813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Traditional ML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66FF77-FD7E-421E-8A48-6BF723DD101B}"/>
              </a:ext>
            </a:extLst>
          </p:cNvPr>
          <p:cNvSpPr>
            <a:spLocks noGrp="1"/>
          </p:cNvSpPr>
          <p:nvPr/>
        </p:nvSpPr>
        <p:spPr>
          <a:xfrm>
            <a:off x="2381250" y="3200400"/>
            <a:ext cx="3619500" cy="1714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61DB15-7B89-48F4-B19B-CD719E91367D}"/>
              </a:ext>
            </a:extLst>
          </p:cNvPr>
          <p:cNvSpPr>
            <a:spLocks noGrp="1"/>
          </p:cNvSpPr>
          <p:nvPr/>
        </p:nvSpPr>
        <p:spPr>
          <a:xfrm>
            <a:off x="2381250" y="3200400"/>
            <a:ext cx="1751114" cy="171450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944C23-6853-430F-9D59-BC95CFB0AC14}"/>
              </a:ext>
            </a:extLst>
          </p:cNvPr>
          <p:cNvSpPr>
            <a:spLocks noGrp="1"/>
          </p:cNvSpPr>
          <p:nvPr/>
        </p:nvSpPr>
        <p:spPr>
          <a:xfrm>
            <a:off x="5562600" y="318135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0.4838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52A5BB-6580-4A2E-89CA-A41C440E86C5}"/>
              </a:ext>
            </a:extLst>
          </p:cNvPr>
          <p:cNvSpPr>
            <a:spLocks noGrp="1"/>
          </p:cNvSpPr>
          <p:nvPr/>
        </p:nvSpPr>
        <p:spPr>
          <a:xfrm>
            <a:off x="2381250" y="34480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0.8374 | Recall 0.3570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B2361D-8EA1-4F0A-AFF9-EBC93F80E419}"/>
              </a:ext>
            </a:extLst>
          </p:cNvPr>
          <p:cNvSpPr>
            <a:spLocks noGrp="1"/>
          </p:cNvSpPr>
          <p:nvPr/>
        </p:nvSpPr>
        <p:spPr>
          <a:xfrm>
            <a:off x="819150" y="384810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DeBERTa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AAD1D7-3B00-43C5-9A84-341AFACCDBCA}"/>
              </a:ext>
            </a:extLst>
          </p:cNvPr>
          <p:cNvSpPr>
            <a:spLocks noGrp="1"/>
          </p:cNvSpPr>
          <p:nvPr/>
        </p:nvSpPr>
        <p:spPr>
          <a:xfrm>
            <a:off x="2381250" y="3867150"/>
            <a:ext cx="3619500" cy="171450"/>
          </a:xfrm>
          <a:prstGeom prst="rect">
            <a:avLst/>
          </a:prstGeom>
          <a:solidFill>
            <a:srgbClr val="E4D9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2EC6E5-435F-44DD-8F86-BC4CEF5093AE}"/>
              </a:ext>
            </a:extLst>
          </p:cNvPr>
          <p:cNvSpPr>
            <a:spLocks noGrp="1"/>
          </p:cNvSpPr>
          <p:nvPr/>
        </p:nvSpPr>
        <p:spPr>
          <a:xfrm>
            <a:off x="2381250" y="3867150"/>
            <a:ext cx="3281077" cy="17145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A5CF07-E768-4B92-B7E6-A5A699A16F55}"/>
              </a:ext>
            </a:extLst>
          </p:cNvPr>
          <p:cNvSpPr>
            <a:spLocks noGrp="1"/>
          </p:cNvSpPr>
          <p:nvPr/>
        </p:nvSpPr>
        <p:spPr>
          <a:xfrm>
            <a:off x="5562600" y="384810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0.9065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4F40AE-7010-4251-8F54-825F6E8B5C7F}"/>
              </a:ext>
            </a:extLst>
          </p:cNvPr>
          <p:cNvSpPr>
            <a:spLocks noGrp="1"/>
          </p:cNvSpPr>
          <p:nvPr/>
        </p:nvSpPr>
        <p:spPr>
          <a:xfrm>
            <a:off x="2381250" y="41148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Precision 0.9694 | Recall 0.8560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B2EDAC-0745-4830-AF5D-8B7ECF6A35A3}"/>
              </a:ext>
            </a:extLst>
          </p:cNvPr>
          <p:cNvSpPr>
            <a:spLocks noGrp="1"/>
          </p:cNvSpPr>
          <p:nvPr/>
        </p:nvSpPr>
        <p:spPr>
          <a:xfrm>
            <a:off x="7010400" y="19812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22B"/>
                </a:solidFill>
                <a:latin typeface="Aptos"/>
                <a:ea typeface="Aptos"/>
                <a:cs typeface="Aptos"/>
              </a:rPr>
              <a:t>Full-test DeBERTa confusion matrix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DD3C6B-7D39-4AEE-82C2-B548ED5787A3}"/>
              </a:ext>
            </a:extLst>
          </p:cNvPr>
          <p:cNvSpPr>
            <a:spLocks noGrp="1"/>
          </p:cNvSpPr>
          <p:nvPr/>
        </p:nvSpPr>
        <p:spPr>
          <a:xfrm>
            <a:off x="8477250" y="238125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B4CD17-4F9A-4286-8021-A30985DA4AE8}"/>
              </a:ext>
            </a:extLst>
          </p:cNvPr>
          <p:cNvSpPr>
            <a:spLocks noGrp="1"/>
          </p:cNvSpPr>
          <p:nvPr/>
        </p:nvSpPr>
        <p:spPr>
          <a:xfrm>
            <a:off x="7067550" y="280035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6A22F1-D57E-419B-965D-4C478154C133}"/>
              </a:ext>
            </a:extLst>
          </p:cNvPr>
          <p:cNvSpPr>
            <a:spLocks noGrp="1"/>
          </p:cNvSpPr>
          <p:nvPr/>
        </p:nvSpPr>
        <p:spPr>
          <a:xfrm>
            <a:off x="9296400" y="238125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2051CF-6E53-4666-B9C5-721E1010D54F}"/>
              </a:ext>
            </a:extLst>
          </p:cNvPr>
          <p:cNvSpPr>
            <a:spLocks noGrp="1"/>
          </p:cNvSpPr>
          <p:nvPr/>
        </p:nvSpPr>
        <p:spPr>
          <a:xfrm>
            <a:off x="7067550" y="34671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2913F56-4DF9-4425-9C88-B7136443072B}"/>
              </a:ext>
            </a:extLst>
          </p:cNvPr>
          <p:cNvSpPr>
            <a:spLocks noGrp="1"/>
          </p:cNvSpPr>
          <p:nvPr/>
        </p:nvSpPr>
        <p:spPr>
          <a:xfrm>
            <a:off x="10115550" y="238125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011D98-62DF-43DE-9A6A-BB81657CE8C4}"/>
              </a:ext>
            </a:extLst>
          </p:cNvPr>
          <p:cNvSpPr>
            <a:spLocks noGrp="1"/>
          </p:cNvSpPr>
          <p:nvPr/>
        </p:nvSpPr>
        <p:spPr>
          <a:xfrm>
            <a:off x="7067550" y="413385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8B1CCE-6CD0-4E84-BEF9-4A6228E6F21F}"/>
              </a:ext>
            </a:extLst>
          </p:cNvPr>
          <p:cNvSpPr>
            <a:spLocks noGrp="1"/>
          </p:cNvSpPr>
          <p:nvPr/>
        </p:nvSpPr>
        <p:spPr>
          <a:xfrm>
            <a:off x="8324850" y="2724150"/>
            <a:ext cx="704850" cy="457200"/>
          </a:xfrm>
          <a:prstGeom prst="rect">
            <a:avLst/>
          </a:prstGeom>
          <a:solidFill>
            <a:srgbClr val="2C7A7B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94C2432-2FC7-4739-ADE6-A72D77F0D783}"/>
              </a:ext>
            </a:extLst>
          </p:cNvPr>
          <p:cNvSpPr>
            <a:spLocks noGrp="1"/>
          </p:cNvSpPr>
          <p:nvPr/>
        </p:nvSpPr>
        <p:spPr>
          <a:xfrm>
            <a:off x="8324850" y="2867025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428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C0F53D-A44A-40DC-A558-A172E047AD5C}"/>
              </a:ext>
            </a:extLst>
          </p:cNvPr>
          <p:cNvSpPr>
            <a:spLocks noGrp="1"/>
          </p:cNvSpPr>
          <p:nvPr/>
        </p:nvSpPr>
        <p:spPr>
          <a:xfrm>
            <a:off x="9144000" y="2724150"/>
            <a:ext cx="704850" cy="457200"/>
          </a:xfrm>
          <a:prstGeom prst="rect">
            <a:avLst/>
          </a:prstGeom>
          <a:solidFill>
            <a:srgbClr val="E9DED3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E230056-B8D6-4CF3-AFB1-1DFCE56E0802}"/>
              </a:ext>
            </a:extLst>
          </p:cNvPr>
          <p:cNvSpPr>
            <a:spLocks noGrp="1"/>
          </p:cNvSpPr>
          <p:nvPr/>
        </p:nvSpPr>
        <p:spPr>
          <a:xfrm>
            <a:off x="9144000" y="2867025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FF095A-5B7B-48B0-AFEB-6761CD8B4691}"/>
              </a:ext>
            </a:extLst>
          </p:cNvPr>
          <p:cNvSpPr>
            <a:spLocks noGrp="1"/>
          </p:cNvSpPr>
          <p:nvPr/>
        </p:nvSpPr>
        <p:spPr>
          <a:xfrm>
            <a:off x="9963150" y="2724150"/>
            <a:ext cx="704850" cy="457200"/>
          </a:xfrm>
          <a:prstGeom prst="rect">
            <a:avLst/>
          </a:prstGeom>
          <a:solidFill>
            <a:srgbClr val="E9DED3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032117-2E3A-4989-88FA-03AF884662C4}"/>
              </a:ext>
            </a:extLst>
          </p:cNvPr>
          <p:cNvSpPr>
            <a:spLocks noGrp="1"/>
          </p:cNvSpPr>
          <p:nvPr/>
        </p:nvSpPr>
        <p:spPr>
          <a:xfrm>
            <a:off x="9963150" y="2867025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420C687-F727-4CCF-9F95-9CD3A0AA1ADC}"/>
              </a:ext>
            </a:extLst>
          </p:cNvPr>
          <p:cNvSpPr>
            <a:spLocks noGrp="1"/>
          </p:cNvSpPr>
          <p:nvPr/>
        </p:nvSpPr>
        <p:spPr>
          <a:xfrm>
            <a:off x="8324850" y="3390900"/>
            <a:ext cx="704850" cy="457200"/>
          </a:xfrm>
          <a:prstGeom prst="rect">
            <a:avLst/>
          </a:prstGeom>
          <a:solidFill>
            <a:srgbClr val="E9DED3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7F027B1-A09C-452F-BD60-2DBE1E635619}"/>
              </a:ext>
            </a:extLst>
          </p:cNvPr>
          <p:cNvSpPr>
            <a:spLocks noGrp="1"/>
          </p:cNvSpPr>
          <p:nvPr/>
        </p:nvSpPr>
        <p:spPr>
          <a:xfrm>
            <a:off x="8324850" y="3533775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E11C2DD-AD2D-450A-9899-F900D0BD068F}"/>
              </a:ext>
            </a:extLst>
          </p:cNvPr>
          <p:cNvSpPr>
            <a:spLocks noGrp="1"/>
          </p:cNvSpPr>
          <p:nvPr/>
        </p:nvSpPr>
        <p:spPr>
          <a:xfrm>
            <a:off x="9144000" y="3390900"/>
            <a:ext cx="704850" cy="457200"/>
          </a:xfrm>
          <a:prstGeom prst="rect">
            <a:avLst/>
          </a:prstGeom>
          <a:solidFill>
            <a:srgbClr val="2C7A7B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A6F2022-1CA2-43A7-AE2D-26144EFA7B1F}"/>
              </a:ext>
            </a:extLst>
          </p:cNvPr>
          <p:cNvSpPr>
            <a:spLocks noGrp="1"/>
          </p:cNvSpPr>
          <p:nvPr/>
        </p:nvSpPr>
        <p:spPr>
          <a:xfrm>
            <a:off x="9144000" y="3533775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C7760B-9217-46B1-9137-5B8A9C6B94B5}"/>
              </a:ext>
            </a:extLst>
          </p:cNvPr>
          <p:cNvSpPr>
            <a:spLocks noGrp="1"/>
          </p:cNvSpPr>
          <p:nvPr/>
        </p:nvSpPr>
        <p:spPr>
          <a:xfrm>
            <a:off x="9963150" y="3390900"/>
            <a:ext cx="704850" cy="457200"/>
          </a:xfrm>
          <a:prstGeom prst="rect">
            <a:avLst/>
          </a:prstGeom>
          <a:solidFill>
            <a:srgbClr val="E9DED3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7F665B4-12CC-49EA-AAA9-C5B33E116984}"/>
              </a:ext>
            </a:extLst>
          </p:cNvPr>
          <p:cNvSpPr>
            <a:spLocks noGrp="1"/>
          </p:cNvSpPr>
          <p:nvPr/>
        </p:nvSpPr>
        <p:spPr>
          <a:xfrm>
            <a:off x="9963150" y="3533775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42B80DE-BEE9-4C0A-9DC3-48F1E3340229}"/>
              </a:ext>
            </a:extLst>
          </p:cNvPr>
          <p:cNvSpPr>
            <a:spLocks noGrp="1"/>
          </p:cNvSpPr>
          <p:nvPr/>
        </p:nvSpPr>
        <p:spPr>
          <a:xfrm>
            <a:off x="8324850" y="4057650"/>
            <a:ext cx="704850" cy="457200"/>
          </a:xfrm>
          <a:prstGeom prst="rect">
            <a:avLst/>
          </a:prstGeom>
          <a:solidFill>
            <a:srgbClr val="E9DED3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3ABD8C8-7B8F-41A8-9445-5D07F1F016F3}"/>
              </a:ext>
            </a:extLst>
          </p:cNvPr>
          <p:cNvSpPr>
            <a:spLocks noGrp="1"/>
          </p:cNvSpPr>
          <p:nvPr/>
        </p:nvSpPr>
        <p:spPr>
          <a:xfrm>
            <a:off x="8324850" y="4200525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F86EF7C-F034-41A5-9BBC-AD4CE87BED22}"/>
              </a:ext>
            </a:extLst>
          </p:cNvPr>
          <p:cNvSpPr>
            <a:spLocks noGrp="1"/>
          </p:cNvSpPr>
          <p:nvPr/>
        </p:nvSpPr>
        <p:spPr>
          <a:xfrm>
            <a:off x="9144000" y="4057650"/>
            <a:ext cx="704850" cy="457200"/>
          </a:xfrm>
          <a:prstGeom prst="rect">
            <a:avLst/>
          </a:prstGeom>
          <a:solidFill>
            <a:srgbClr val="E9DED3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70086A-16D9-49AE-98EA-3B6001BCD1B6}"/>
              </a:ext>
            </a:extLst>
          </p:cNvPr>
          <p:cNvSpPr>
            <a:spLocks noGrp="1"/>
          </p:cNvSpPr>
          <p:nvPr/>
        </p:nvSpPr>
        <p:spPr>
          <a:xfrm>
            <a:off x="9144000" y="4200525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2D3B30E-C691-44F3-B7A3-DFD38D124C96}"/>
              </a:ext>
            </a:extLst>
          </p:cNvPr>
          <p:cNvSpPr>
            <a:spLocks noGrp="1"/>
          </p:cNvSpPr>
          <p:nvPr/>
        </p:nvSpPr>
        <p:spPr>
          <a:xfrm>
            <a:off x="9963150" y="4057650"/>
            <a:ext cx="704850" cy="457200"/>
          </a:xfrm>
          <a:prstGeom prst="rect">
            <a:avLst/>
          </a:prstGeom>
          <a:solidFill>
            <a:srgbClr val="2C7A7B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1A487C3-7C9B-4142-8FE6-A3A1910DCDB0}"/>
              </a:ext>
            </a:extLst>
          </p:cNvPr>
          <p:cNvSpPr>
            <a:spLocks noGrp="1"/>
          </p:cNvSpPr>
          <p:nvPr/>
        </p:nvSpPr>
        <p:spPr>
          <a:xfrm>
            <a:off x="9963150" y="4200525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2884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69A39D1-06E9-4140-9306-9FDD95CD562F}"/>
              </a:ext>
            </a:extLst>
          </p:cNvPr>
          <p:cNvSpPr>
            <a:spLocks noGrp="1"/>
          </p:cNvSpPr>
          <p:nvPr/>
        </p:nvSpPr>
        <p:spPr>
          <a:xfrm>
            <a:off x="7086600" y="506730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E77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781"/>
                </a:solidFill>
                <a:latin typeface="Aptos"/>
                <a:ea typeface="Aptos"/>
                <a:cs typeface="Aptos"/>
              </a:rPr>
              <a:t>Matrix uses all 3,652 aspect predictions; rows are true labels and columns are predictions.</a:t>
            </a:r>
          </a:p>
        </p:txBody>
      </p:sp>
    </p:spTree>
    <p:extLst>
      <p:ext uri="{BB962C8B-B14F-4D97-AF65-F5344CB8AC3E}">
        <p14:creationId xmlns:p14="http://schemas.microsoft.com/office/powerpoint/2010/main" val="1415241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771A2BAE-9941-42EC-AE58-4930612A0D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894AF5-09A3-42E1-BBA7-1FAF9821A1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92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57141A7D-FA51-4CDA-96CC-543250FA350A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76200" cy="7620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AAF1EEA9-70EA-408F-AC26-7B550AB72B74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D24B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24B35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4575CE-E046-4224-ABFC-2139F385DC39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8858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dirty="0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The project satisfies the dataset, processing, and evaluation</a:t>
            </a:r>
            <a:r>
              <a:rPr lang="en-US" sz="2700" b="1" dirty="0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700" b="1" dirty="0">
              <a:solidFill>
                <a:srgbClr val="1922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06CA22-6F5F-4DD7-A9CF-5B649474978C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285750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9E50A8-8A68-4C17-B4FA-DE4C55460461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2857500" cy="76200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D26190-F094-45E0-91FD-B5FD0168C7A8}"/>
              </a:ext>
            </a:extLst>
          </p:cNvPr>
          <p:cNvSpPr>
            <a:spLocks noGrp="1"/>
          </p:cNvSpPr>
          <p:nvPr/>
        </p:nvSpPr>
        <p:spPr>
          <a:xfrm>
            <a:off x="1047750" y="243840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Achieved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15BD5F-8968-4E1B-B607-ECBC102AEE59}"/>
              </a:ext>
            </a:extLst>
          </p:cNvPr>
          <p:cNvSpPr>
            <a:spLocks noGrp="1"/>
          </p:cNvSpPr>
          <p:nvPr/>
        </p:nvSpPr>
        <p:spPr>
          <a:xfrm>
            <a:off x="1066800" y="3067050"/>
            <a:ext cx="66675" cy="66675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583A87-9785-448B-8F41-85B7AADD4859}"/>
              </a:ext>
            </a:extLst>
          </p:cNvPr>
          <p:cNvSpPr>
            <a:spLocks noGrp="1"/>
          </p:cNvSpPr>
          <p:nvPr/>
        </p:nvSpPr>
        <p:spPr>
          <a:xfrm>
            <a:off x="1257300" y="2971800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Public SemEval restaurant dataset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8C8B2B-9C62-412C-B74D-5332CE614CE2}"/>
              </a:ext>
            </a:extLst>
          </p:cNvPr>
          <p:cNvSpPr>
            <a:spLocks noGrp="1"/>
          </p:cNvSpPr>
          <p:nvPr/>
        </p:nvSpPr>
        <p:spPr>
          <a:xfrm>
            <a:off x="1066800" y="3581400"/>
            <a:ext cx="66675" cy="66675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2E8296-B6BD-46CC-9674-281767EB70A8}"/>
              </a:ext>
            </a:extLst>
          </p:cNvPr>
          <p:cNvSpPr>
            <a:spLocks noGrp="1"/>
          </p:cNvSpPr>
          <p:nvPr/>
        </p:nvSpPr>
        <p:spPr>
          <a:xfrm>
            <a:off x="1257300" y="3486150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Four fixed aspects and three labels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E97326-935D-4C88-AEE5-68F48A317C7A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66675" cy="66675"/>
          </a:xfrm>
          <a:prstGeom prst="rect">
            <a:avLst/>
          </a:prstGeom>
          <a:solidFill>
            <a:srgbClr val="2C7A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1720BE-2A89-4307-9472-18C9B618A4C6}"/>
              </a:ext>
            </a:extLst>
          </p:cNvPr>
          <p:cNvSpPr>
            <a:spLocks noGrp="1"/>
          </p:cNvSpPr>
          <p:nvPr/>
        </p:nvSpPr>
        <p:spPr>
          <a:xfrm>
            <a:off x="1257300" y="4000500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Working Flutter + Python API demo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8FA3E2-25D1-4873-9114-CAA83B509959}"/>
              </a:ext>
            </a:extLst>
          </p:cNvPr>
          <p:cNvSpPr>
            <a:spLocks noGrp="1"/>
          </p:cNvSpPr>
          <p:nvPr/>
        </p:nvSpPr>
        <p:spPr>
          <a:xfrm>
            <a:off x="4343400" y="2152650"/>
            <a:ext cx="285750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B7D757-687E-4FC8-8C45-63E2211A1770}"/>
              </a:ext>
            </a:extLst>
          </p:cNvPr>
          <p:cNvSpPr>
            <a:spLocks noGrp="1"/>
          </p:cNvSpPr>
          <p:nvPr/>
        </p:nvSpPr>
        <p:spPr>
          <a:xfrm>
            <a:off x="4343400" y="2152650"/>
            <a:ext cx="2857500" cy="76200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7CCE36-71BF-432F-A77C-5C82A79BC68C}"/>
              </a:ext>
            </a:extLst>
          </p:cNvPr>
          <p:cNvSpPr>
            <a:spLocks noGrp="1"/>
          </p:cNvSpPr>
          <p:nvPr/>
        </p:nvSpPr>
        <p:spPr>
          <a:xfrm>
            <a:off x="4572000" y="243840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6E61F2-D399-4F7C-8198-46B8218D6AA4}"/>
              </a:ext>
            </a:extLst>
          </p:cNvPr>
          <p:cNvSpPr>
            <a:spLocks noGrp="1"/>
          </p:cNvSpPr>
          <p:nvPr/>
        </p:nvSpPr>
        <p:spPr>
          <a:xfrm>
            <a:off x="4591050" y="3067050"/>
            <a:ext cx="66675" cy="666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0CD5FC-3436-4E0F-914A-A4A48797A04B}"/>
              </a:ext>
            </a:extLst>
          </p:cNvPr>
          <p:cNvSpPr>
            <a:spLocks noGrp="1"/>
          </p:cNvSpPr>
          <p:nvPr/>
        </p:nvSpPr>
        <p:spPr>
          <a:xfrm>
            <a:off x="4781550" y="2971800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Macro F1 comparison across three methods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552C10-28C4-4AAD-B519-D7C540596182}"/>
              </a:ext>
            </a:extLst>
          </p:cNvPr>
          <p:cNvSpPr>
            <a:spLocks noGrp="1"/>
          </p:cNvSpPr>
          <p:nvPr/>
        </p:nvSpPr>
        <p:spPr>
          <a:xfrm>
            <a:off x="4591050" y="3581400"/>
            <a:ext cx="66675" cy="666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5226EA-D70B-4AA5-AC9B-D5D61A20300A}"/>
              </a:ext>
            </a:extLst>
          </p:cNvPr>
          <p:cNvSpPr>
            <a:spLocks noGrp="1"/>
          </p:cNvSpPr>
          <p:nvPr/>
        </p:nvSpPr>
        <p:spPr>
          <a:xfrm>
            <a:off x="4781550" y="3486150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Aspect-level and per-label charts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E35CB3-D7FC-43C9-B3F4-1373A3D833D1}"/>
              </a:ext>
            </a:extLst>
          </p:cNvPr>
          <p:cNvSpPr>
            <a:spLocks noGrp="1"/>
          </p:cNvSpPr>
          <p:nvPr/>
        </p:nvSpPr>
        <p:spPr>
          <a:xfrm>
            <a:off x="4591050" y="4095750"/>
            <a:ext cx="66675" cy="66675"/>
          </a:xfrm>
          <a:prstGeom prst="rect">
            <a:avLst/>
          </a:prstGeom>
          <a:solidFill>
            <a:srgbClr val="D24B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C0E2EA-D597-4FD3-B3DD-6072C7660801}"/>
              </a:ext>
            </a:extLst>
          </p:cNvPr>
          <p:cNvSpPr>
            <a:spLocks noGrp="1"/>
          </p:cNvSpPr>
          <p:nvPr/>
        </p:nvSpPr>
        <p:spPr>
          <a:xfrm>
            <a:off x="4781550" y="4000500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Mentioned-aspect and confusion analysis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400848-22C6-46B5-B173-A9D7CB3434DC}"/>
              </a:ext>
            </a:extLst>
          </p:cNvPr>
          <p:cNvSpPr>
            <a:spLocks noGrp="1"/>
          </p:cNvSpPr>
          <p:nvPr/>
        </p:nvSpPr>
        <p:spPr>
          <a:xfrm>
            <a:off x="7867650" y="2152650"/>
            <a:ext cx="285750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BFA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918EBD-B5D7-47C1-9384-53A758918E13}"/>
              </a:ext>
            </a:extLst>
          </p:cNvPr>
          <p:cNvSpPr>
            <a:spLocks noGrp="1"/>
          </p:cNvSpPr>
          <p:nvPr/>
        </p:nvSpPr>
        <p:spPr>
          <a:xfrm>
            <a:off x="7867650" y="2152650"/>
            <a:ext cx="2857500" cy="76200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A09BCA-CD1D-40A9-9FBA-2EEF11321E4D}"/>
              </a:ext>
            </a:extLst>
          </p:cNvPr>
          <p:cNvSpPr>
            <a:spLocks noGrp="1"/>
          </p:cNvSpPr>
          <p:nvPr/>
        </p:nvSpPr>
        <p:spPr>
          <a:xfrm>
            <a:off x="8096250" y="243840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9222B"/>
                </a:solidFill>
                <a:latin typeface="Aptos Display"/>
                <a:ea typeface="Aptos Display"/>
                <a:cs typeface="Aptos Display"/>
              </a:rPr>
              <a:t>Next work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85E5FE-F09C-4B04-B540-0F1539CF8F07}"/>
              </a:ext>
            </a:extLst>
          </p:cNvPr>
          <p:cNvSpPr>
            <a:spLocks noGrp="1"/>
          </p:cNvSpPr>
          <p:nvPr/>
        </p:nvSpPr>
        <p:spPr>
          <a:xfrm>
            <a:off x="8115300" y="3067050"/>
            <a:ext cx="66675" cy="66675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2DE88D2-4E32-4690-92EA-F31717533D14}"/>
              </a:ext>
            </a:extLst>
          </p:cNvPr>
          <p:cNvSpPr>
            <a:spLocks noGrp="1"/>
          </p:cNvSpPr>
          <p:nvPr/>
        </p:nvSpPr>
        <p:spPr>
          <a:xfrm>
            <a:off x="8305800" y="2971800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More aspect categories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A12458-004E-4AC5-B0B8-DA8468D612F3}"/>
              </a:ext>
            </a:extLst>
          </p:cNvPr>
          <p:cNvSpPr>
            <a:spLocks noGrp="1"/>
          </p:cNvSpPr>
          <p:nvPr/>
        </p:nvSpPr>
        <p:spPr>
          <a:xfrm>
            <a:off x="8115300" y="3581400"/>
            <a:ext cx="66675" cy="66675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3C9C53-7779-4E9C-8F2E-B48EB853AF1E}"/>
              </a:ext>
            </a:extLst>
          </p:cNvPr>
          <p:cNvSpPr>
            <a:spLocks noGrp="1"/>
          </p:cNvSpPr>
          <p:nvPr/>
        </p:nvSpPr>
        <p:spPr>
          <a:xfrm>
            <a:off x="8305800" y="3486150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More balanced training data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FAEAD5C-D3A0-4495-9D7D-E192D8C1B723}"/>
              </a:ext>
            </a:extLst>
          </p:cNvPr>
          <p:cNvSpPr>
            <a:spLocks noGrp="1"/>
          </p:cNvSpPr>
          <p:nvPr/>
        </p:nvSpPr>
        <p:spPr>
          <a:xfrm>
            <a:off x="8115300" y="4095750"/>
            <a:ext cx="66675" cy="66675"/>
          </a:xfrm>
          <a:prstGeom prst="rect">
            <a:avLst/>
          </a:prstGeom>
          <a:solidFill>
            <a:srgbClr val="8A9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A87A24-E7B7-427E-BA45-3D00603C73EE}"/>
              </a:ext>
            </a:extLst>
          </p:cNvPr>
          <p:cNvSpPr>
            <a:spLocks noGrp="1"/>
          </p:cNvSpPr>
          <p:nvPr/>
        </p:nvSpPr>
        <p:spPr>
          <a:xfrm>
            <a:off x="8305800" y="4000500"/>
            <a:ext cx="1943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0">
                <a:solidFill>
                  <a:srgbClr val="1922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9222B"/>
                </a:solidFill>
                <a:latin typeface="Aptos"/>
                <a:ea typeface="Aptos"/>
                <a:cs typeface="Aptos"/>
              </a:rPr>
              <a:t>Confidence calibration and error review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22257BF-794E-4F38-AA96-18674FE711CD}"/>
              </a:ext>
            </a:extLst>
          </p:cNvPr>
          <p:cNvSpPr>
            <a:spLocks noGrp="1"/>
          </p:cNvSpPr>
          <p:nvPr/>
        </p:nvSpPr>
        <p:spPr>
          <a:xfrm>
            <a:off x="2476500" y="5410200"/>
            <a:ext cx="7239000" cy="514350"/>
          </a:xfrm>
          <a:prstGeom prst="rect">
            <a:avLst/>
          </a:prstGeom>
          <a:solidFill>
            <a:srgbClr val="192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8A1F80-C396-4210-A74E-887D395AAB35}"/>
              </a:ext>
            </a:extLst>
          </p:cNvPr>
          <p:cNvSpPr>
            <a:spLocks noGrp="1"/>
          </p:cNvSpPr>
          <p:nvPr/>
        </p:nvSpPr>
        <p:spPr>
          <a:xfrm>
            <a:off x="2781300" y="5534025"/>
            <a:ext cx="6610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F7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2EA"/>
                </a:solidFill>
                <a:latin typeface="Aptos"/>
                <a:ea typeface="Aptos"/>
                <a:cs typeface="Aptos"/>
              </a:rPr>
              <a:t>Selected final model: DeBERTa-v3-base, because it has the highest macro F1 and handles Positive/Negative labels far better.</a:t>
            </a:r>
          </a:p>
        </p:txBody>
      </p:sp>
    </p:spTree>
    <p:extLst>
      <p:ext uri="{BB962C8B-B14F-4D97-AF65-F5344CB8AC3E}">
        <p14:creationId xmlns:p14="http://schemas.microsoft.com/office/powerpoint/2010/main" val="7250291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1270</Words>
  <Application>Microsoft Macintosh PowerPoint</Application>
  <DocSecurity>0</DocSecurity>
  <PresentationFormat>Widescreen</PresentationFormat>
  <Paragraphs>304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Khoa Huynh Ba Anh</cp:lastModifiedBy>
  <cp:revision>2</cp:revision>
  <dcterms:created xsi:type="dcterms:W3CDTF">2026-06-14T19:33:13Z</dcterms:created>
  <dcterms:modified xsi:type="dcterms:W3CDTF">2026-06-14T19:58:06Z</dcterms:modified>
</cp:coreProperties>
</file>
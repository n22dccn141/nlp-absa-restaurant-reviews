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fd76bbaedc4dc3" /><Relationship Type="http://schemas.openxmlformats.org/officeDocument/2006/relationships/extended-properties" Target="/docProps/app.xml" Id="Rba4470a3c87047e3" /><Relationship Type="http://schemas.openxmlformats.org/officeDocument/2006/relationships/officeDocument" Target="/ppt/presentation.xml" Id="R39696c12d0ed46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8783e061144866"/>
  </p:sldMasterIdLst>
  <p:notesMasterIdLst>
    <p:notesMasterId xmlns:r="http://schemas.openxmlformats.org/officeDocument/2006/relationships" r:id="Rd176f43614a448fe"/>
  </p:notesMasterIdLst>
  <p:sldIdLst>
    <p:sldId xmlns:r="http://schemas.openxmlformats.org/officeDocument/2006/relationships" id="256" r:id="Rfdd1bbf8717a4119"/>
    <p:sldId xmlns:r="http://schemas.openxmlformats.org/officeDocument/2006/relationships" id="257" r:id="Rcb2fbf450a724267"/>
    <p:sldId xmlns:r="http://schemas.openxmlformats.org/officeDocument/2006/relationships" id="258" r:id="Ref5f0b713ae344d9"/>
    <p:sldId xmlns:r="http://schemas.openxmlformats.org/officeDocument/2006/relationships" id="259" r:id="Rc2e1739d71e64e68"/>
    <p:sldId xmlns:r="http://schemas.openxmlformats.org/officeDocument/2006/relationships" id="260" r:id="R56bc9f28053c452d"/>
    <p:sldId xmlns:r="http://schemas.openxmlformats.org/officeDocument/2006/relationships" id="261" r:id="R4a2d5bc79dd7496e"/>
    <p:sldId xmlns:r="http://schemas.openxmlformats.org/officeDocument/2006/relationships" id="262" r:id="R6b92a9f8b25a4b48"/>
    <p:sldId xmlns:r="http://schemas.openxmlformats.org/officeDocument/2006/relationships" id="263" r:id="R7a5a8b4d6e6c4583"/>
    <p:sldId xmlns:r="http://schemas.openxmlformats.org/officeDocument/2006/relationships" id="264" r:id="Rb2a97fab3b7d46dd"/>
    <p:sldId xmlns:r="http://schemas.openxmlformats.org/officeDocument/2006/relationships" id="265" r:id="R71589c2994ec4016"/>
    <p:sldId xmlns:r="http://schemas.openxmlformats.org/officeDocument/2006/relationships" id="266" r:id="R3ad1ef6fcab740dd"/>
    <p:sldId xmlns:r="http://schemas.openxmlformats.org/officeDocument/2006/relationships" id="267" r:id="R3b971feeacb84be7"/>
    <p:sldId xmlns:r="http://schemas.openxmlformats.org/officeDocument/2006/relationships" id="268" r:id="R9da1452da8f5426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27a592618145fe" /><Relationship Type="http://schemas.openxmlformats.org/officeDocument/2006/relationships/slideMaster" Target="/ppt/slideMasters/slideMaster1.xml" Id="R678783e061144866" /><Relationship Type="http://schemas.openxmlformats.org/officeDocument/2006/relationships/notesMaster" Target="/ppt/notesMasters/notesMaster1.xml" Id="Rd176f43614a448fe" /><Relationship Type="http://schemas.openxmlformats.org/officeDocument/2006/relationships/presProps" Target="/ppt/presProps.xml" Id="Rf701b292fbaf46e9" /><Relationship Type="http://schemas.openxmlformats.org/officeDocument/2006/relationships/viewProps" Target="/ppt/viewProps.xml" Id="Rf57728ce65bc47e2" /><Relationship Type="http://schemas.openxmlformats.org/officeDocument/2006/relationships/tableStyles" Target="/ppt/tableStyles.xml" Id="R89fcecd3cc55466a" /><Relationship Type="http://schemas.openxmlformats.org/officeDocument/2006/relationships/slide" Target="/ppt/slides/slide1.xml" Id="Rfdd1bbf8717a4119" /><Relationship Type="http://schemas.openxmlformats.org/officeDocument/2006/relationships/slide" Target="/ppt/slides/slide2.xml" Id="Rcb2fbf450a724267" /><Relationship Type="http://schemas.openxmlformats.org/officeDocument/2006/relationships/slide" Target="/ppt/slides/slide3.xml" Id="Ref5f0b713ae344d9" /><Relationship Type="http://schemas.openxmlformats.org/officeDocument/2006/relationships/slide" Target="/ppt/slides/slide4.xml" Id="Rc2e1739d71e64e68" /><Relationship Type="http://schemas.openxmlformats.org/officeDocument/2006/relationships/slide" Target="/ppt/slides/slide5.xml" Id="R56bc9f28053c452d" /><Relationship Type="http://schemas.openxmlformats.org/officeDocument/2006/relationships/slide" Target="/ppt/slides/slide6.xml" Id="R4a2d5bc79dd7496e" /><Relationship Type="http://schemas.openxmlformats.org/officeDocument/2006/relationships/slide" Target="/ppt/slides/slide7.xml" Id="R6b92a9f8b25a4b48" /><Relationship Type="http://schemas.openxmlformats.org/officeDocument/2006/relationships/slide" Target="/ppt/slides/slide8.xml" Id="R7a5a8b4d6e6c4583" /><Relationship Type="http://schemas.openxmlformats.org/officeDocument/2006/relationships/slide" Target="/ppt/slides/slide9.xml" Id="Rb2a97fab3b7d46dd" /><Relationship Type="http://schemas.openxmlformats.org/officeDocument/2006/relationships/slide" Target="/ppt/slides/slide10.xml" Id="R71589c2994ec4016" /><Relationship Type="http://schemas.openxmlformats.org/officeDocument/2006/relationships/slide" Target="/ppt/slides/slide11.xml" Id="R3ad1ef6fcab740dd" /><Relationship Type="http://schemas.openxmlformats.org/officeDocument/2006/relationships/slide" Target="/ppt/slides/slide12.xml" Id="R3b971feeacb84be7" /><Relationship Type="http://schemas.openxmlformats.org/officeDocument/2006/relationships/slide" Target="/ppt/slides/slide13.xml" Id="R9da1452da8f542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5683dd123641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e476ef0196429d" /><Relationship Type="http://schemas.openxmlformats.org/officeDocument/2006/relationships/notesMaster" Target="/ppt/notesMasters/notesMaster1.xml" Id="Rfb62469055ee42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e88ba735504ada" /><Relationship Type="http://schemas.openxmlformats.org/officeDocument/2006/relationships/notesMaster" Target="/ppt/notesMasters/notesMaster1.xml" Id="R9bc1ccb52b914e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da8161a3094e1b" /><Relationship Type="http://schemas.openxmlformats.org/officeDocument/2006/relationships/notesMaster" Target="/ppt/notesMasters/notesMaster1.xml" Id="R1e4fe1cc0eba4b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fb18bcb7da4d45" /><Relationship Type="http://schemas.openxmlformats.org/officeDocument/2006/relationships/notesMaster" Target="/ppt/notesMasters/notesMaster1.xml" Id="R56e2e0d5ee4549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6217ddfd804b38" /><Relationship Type="http://schemas.openxmlformats.org/officeDocument/2006/relationships/notesMaster" Target="/ppt/notesMasters/notesMaster1.xml" Id="R0b61a2b9fadf43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43c233c907469c" /><Relationship Type="http://schemas.openxmlformats.org/officeDocument/2006/relationships/notesMaster" Target="/ppt/notesMasters/notesMaster1.xml" Id="Rb2180b4a88b443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17c4a9999c4fa9" /><Relationship Type="http://schemas.openxmlformats.org/officeDocument/2006/relationships/notesMaster" Target="/ppt/notesMasters/notesMaster1.xml" Id="Ra8c21c6d9fc14d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9631ddbbc949f7" /><Relationship Type="http://schemas.openxmlformats.org/officeDocument/2006/relationships/notesMaster" Target="/ppt/notesMasters/notesMaster1.xml" Id="R2d8e2d4f72ce47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18b477c80140ab" /><Relationship Type="http://schemas.openxmlformats.org/officeDocument/2006/relationships/notesMaster" Target="/ppt/notesMasters/notesMaster1.xml" Id="R59e0d0dda9d940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8f0be661ab4d4d" /><Relationship Type="http://schemas.openxmlformats.org/officeDocument/2006/relationships/notesMaster" Target="/ppt/notesMasters/notesMaster1.xml" Id="R4195603bb87f49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5785eaa6e14990" /><Relationship Type="http://schemas.openxmlformats.org/officeDocument/2006/relationships/notesMaster" Target="/ppt/notesMasters/notesMaster1.xml" Id="Reb19a8b29c6846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6cc8f36d014af6" /><Relationship Type="http://schemas.openxmlformats.org/officeDocument/2006/relationships/notesMaster" Target="/ppt/notesMasters/notesMaster1.xml" Id="R1321028b4b1e4d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ec2a252d9e430a" /><Relationship Type="http://schemas.openxmlformats.org/officeDocument/2006/relationships/notesMaster" Target="/ppt/notesMasters/notesMaster1.xml" Id="R6aa6313968ea49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333b0bc5654e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cd2815661f45b9" /><Relationship Type="http://schemas.openxmlformats.org/officeDocument/2006/relationships/slideLayout" Target="/ppt/slideLayouts/slideLayout1.xml" Id="R74ced9f042184f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ced9f042184f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cd58b721e46ea" /><Relationship Type="http://schemas.openxmlformats.org/officeDocument/2006/relationships/notesSlide" Target="/ppt/notesSlides/notesSlide1.xml" Id="R30c66f090cb74a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493fa81f144fc" /><Relationship Type="http://schemas.openxmlformats.org/officeDocument/2006/relationships/notesSlide" Target="/ppt/notesSlides/notesSlide2.xml" Id="R021ee373565d41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869b68c334908" /><Relationship Type="http://schemas.openxmlformats.org/officeDocument/2006/relationships/notesSlide" Target="/ppt/notesSlides/notesSlide3.xml" Id="R14c09c32304448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975a395b84da3" /><Relationship Type="http://schemas.openxmlformats.org/officeDocument/2006/relationships/notesSlide" Target="/ppt/notesSlides/notesSlide4.xml" Id="Ra5e36e40e29949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9d1caec5545a4" /><Relationship Type="http://schemas.openxmlformats.org/officeDocument/2006/relationships/notesSlide" Target="/ppt/notesSlides/notesSlide5.xml" Id="R0fedce8772cb4d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57f4dca394c4a" /><Relationship Type="http://schemas.openxmlformats.org/officeDocument/2006/relationships/image" Target="/ppt/media/image.png" Id="R3de03f1dd2c24c78" /><Relationship Type="http://schemas.openxmlformats.org/officeDocument/2006/relationships/notesSlide" Target="/ppt/notesSlides/notesSlide6.xml" Id="Rd94376400f304b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4840934864f46" /><Relationship Type="http://schemas.openxmlformats.org/officeDocument/2006/relationships/notesSlide" Target="/ppt/notesSlides/notesSlide7.xml" Id="R7ded35f8b4654a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4636c3e904143" /><Relationship Type="http://schemas.openxmlformats.org/officeDocument/2006/relationships/notesSlide" Target="/ppt/notesSlides/notesSlide8.xml" Id="R5399b5b986a848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5f37aa7204943" /><Relationship Type="http://schemas.openxmlformats.org/officeDocument/2006/relationships/notesSlide" Target="/ppt/notesSlides/notesSlide9.xml" Id="Rc49960b139fd4e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46c80c3234ff7" /><Relationship Type="http://schemas.openxmlformats.org/officeDocument/2006/relationships/notesSlide" Target="/ppt/notesSlides/notesSlide10.xml" Id="Rcd751f4659fb45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1f9a75d55452a" /><Relationship Type="http://schemas.openxmlformats.org/officeDocument/2006/relationships/notesSlide" Target="/ppt/notesSlides/notesSlide11.xml" Id="R45453b1fbfd34a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10a7a23e74179" /><Relationship Type="http://schemas.openxmlformats.org/officeDocument/2006/relationships/notesSlide" Target="/ppt/notesSlides/notesSlide12.xml" Id="R3b395ff1f09349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875cf3e63477d" /><Relationship Type="http://schemas.openxmlformats.org/officeDocument/2006/relationships/notesSlide" Target="/ppt/notesSlides/notesSlide13.xml" Id="R4204e6326f584f8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99A00D-9179-4BB9-B704-BDA99EA7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02CAB-B36F-4308-8760-B7B4421C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70010-6046-4BBA-8DAC-792BFF75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6A64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A642"/>
                </a:solidFill>
                <a:latin typeface="Aptos"/>
                <a:ea typeface="Aptos"/>
                <a:cs typeface="Aptos"/>
              </a:rPr>
              <a:t>NLP FINAL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BAA12-A1D5-4A7C-A17B-8B9B01BC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619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Aspect-Based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Sentiment Analysis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for Restaurant Reviews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8BFBB-2A47-40A3-9A6E-10AAD590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A working ABSA system that maps each review to Food, Service, Price, and Ambiance sentiment using rule-based, TF-IDF Logistic Regression, and DeBERTa models.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8803A-CD45-4378-8AA0-AC0DE2EC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rPr>
              <a:t>3,041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47D90-2CEB-4D08-9202-41B0F213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 reviews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C3FE0-ABD2-4439-8828-A4B71571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rPr>
              <a:t>12,164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6FAA4-32F8-4B18-8124-A8C58DEE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816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review-aspect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FDFF9-E31A-46DA-8D76-D7B7C7DD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62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rPr>
              <a:t>0.8865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BECC0-4370-4C25-8DF0-9ABAB1B3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816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best macro F1 in final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364CA-B399-4484-9485-6FE614DC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66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Teacher focus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BA5E3-7887-41FC-ACD5-32ADC6A7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1239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A0208-C201-49F0-AB98-3717B8F9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1239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CE405-4763-4101-A695-225E8976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573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CBE53-2D9A-468C-A20C-F88143B5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SemEval-2014 restaurant reviews mapped into four fixed aspects.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3AFD3-3230-4148-ADE4-1CC73371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669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EF2CB-74EB-4BE2-92BC-2E0A242B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669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26C5C-A618-4A74-A0E6-781F2F86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Processing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2826B3-97F6-414F-BF8D-F1000456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XML annotations become wide and long CSV tables for app output and training.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F5937C-42EF-4622-85D7-A3B352A6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099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E0D0C-6886-42D1-96AA-96015878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099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7FDFF2-4D41-4829-882B-07435428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433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377AB4-284B-4E72-B708-08EFDDC6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Accuracy, precision, recall, macro F1, weighted F1, per-label and mentioned-aspect analysis.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180DDF-E297-46AC-9DFF-634C1217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1341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Source: project report N22DCAT003.pdf and repository artifacts</a:t>
            </a:r>
          </a:p>
        </p:txBody>
      </p:sp>
    </p:spTree>
    <p:extLst>
      <p:ext uri="{BB962C8B-B14F-4D97-AF65-F5344CB8AC3E}">
        <p14:creationId xmlns:p14="http://schemas.microsoft.com/office/powerpoint/2010/main" val="550597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7CED324-D048-4E04-AA53-94F04396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19FDA-E4CC-418B-B80C-70C9E0DA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"/>
            <a:ext cx="111252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22348-1B79-45C5-8F56-0346B567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952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3FCE1-F5DE-4B1E-9354-40596E26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TEAM ROLES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D1CF0-28CC-481D-9707-4E04E43B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Each member owns one part of the ABSA system, so the presentation follows the project responsibilities.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667E4-BBCE-4A57-A627-4D516022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This slide can be used when introducing who speaks for dataset/system, rule-based modeling, and traditional ML/model comparison.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00A2D-207F-46F7-BC24-AA02DB04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34099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63FE9-FCAC-4999-AB21-9D347309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666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CB2FC-1690-4F92-B718-BFEC9DB8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N22DCCN141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DE987-63F4-49F3-ACA1-C0AF63C3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Huynh Ba Anh Khoa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784E5-6AE8-4539-AA5C-765F736D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Leader / Deep Learning / App Integration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B4DCA-E161-4903-A109-B46954CE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B755E-9B42-432A-8C07-612A1821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Prepared review-aspect data and DeBERTa-v3-base training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1FBD1-D893-4A23-9FE8-9A2441E0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Built Flutter demo, Python API connection, and final materials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E30F6-0D45-418D-8276-FD0110D3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Slides 1-5 and 11-12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D3ED0-B66A-4041-92B1-27E81638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81300"/>
            <a:ext cx="34099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A04EC-1E9C-4243-B364-F8462772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81300"/>
            <a:ext cx="666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46799-2694-413C-AB3D-81E2010B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099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9E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9E75"/>
                </a:solidFill>
                <a:latin typeface="Aptos"/>
                <a:ea typeface="Aptos"/>
                <a:cs typeface="Aptos"/>
              </a:rPr>
              <a:t>N22DCDT038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42BD1-C6FF-4EF5-8A21-085FDE63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5755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Dang Nhat Nam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3B7DEA-60DF-4BF6-8905-AFED0173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48075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Traditional Machine Learning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55751-1030-472A-B739-35E373A2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767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5A3B0E-4B2A-4893-973E-CD9EBDD2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2862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Built TF-IDF text features and Logistic Regression classifiers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B3D56B-918C-4201-A20E-41AECA6A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7434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Reported Traditional ML metrics for model comparison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E011D7-1DD1-4EB1-BD23-1F5FE88C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27685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9E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9E75"/>
                </a:solidFill>
                <a:latin typeface="Aptos"/>
                <a:ea typeface="Aptos"/>
                <a:cs typeface="Aptos"/>
              </a:rPr>
              <a:t>Slides 8-10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DD7F42-1E34-474F-8E8F-27C574BA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34099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C6D150-47DA-4C78-A24B-85B4ECBE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666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4263ED-EB63-45F9-B0EF-1A369D70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99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N22DCAT003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2C1A91-A241-480A-9561-1DFD0DCD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5755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Ta Quang 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31843E-D36E-43C5-8F24-216F37BE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48075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Rule-Based ABSA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893627-CD5B-4356-B30F-CB7FCFEF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767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BCD2D4-7CC5-420F-9B2A-08045258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Defined aspect keywords and sentiment lexicons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CB60F4-E56B-4371-8238-336996A2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434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Implemented negation handling and spaCy dependency parsing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D0C97A-C40B-492D-9E1A-CB398249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7685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Slides 6-7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72AC66-DB8F-483E-950B-75211A65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Recommended handoff: Khoa introduces the system, An explains the rule-based baseline, Nam compares models, then Khoa closes with the final model choice.</a:t>
            </a:r>
          </a:p>
        </p:txBody>
      </p:sp>
    </p:spTree>
    <p:extLst>
      <p:ext uri="{BB962C8B-B14F-4D97-AF65-F5344CB8AC3E}">
        <p14:creationId xmlns:p14="http://schemas.microsoft.com/office/powerpoint/2010/main" val="3682555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3FE852-5ABA-4275-BA6F-74272175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DF44A-90A8-44CF-9647-8755722F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B7D20-ADFE-4E06-B76E-9DF9BD8B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4E984-FA0B-4847-B70B-3023C655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5041518-2EBF-4757-A551-F5E8BC8B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C98109D-7105-4102-A0F6-DB59D289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TASK FRAMING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4A482-78D2-40B3-A770-4C76A845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Whole-review sentiment hides the aspect that changed.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6F8EB-80F4-412C-AEEE-A4F65D8B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returns one label per restaurant aspect, so mixed opinions stay visible.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97C17-1292-488D-89B3-1CE6AF8D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53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45446-0DDB-49D4-8D82-0643A9ED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Input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17D84-361D-4E00-8842-32F3BB23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171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0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"The sushi was fresh and delicious, but the waiter was rude and the restaurant was too noisy."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EDE59-D44F-4434-8A42-621B1D1F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9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159E3-F3B0-4B9C-9ADC-13ED7F60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Output 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E9716-3507-4B58-A526-4634A327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C7A57-0761-4BD2-A731-FED984FA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384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EBBA5-A686-4EF8-8938-0D525F86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098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>
              <a:alpha val="13333"/>
            </a:srgbClr>
          </a:solidFill>
          <a:ln xmlns:a="http://schemas.openxmlformats.org/drawingml/2006/main" w="9525">
            <a:solidFill>
              <a:srgbClr val="3E8C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27C4A7-9DAE-4DD4-9AA8-0008C99D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670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E8C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E8C55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9B04D-B9BD-4898-8742-FC39A311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0040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4C0C00-3AB6-4CB5-8D11-7A61297E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432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D64254-3AC1-4851-9B5F-D7764FB3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47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>
              <a:alpha val="13333"/>
            </a:srgbClr>
          </a:solidFill>
          <a:ln xmlns:a="http://schemas.openxmlformats.org/drawingml/2006/main" w="9525">
            <a:solidFill>
              <a:srgbClr val="B23B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40FEC4-6FD4-445F-ACB2-2D467657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718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23B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23B3B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928C41-6165-4383-A9F7-EC1859D2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052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643182-CF73-43C3-AD71-093482C8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481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DE2B7B-1E26-4D9E-9F20-187CADE1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195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>
              <a:alpha val="13333"/>
            </a:srgbClr>
          </a:solidFill>
          <a:ln xmlns:a="http://schemas.openxmlformats.org/drawingml/2006/main" w="9525">
            <a:solidFill>
              <a:srgbClr val="6E778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B5D39D-ED29-4B89-9285-832AC9F0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767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DA6F63-D3C8-4967-92CA-6115F4F7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04FFA5-A260-4436-9BB5-E1BBEC9F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529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Eating Environment / Ambiance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A8810E-3214-4F47-95AC-F8A82DC4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7244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>
              <a:alpha val="13333"/>
            </a:srgbClr>
          </a:solidFill>
          <a:ln xmlns:a="http://schemas.openxmlformats.org/drawingml/2006/main" w="9525">
            <a:solidFill>
              <a:srgbClr val="B23B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323290-B1E4-4877-BD95-3E0FA0E7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815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23B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23B3B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7E11A6-FFD4-431B-9CF2-163A461D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62600"/>
            <a:ext cx="385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Project rule: always return all four aspects, using Unknown when an aspect is absent or unclear.</a:t>
            </a:r>
          </a:p>
        </p:txBody>
      </p:sp>
    </p:spTree>
    <p:extLst>
      <p:ext uri="{BB962C8B-B14F-4D97-AF65-F5344CB8AC3E}">
        <p14:creationId xmlns:p14="http://schemas.microsoft.com/office/powerpoint/2010/main" val="10596233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03B9B8-09CF-411E-99BC-3F621A00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791D9-3DBF-4B88-99B0-D44A4AA5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BA49E-F624-4D59-A77D-E6CF1784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DD4CA-1BA7-4037-A5C8-71F6E7BC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7665055-F1D8-4098-B86A-4EC572CF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6BF4205-734A-466B-9ADA-1D95032F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74351-502C-45C7-A1B1-1946507A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processed dataset is useful, but heavily Unknown-dominant.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6BAB6-1B4A-46CB-A36B-116E3F5B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SemEval-2014 Task 4 Restaurant Review data, mapped into the project aspect schema.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2E171-C0F2-40A2-B056-DFF66D21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rPr>
              <a:t>3,041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D4A7D-2421-4DC5-B3A1-89BE9490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wide review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7EB2C-BA34-449D-9417-420DFD94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669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rPr>
              <a:t>12,164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F1B2F-2E54-493F-A35E-416F4C3B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long review-aspect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D5D5D-1C57-4F65-9496-6B1FC92D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669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24B3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24B35"/>
                </a:solidFill>
                <a:latin typeface="Aptos Display"/>
                <a:ea typeface="Aptos Display"/>
                <a:cs typeface="Aptos Display"/>
              </a:rPr>
              <a:t>81.3%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50758-D18B-4065-B064-90D3F637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860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 labels in long format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76B48-D1B8-4239-ACA9-FF9E7415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32FB71-9DAB-4017-8394-E1C26A67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60BA1A-9366-4D63-96EE-3B04FD18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480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679CA-0B8C-459F-93FF-0C566633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194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20FF7-0534-4F7D-9463-0D01FCAD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480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ED8B18-8930-45CB-A869-F3264370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194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1F3FE-59AD-40A2-A25B-A3582B6D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7483F-F42A-45AF-9FE9-F5EC70CD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733800"/>
            <a:ext cx="15750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EC96A3-2D5C-4920-8851-CF7AD94F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355" y="3733800"/>
            <a:ext cx="3796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3B97DF-049F-4D52-81B7-CCD48F38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039" y="3733800"/>
            <a:ext cx="356976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3A7F21-9D7D-40A0-9382-9C90BD72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623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3041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EE211-6CA8-4163-86D8-19445CFB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2F6CE1-D79C-43F1-A1C1-A5DD11EB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86250"/>
            <a:ext cx="58860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BC6136-468D-43CF-AC96-0602B22A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902" y="4286250"/>
            <a:ext cx="39603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6ECA99-35C8-47DC-A59C-5E65E7F8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936" y="4286250"/>
            <a:ext cx="453986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C6496E-9396-42BA-9424-5CA2E5BD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148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3041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9DA835-0C0D-4E11-8D45-2E0EBBC5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EAA5E1-F163-4EE3-B690-A1D262B0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38700"/>
            <a:ext cx="3251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36C6DD-F8F1-4298-A4AE-4A5521F4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484" y="4838700"/>
            <a:ext cx="20891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8512A0-8113-4D67-B561-33F67590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402" y="4838700"/>
            <a:ext cx="499039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06C2B4-E003-47E1-8506-D58C75A2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672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3041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02BF5F-9596-46FF-B305-AC0BB8F0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Ambiance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625588-9CE8-408E-A72E-7CA82E49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91150"/>
            <a:ext cx="47778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870DA8-24C4-49DF-9559-23C4333D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085" y="5391150"/>
            <a:ext cx="17803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C31B80-022C-41A5-A3FE-52BD9CD6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119" y="5391150"/>
            <a:ext cx="486868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1E3E17-08D8-4BAB-99B7-47B2107A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97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3041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FA5790-B09B-4521-ADB2-6B34B5DA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1E5949-9F71-436D-B987-8BCFEAEB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671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Why macro F1 matters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6176A2-4B6C-4F46-A97C-0A999550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05250"/>
            <a:ext cx="1771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Accuracy can look high when the model predicts Unknown well. Macro F1 gives Positive, Negative, and Unknown equal weight.</a:t>
            </a:r>
          </a:p>
        </p:txBody>
      </p:sp>
    </p:spTree>
    <p:extLst>
      <p:ext uri="{BB962C8B-B14F-4D97-AF65-F5344CB8AC3E}">
        <p14:creationId xmlns:p14="http://schemas.microsoft.com/office/powerpoint/2010/main" val="13853930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8524F5-7056-4869-89E0-858466EB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46828-DC6C-4087-9439-79234C71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E6898-2650-411E-AA63-D64D7B9C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A16A3-9F24-4D44-A5EC-5DFCD5F1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4E0E6B7-E896-4C7A-B48F-302FDCBC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561A7BF-A771-4626-9F57-B48A8FCE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2FDF9-2359-4B32-A21E-3D4CCC36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SemEval annotations are reshaped into app-ready and model-ready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AC3C1-C39D-4BEF-A873-BADE74D6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Two output files support different parts of the system.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826F6-DBB4-4E93-9741-7E3A865C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170BE-5BCD-4A34-B227-9463924F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Raw XML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59B80-6BAE-49C0-BC79-758FC380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 review text with aspect-category annotations.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2BC6D-1F5F-412F-8D2E-6D0CD0D5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966BE-BA2C-4336-BD26-3F55D191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BD233-D7B2-410B-A1E3-4151B6A1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9761C-9003-4017-ACC2-B3C341BF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BF6C8-A17A-4CD0-9565-259953CD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Clean text, standardize IDs, validate non-empty reviews.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F38B24-D874-404B-A73A-8656CA69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14DAA-1765-49B9-A6A6-51ADF637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B1B72-7048-4B17-8250-9B413B90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E0900-89A1-4CE1-A257-BFFFA141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Map aspects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6E93A-9BC4-48CB-99B1-9FA371E9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Collapse source categories into Food, Service, Price, Ambiance.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D207DA-D7C1-43AF-BEEA-E340981A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6EA93-4A91-455A-B0D8-57C001D2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7F0B00-4032-4155-B4F7-ED507229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2B6066-5499-4234-8801-C9D87765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Fill Unknown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AC2BC9-6B58-4EFF-BE98-9FA83132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Every review receives all four aspect labels.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B205D-274F-484A-B552-4DBD9581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842B77-6034-4D82-AADA-6946B2D3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629392-E0A3-4E9F-90DD-90AA64D4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E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7E974C-9169-4781-9FD8-76F86A98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2EA"/>
                </a:solidFill>
                <a:latin typeface="Aptos"/>
                <a:ea typeface="Aptos"/>
                <a:cs typeface="Aptos"/>
              </a:rPr>
              <a:t>Export CSVs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11D3D0-BEC1-4DB8-BE40-3D34E092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Wide table for API output; long table for aspect-pair training.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B9E76E-EAF9-47FE-A5FA-3789CFD8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49E398-2B9B-454F-BFA9-69F25666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283B81-BE07-4574-8AE5-ABB91E0D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815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Wide format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111478-C1FC-432F-8F62-06B1AE2B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48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restaurant_absa_4_aspects.csv: id, review, and four aspect columns.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1A41BE-C918-4B04-B3C5-DB02E431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F1EAF7-E084-4EA5-87C3-7E18DEA4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407AA2-8F9A-47B0-A196-C912E2CB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815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Long format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264A9E-ADE7-4EFE-B755-7ED446A7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48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restaurant_absa_aspect_rows.csv: one row for each review-aspect pair.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508E3D-DFDD-4EBE-A73D-3B7B81B9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F6BC4A-91E9-47D5-AEB8-A4E7BA52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8D4EE1-BC36-4BE9-97CD-C19784B5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815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73F6C1-AE83-4D4A-A365-70CA980C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48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Checks expected columns, valid labels, and non-empty review text before training.</a:t>
            </a:r>
          </a:p>
        </p:txBody>
      </p:sp>
    </p:spTree>
    <p:extLst>
      <p:ext uri="{BB962C8B-B14F-4D97-AF65-F5344CB8AC3E}">
        <p14:creationId xmlns:p14="http://schemas.microsoft.com/office/powerpoint/2010/main" val="6496083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A7BD58-2831-4445-B5D5-5C52D010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1F652-BE9E-44AE-B591-6C94CF70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0476F-5C96-403D-9B09-5DD2B733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20099-B3A3-42F5-8161-73014A46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05AA58F-B6CC-4B76-9095-B7666E79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F80234-4F7F-4A73-9E91-E5573841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BB5DF-9942-45E2-B570-74E5885A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same review can flow through three model backends.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6CAF0-E036-4A7B-8ABF-5F379EB1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The backend exposes /health and /analyze for the Flutter application.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741BC-A507-44AD-8CEF-F0C871ED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27318-5F41-4025-9F40-B04402EF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Flutter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6CA0B-1A3B-47A8-BB85-A19F3BC0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User enters review and selects method.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FF1F2-446C-49F8-AA32-4F964839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76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76460-803E-41B4-A33C-D9AEB228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A6E62-5E3B-42C1-BC98-66A5F338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2EA"/>
                </a:solidFill>
                <a:latin typeface="Aptos"/>
                <a:ea typeface="Aptos"/>
                <a:cs typeface="Aptos"/>
              </a:rPr>
              <a:t>Python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46816-BB0F-404C-B8C7-A3F45C68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ThreadingHTTPServer handles JSON and CORS.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4FD18-9C68-4752-8E6C-DACA235B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6DD0D-7BD3-4455-BA7A-338E7F1B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78C0E-D504-4806-97CE-65FD999B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Model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21BB9-AF9F-47AE-B765-27AE5BBF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rule_based, traditional_ml, or bert.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1423E1-04A3-4544-BAD0-9CA8BAC8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76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8CF473-1214-46EE-906A-8E4C938F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3ACE17-DA14-4649-8886-8B3D27BC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Structured 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D3795-7A89-49C0-A473-10AD8223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review, method, and four aspect results.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03f1dd2c24c78"/>
          <a:stretch xmlns:a="http://schemas.openxmlformats.org/drawingml/2006/main"/>
        </p:blipFill>
        <p:spPr>
          <a:xfrm xmlns:a="http://schemas.openxmlformats.org/drawingml/2006/main">
            <a:off x="1137657" y="3143250"/>
            <a:ext cx="5039885" cy="31432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AA07DE-F90E-4F0F-8D19-0217EDFC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38550"/>
            <a:ext cx="2857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3DB583-C273-41C9-B556-957F7108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862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Demo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797888-72C5-4540-AA69-134FB8BD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86250"/>
            <a:ext cx="2152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The app shows the expected four-row aspect output and lets the user switch among rule-based, traditional ML, and deep learning methods.</a:t>
            </a:r>
          </a:p>
        </p:txBody>
      </p:sp>
    </p:spTree>
    <p:extLst>
      <p:ext uri="{BB962C8B-B14F-4D97-AF65-F5344CB8AC3E}">
        <p14:creationId xmlns:p14="http://schemas.microsoft.com/office/powerpoint/2010/main" val="106976731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EAC1D0-E0FD-4893-BA92-DD5B447E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83A96-CE57-4DC7-B2C8-40550BB5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1C9AB-8CDE-475D-89C6-516BEE25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D3E92-72C7-43DF-8BB9-6F208420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178388B-90E3-4D96-AD13-970A976B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8607A3-5CAB-48C4-9DBD-281F15C4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MODEL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55B71-7012-464D-B329-9899A57A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Each model answers the same task with a different level of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5BD5C-FCF8-4DBA-9996-D2D578B8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The comparison is fair because all methods produce the same label space.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F9DB8-35B8-4241-8498-E404BF0D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857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E2A14-B0A7-49A6-A12C-4E95F349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66F13-AD96-4FF8-8D05-2CB5750C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Rule-based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14E82-8703-4379-A838-2FD1860F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spaCy dependency parsing, aspect keywords, sentiment lexicons, negation and intensifier rules.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07C94-DB51-41F6-8143-275FF8CC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>
              <a:alpha val="13333"/>
            </a:srgbClr>
          </a:solidFill>
          <a:ln xmlns:a="http://schemas.openxmlformats.org/drawingml/2006/main" w="9525">
            <a:solidFill>
              <a:srgbClr val="8A9A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ECA5F-5D83-4095-8E89-949D6238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8A9A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9A5B"/>
                </a:solidFill>
                <a:latin typeface="Aptos"/>
                <a:ea typeface="Aptos"/>
                <a:cs typeface="Aptos"/>
              </a:rPr>
              <a:t>Most explainable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FF061-4329-4C9B-AD20-A11E58BA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2857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CC58C-0D55-4168-97E9-69BE5BBB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AA9EF-0757-4E3B-A316-7B7116AD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Traditional 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1D086-5411-4B36-9223-86D9560A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TF-IDF unigrams/bigrams plus one balanced Logistic Regression classifier per aspect.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66631-8DCE-4195-A5AF-DB4D7E8A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386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>
              <a:alpha val="13333"/>
            </a:srgbClr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A2E75-BDD4-4298-A7C9-30DE1FCF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Fast learned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9892F1-5E58-434D-B2BF-D51673C4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2857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80C66E-5C72-46AB-8E2A-84DFF6D2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4B6E8F-8C53-4C58-95EC-D691F784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DeBERTa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75D618-FBCE-424A-8BA9-F1BBA489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microsoft/deberta-v3-base receives review + aspect pairs and predicts one of three labels.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19D159-ED52-4F1C-B326-39182F6E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>
              <a:alpha val="13333"/>
            </a:srgbClr>
          </a:solidFill>
          <a:ln xmlns:a="http://schemas.openxmlformats.org/drawingml/2006/main" w="9525">
            <a:solidFill>
              <a:srgbClr val="D24B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D044FB-9C56-4F16-927C-4F535B16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Best contextual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88183-A287-4ABC-803D-4E2C3B4E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197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7781"/>
                </a:solidFill>
                <a:latin typeface="Aptos"/>
                <a:ea typeface="Aptos"/>
                <a:cs typeface="Aptos"/>
              </a:rPr>
              <a:t>Tradeoff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99AA1B-7254-4DA1-A7C3-CABCB386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05425"/>
            <a:ext cx="771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D62713-6A56-4E79-929F-DA53B19D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67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AA39C5-50F4-4A9D-8EEE-30C01244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67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0A0E7C-5481-4389-BB1A-1AC6CEA3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67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5EA826-83AF-411E-8403-F2D33E98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626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Transparent rules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D4E032-4FC3-4038-8A84-8D122C7A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626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Learned lexical patterns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AA816D-5E47-4D5E-A0BD-D6301F5D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626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Contextual transformer</a:t>
            </a:r>
          </a:p>
        </p:txBody>
      </p:sp>
    </p:spTree>
    <p:extLst>
      <p:ext uri="{BB962C8B-B14F-4D97-AF65-F5344CB8AC3E}">
        <p14:creationId xmlns:p14="http://schemas.microsoft.com/office/powerpoint/2010/main" val="14390749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2A5461-2A52-47A1-8535-7703598A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108B3-B348-4895-8B64-45A46326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99271-DB59-473B-97EE-87ED56DE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71F55-6BA8-46DC-8153-3EB3A2EE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7B90080-5103-4115-BB84-733E8C65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CFAC0A-0A6B-4AF4-BEA9-A10F074D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EVALUATION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2A8D7-74D6-402A-9490-F0704E83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Macro F1 is the main score because the dataset is imbalanced.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FF498-2800-4BD5-A3EC-9E47E982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Final three-model comparison uses the report's fresh 70/30 evaluation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661B2-CB98-4F83-8FB8-070C5935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3A36E-A02B-4A2E-9B94-C59BE49B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1CC2C-2604-49B1-99AE-DB3ECCAF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Overall correct predictions; useful but can hide majority-class bias.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EB553-2EF0-4755-8DA5-7D69BF9C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5265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79083-8A4C-4C38-A77B-F3F0AEDF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43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8F87B-2655-4657-BE21-5B433FF8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Computes F1 per label, then averages equally across Positive, Negative, Unknown.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99538-CDD2-4F54-A773-233E5854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3C920-0877-4CA6-903F-E0C6BBCE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1C388-2079-4D3A-87D6-8C31A96B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F1 weighted by support; reflects the class distribution.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3ADFD-33DC-41C2-B380-BCE023ED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8140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78ECD-8637-4F0F-A64C-8F253759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71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Mentioned-aspect eval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680B3-635F-4E52-835C-7C1731BA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9575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Filters to Positive and Negative examples to test actual sentiment detection.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E9B5B-7939-4301-A8D5-4C6BD1A6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95900"/>
            <a:ext cx="647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26A55-579C-44BF-A52B-92B6507A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48300"/>
            <a:ext cx="586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2EA"/>
                </a:solidFill>
                <a:latin typeface="Aptos"/>
                <a:ea typeface="Aptos"/>
                <a:cs typeface="Aptos"/>
              </a:rPr>
              <a:t>Evaluation labels: Positive, Negative, Unknown | Aspects: Food, Service, Price, Ambiance</a:t>
            </a:r>
          </a:p>
        </p:txBody>
      </p:sp>
    </p:spTree>
    <p:extLst>
      <p:ext uri="{BB962C8B-B14F-4D97-AF65-F5344CB8AC3E}">
        <p14:creationId xmlns:p14="http://schemas.microsoft.com/office/powerpoint/2010/main" val="10223466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45C6D9-457D-4B0F-9624-5ED595E6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2737E-7383-401F-9E5F-D3CD54AF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B20EF-8A90-4141-AC72-65AF3B7E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B3CA4-3AF2-4113-A5DD-BD0FB939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5C5428E-B298-4170-AEF2-80B300EF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22453BE-52FC-435B-A162-8250257E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OVERALL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00209-42C9-401F-A1A7-D93E7A34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DeBERTa wins the final comparison by the metric that matters most.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AF337-9954-49BC-A8EE-8F8646F5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70/30 fresh evaluation from the final report.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4D052-A74B-4203-8C5D-0A2FC830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CF962-55C1-48DF-820D-04F51153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336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31A75-F002-4CC0-AA1E-0CF66365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33600"/>
            <a:ext cx="166229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413D2-6A64-4267-9724-0BF33616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0.853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A6471-FDD6-4989-947C-FE32FFAC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1336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28D6B-3332-4A7C-B499-5576FD05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133600"/>
            <a:ext cx="108623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7CDCB-38B3-45F9-A305-33DA96BB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4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0.557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B2AC7-3C29-4FE3-927F-B8D0AE68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21336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5ED18-84DE-4467-8C62-BAE4FD43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2133600"/>
            <a:ext cx="16045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67CA3-8D1C-4602-BC5A-1D63D47B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926DA-61AB-45EE-B88A-C2843697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43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F7CA2-7120-41D2-9E64-E917E02F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9245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D38E05-B998-4EBB-A286-6DCA5F16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92450"/>
            <a:ext cx="170986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939BC0-7AC1-4DD7-8831-A0E18035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30734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0.877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600B8A-A66A-46C7-BCAD-39DEDC72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09245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8FA45-5AB5-49CE-B288-12782D55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092450"/>
            <a:ext cx="119676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BA4776-556D-4C76-928D-90806E96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450" y="30734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86E976-DD37-4678-A192-8A35A863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309245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F81707-2FDB-4FE8-9F29-D2183ABB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3092450"/>
            <a:ext cx="167399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FE848B-D37A-4193-B89D-4D226D0F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734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0.859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4D2962-46B3-4BC4-BC74-266251F6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32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7C45FA-D0B4-4F09-A752-3CB184D4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513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1583A5-A830-4182-AD5F-194622B7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51300"/>
            <a:ext cx="185178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D12C95-3946-4CA4-A55C-B1D13976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40322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0E3003-B49A-4B1B-9657-D643D45D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40513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882656-5296-46F7-A330-27CD16AB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4051300"/>
            <a:ext cx="172818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563585-5FE1-41E3-A3CD-B214D34B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450" y="40322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0.886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125CEA-A051-476D-BAA4-0A0C5222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40513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0D6DFC-108F-4B9A-9DA4-A2C6F9E3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4051300"/>
            <a:ext cx="185314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E3B456-060D-49AE-9FA2-B095ABDF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322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0.951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C84972-C3FB-483E-BE30-F8C8630E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625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7C0CD8-8C09-421C-9116-841DEBBF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339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8A5F55-4C74-4012-9868-28C5CDFC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625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C37194-667A-4B7D-8D8F-6D6E9631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339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7F5677-9D9D-430D-9BD0-46A46319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625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508B6D-050B-4731-8A92-C9F393CE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339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D8F67A-B44E-4D38-B466-5755A484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47900"/>
            <a:ext cx="17145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40020F-C213-4000-B479-F4E1FD20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rPr>
              <a:t>+0.2726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0ABCEE-D305-4F60-8418-10949EB8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0515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2EA"/>
                </a:solidFill>
                <a:latin typeface="Aptos"/>
                <a:ea typeface="Aptos"/>
                <a:cs typeface="Aptos"/>
              </a:rPr>
              <a:t>macro F1 lead over Traditional ML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80C45D-9F2D-44C1-B31D-EEA2B005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4810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Rule-based: 0.5572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Traditional ML: 0.6139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DeBERTa: 0.8865</a:t>
            </a:r>
          </a:p>
        </p:txBody>
      </p:sp>
    </p:spTree>
    <p:extLst>
      <p:ext uri="{BB962C8B-B14F-4D97-AF65-F5344CB8AC3E}">
        <p14:creationId xmlns:p14="http://schemas.microsoft.com/office/powerpoint/2010/main" val="13148181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95188C-21ED-46EC-A5B4-EE9FC643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C21B3-60EE-4104-B8AA-664ABA4E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FCFA2-57CE-469A-8872-52780E65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8C2A6-FE07-417B-AB2F-35711758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F0C52A5-D522-4822-9F94-43AD1403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3921483-1A92-433D-8A7C-2AB15EDD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ASPECT PERFORMANCE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10BFC-A838-4D0B-B2F9-4FDFABD0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transformer stays strong across all four restaurant aspects.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13E05-EAB6-48EF-8067-12255607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Macro F1 by aspect highlights whether a method works beyond one easy category.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76ED4-A4DF-42B7-9AB0-D5D83F7D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4C2BF-A74C-4276-AFCF-DE7034A7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1455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ADFDE-3299-491F-9648-D1B70CEE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14550"/>
            <a:ext cx="1110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72A23-A9D3-45D0-AE0B-2B0AED49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955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2E6C5-7FE0-4285-A3D2-068381D7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1455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F245C-6354-4563-9F8F-6D996F19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14550"/>
            <a:ext cx="143332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4A5ED-EB8F-4ADB-8690-C1C9EEED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0.660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EE976-F614-432F-B7B8-AC1F34BC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1455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4BD64-BB28-4855-80B0-810F17B5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14550"/>
            <a:ext cx="194801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80983-781A-4C7B-BFD9-75F30B1A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0.897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EDF0C5-C941-4904-8624-435F722C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61546-D047-43A8-B5E7-A3EE47BB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2417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B551CB-DFD9-4D76-98B5-FBA5CE3F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24175"/>
            <a:ext cx="125871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D9E75-9456-4AFD-ACB6-FF6B1D1C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051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0.580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CE5D51-58A8-4FA9-9CFB-9E5F9414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AB83F6-D389-493E-9375-0D130F88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127326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595D9-A3DF-486C-B7B4-9A213433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051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0.586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638B7D-5A8E-4231-A157-621A5F6F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2417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10C5BC-8303-4DB7-8AA5-76C0EF23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24175"/>
            <a:ext cx="188764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06C502-12CC-433A-9FF2-1D92510A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051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0.869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51EC82-A1CE-4D4A-A2DA-DAF53B28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06D8EF-E4C7-4F25-86B3-7E97FE23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3380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02376E-5CF5-41A3-8D78-47506176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33800"/>
            <a:ext cx="145351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E3AF0A-0310-4443-BABD-14DB1957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14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0.669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F5323C-4F23-44BF-86C6-0289ECD7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6C054C-9109-414A-B0B7-65920C29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11907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333201-F38E-4CB0-B621-786E92DD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0.548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E687C7-1D04-4EA8-8A56-3EBB22EA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DF190F-1286-40AC-82B7-186CADB6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193389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6A47AA-3348-4E00-A567-154343A1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0.890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A453E1-4D79-445C-9BDE-1196FC50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Ambiance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83948B-EB2C-44FA-BC66-697518C2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4342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E439C4-3685-4567-8979-20287976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43425"/>
            <a:ext cx="107542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B753BA-1EE3-482A-8B6B-2FB8C459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243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0.495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6319F0-46BB-4213-8793-3296545B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4342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08BAAE-8E02-4E18-BFF8-EA973A2A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43425"/>
            <a:ext cx="115664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EB008F-A942-454D-BB19-6C9FF33A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243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0.533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3B53AA-EFF2-4C17-AC6E-B23B3E3D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4342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6C4157-B527-42D9-AADF-77C80680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43425"/>
            <a:ext cx="185332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667CD1-DAD1-49C6-BDD3-E2FC5B53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243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0.853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0646B2-C593-4ABD-AEED-699E844C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05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A00109-0551-4C4B-A776-55C1D1CE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768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863D1D-D54A-49EB-BA9F-1B5D3774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05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2A9644-F7C3-4102-8329-ECE65801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768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DD7712-CD58-4945-BAD4-AA7F3A8B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05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E70D5BB-54BA-4B99-990F-F25DA478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768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B67DDF-5EA1-4CDD-AD76-803CE784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F685CD-D8B4-4325-8D43-D9C6489D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BB9C24B-56AE-4E5B-8EEC-C05F4C11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03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F8B6BC-0DC8-4B1A-BB11-76A51D30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Best overall aspect: DeBERTa reaches 0.8970 macro F1.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FB817C-A27A-42D2-BB87-09464A6E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861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5D617A-5C83-407E-BE92-475FB614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861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D5203B-2D56-413C-8886-60FF8745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195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Ambiance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019323-E3B3-456B-9948-F60C0F99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862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Harder for simpler models because terms are diverse and context-dependent.</a:t>
            </a:r>
          </a:p>
        </p:txBody>
      </p:sp>
    </p:spTree>
    <p:extLst>
      <p:ext uri="{BB962C8B-B14F-4D97-AF65-F5344CB8AC3E}">
        <p14:creationId xmlns:p14="http://schemas.microsoft.com/office/powerpoint/2010/main" val="16803352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C5DDF8-8E97-4713-A0FE-6BAAAFA8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03DE7-F225-4456-B495-932B41FD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45A3D-4372-4398-B3A2-A60DE10C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65842-4C1C-4A5E-8A78-93D1400D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97F238F-1691-4819-B0C1-53A567BA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8AAA4ED-C563-4A87-9830-75B64279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PER-LABEL F1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B8841-22DD-4349-98FB-AA307882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simple models score well on Unknown but miss real sentiment.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7CE26-3AB1-4C80-9027-1F9A3530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Per-label F1 exposes the imbalance problem better than accuracy.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F3349-E9B5-4BC1-B8E3-D1B73B34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D9760-15FE-4561-BF5F-5E4DCD5C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336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32633-2FAB-4386-B229-3D426129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33600"/>
            <a:ext cx="87885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2C502-A8A5-4FD8-9502-C3870B57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24A4F-453F-4C6F-8BA1-F48B78F7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1336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1EF80-3892-4A4A-9562-689340D4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133600"/>
            <a:ext cx="123152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C4F68-0BAE-472D-9285-A21A8088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7ACF3-8D6A-443F-A9AF-58D2145C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21336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476FA-B04D-45EC-BBC6-0760FB8A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2133600"/>
            <a:ext cx="173174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AEED9-13F9-4549-B489-E65B8DCF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FFEAB-BDE7-40D1-8DE9-E7552D69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D861B9-E8CB-4081-B77F-71F9F252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0515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A53929-C754-418A-AF0B-27C94FBD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05150"/>
            <a:ext cx="64152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89E2CC-0A0B-4AC9-8C34-C60681BA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3086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0.319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E2A54E-9A96-40EE-9260-B28F6972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0515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641C7A-D3A5-4755-B1E2-4DBC3751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05150"/>
            <a:ext cx="59482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007A2-B143-44D5-82F8-442FCDB3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3086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0.295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BC08FD-1A0C-4D0F-9699-BB874DED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310515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FD294-E100-441E-95A3-8030BBB6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3105150"/>
            <a:ext cx="166330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0EF6E8-67B0-417A-913A-45695FED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86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23F99B-6D21-42D6-99CF-3654C665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1A2C7D-6900-4D0C-9645-B5D45219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EAB28E-1DFD-4DBC-9A76-B259457B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184426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94C921-9BAE-4166-998A-BE2350BD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4057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4DD331-60FA-4B8E-A189-6B665780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0767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C8A293-51E7-44FD-922A-652FADD8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076700"/>
            <a:ext cx="188110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D2B9E7-6B46-4201-BA38-43C49C08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4057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0.934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7DC28B-8A90-46C6-BEDE-717065FD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40767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BE36FD-322D-4C23-820C-8EEF5B4D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4076700"/>
            <a:ext cx="195819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D1D53D-1503-4E48-8E89-30770ECB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0.973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95BA45-56E5-4986-AD82-67777638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006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C41BB8-CD36-4DE7-8752-208889C6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720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CAF67A-FE4A-4DF9-B53C-0A5AA28D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006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E3C1C3-0D0C-4F45-8F84-963F4BA7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720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91217F-2BAB-41F8-A8E6-D4B840C6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006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A0CE4B-BB02-40FF-9F92-E6B5C929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720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793508-0CD2-4D3C-8E6D-2E9627CD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1809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326367-9945-4AFB-A03D-9134800E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What changes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50891F-B026-4347-AB99-40169D81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95600"/>
            <a:ext cx="12573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 lifts Negative F1 from 0.2955-0.3187 to 0.8263, which is the clearest sign that context helps.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EBD9DB-2BF0-4195-9091-B3FD7E46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386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 is high for every model, so it cannot be the only evidence.</a:t>
            </a:r>
          </a:p>
        </p:txBody>
      </p:sp>
    </p:spTree>
    <p:extLst>
      <p:ext uri="{BB962C8B-B14F-4D97-AF65-F5344CB8AC3E}">
        <p14:creationId xmlns:p14="http://schemas.microsoft.com/office/powerpoint/2010/main" val="179366050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2A3183-69BE-4687-8C98-3F2A9CAB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A04FE-9310-4D3C-B43A-6A190D7F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8DBE4-7222-413F-8F55-018585FA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621D7-CDD3-4EED-822B-7BD83FDF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958765D-6AA0-43FF-82B0-4BFA5E71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A00E028-1A34-4A41-9C0F-9975CF18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KNOWN-ASPECT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F411B-CD0D-495C-B6AC-07BF28ED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When Unknown is removed, DeBERTa still wins decisively.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1673E-9013-418A-A93A-F660E5F1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Mentioned-aspect evaluation uses the 659 Positive/Negative examples.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E5622-F5AA-4097-88F8-4B30510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Mentioned-aspect macro 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A269D-1033-4EA0-8928-284D9765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C619D-DD12-4BDE-B7E5-A5C7DF76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336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B25AD-15A1-4E4A-9015-59B0A92D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33650"/>
            <a:ext cx="145684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3AFD8-5E05-4C96-A5DF-951BEF10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146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E69FC-815D-486F-A732-4E541112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81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Precision 0.9931 | Recall 0.2553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5EFCB-18F6-4DF6-A427-3AC6ECF4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6FF77-FD7E-421E-8A48-6BF723DD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1DB15-7B89-48F4-B19B-CD719E91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175111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44C23-6853-430F-9D59-BC95CFB0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8135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0.4838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2A5BB-6580-4A2E-89CA-A41C440E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48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Precision 0.8374 | Recall 0.3570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2361D-8EA1-4F0A-AFF9-EBC93F80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AAD1D7-3B00-43C5-9A84-341AFACC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671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EC6E5-435F-44DD-8F86-BC4CEF50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67150"/>
            <a:ext cx="328107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5CF07-E768-4B92-B7E6-A5A699A1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481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0.9065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4F40AE-7010-4251-8F54-825F6E8B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14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Precision 0.9694 | Recall 0.8560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B2EDAC-0745-4830-AF5D-8B7ECF6A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 confusion matrix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DD3C6B-7D39-4AEE-82C2-B548ED57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B4CD17-4F9A-4286-8021-A30985DA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003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6A22F1-D57E-419B-965D-4C478154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81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2051CF-6E53-4666-B9C5-721E1010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671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913F56-4DF9-4425-9C88-B7136443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81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011D98-62DF-43DE-9A6A-BB81657C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8B1CCE-6CD0-4E84-BEF9-4A6228E6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4C2432-2FC7-4739-ADE6-A72D77F0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670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428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C0F53D-A44A-40DC-A558-A172E047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230056-B8D6-4CF3-AFB1-1DFCE56E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670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FF095A-5B7B-48B0-AFEB-6761CD8B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24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032117-2E3A-4989-88FA-03AF8846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670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20C687-F727-4CCF-9F95-9CD3A0AA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90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F027B1-A09C-452F-BD60-2DBE1E63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337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11C2DD-AD2D-450A-9899-F900D0BD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90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6F2022-1CA2-43A7-AE2D-26144EFA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337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C7760B-9217-46B1-9137-5B8A9C6B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90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F665B4-12CC-49EA-AAA9-C5B33E11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5337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2B80DE-BEE9-4C0A-9DC3-48F1E334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ABD8C8-7B8F-41A8-9445-5D07F1F0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005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92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86EF7C-F034-41A5-9BBC-AD4CE87B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576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70086A-16D9-49AE-98EA-3B6001BC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005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D3B30E-C691-44F3-B7A3-DFD38D12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0576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A487C3-7C9B-4142-8FE6-A3A1910D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2005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2884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9A39D1-06E9-4140-9306-9FDD95CD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Rows are true labels; columns are predictions. Most errors are between known sentiment and Unknown.</a:t>
            </a:r>
          </a:p>
        </p:txBody>
      </p:sp>
    </p:spTree>
    <p:extLst>
      <p:ext uri="{BB962C8B-B14F-4D97-AF65-F5344CB8AC3E}">
        <p14:creationId xmlns:p14="http://schemas.microsoft.com/office/powerpoint/2010/main" val="141524183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1A2BAE-9941-42EC-AE58-4930612A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94AF5-09A3-42E1-BBA7-1FAF9821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0B23C-D9B7-49A7-BED8-84167486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F1C8A-220F-4DC2-8CF4-2A1AA568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7141A7D-FA51-4CDA-96CC-543250FA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AF1EEA9-70EA-408F-AC26-7B550AB7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575CE-E046-4224-ABFC-2139F385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project satisfies the dataset, processing, and evaluation requirements.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E5BFC-CD2C-4A16-AF9B-BE6A2577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The strongest method is selected from measured evidence, not only intuition.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6CA22-6F5F-4DD7-A9CF-5B649474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857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E50A8-8A68-4C17-B4FA-DE4C5546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26190-F094-45E0-91FD-B5FD0168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Achieved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5BD5F-8968-4E1B-B607-ECBC102A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83A87-9785-448B-8F41-85B7AADD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Public SemEval restaurant dataset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C8B2B-9C62-412C-B74D-5332CE61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E8296-B6BD-46CC-9674-281767EB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861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Four fixed aspects and three labels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97326-935D-4C88-AEE5-68F48A31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1720BE-2A89-4307-9472-18C9B618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Working Flutter + Python API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FA3E2-25D1-4873-9114-CAA83B50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2857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7D757-687E-4FC8-8C45-63E2211A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7CCE36-71BF-432F-A77C-5C82A79B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38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6E61F2-D399-4F7C-8198-46B8218D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0CD5FC-3436-4E0F-914A-A4A48797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718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Macro F1 comparison across three methods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552C10-28C4-4AAD-B519-D7C54059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226EA-D70B-4AA5-AC9B-D5D61A20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861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Aspect-level and per-label charts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35CB3-D7FC-43C9-B3F4-1373A3D8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C0E2EA-D597-4FD3-B3DD-6072C766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005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Mentioned-aspect and confusion analysis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400848-22C6-46B5-B173-A9D7CB34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52650"/>
            <a:ext cx="2857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918EBD-B5D7-47C1-9384-53A75891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526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A09BCA-CD1D-40A9-9FBA-2EEF1132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Next work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85E5FE-F09C-4B04-B540-0F1539CF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DE88D2-4E32-4690-92EA-F3171753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More aspect categories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A12458-004E-4AC5-B0B8-DA8468D6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3C9C53-7779-4E9C-8F2E-B48EB853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861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More balanced training 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AEAD5C-D3A0-4495-9D7D-E192D8C1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A87A24-E7B7-427E-BA45-3D00603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Confidence calibration and error review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2257BF-794E-4F38-AA96-18674FE7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8A1F80-C396-4210-A74E-887D395A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34025"/>
            <a:ext cx="6610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2EA"/>
                </a:solidFill>
                <a:latin typeface="Aptos"/>
                <a:ea typeface="Aptos"/>
                <a:cs typeface="Aptos"/>
              </a:rPr>
              <a:t>Selected final model: DeBERTa-v3-base, because it has the highest macro F1 and handles Positive/Negative labels far better.</a:t>
            </a:r>
          </a:p>
        </p:txBody>
      </p:sp>
    </p:spTree>
    <p:extLst>
      <p:ext uri="{BB962C8B-B14F-4D97-AF65-F5344CB8AC3E}">
        <p14:creationId xmlns:p14="http://schemas.microsoft.com/office/powerpoint/2010/main" val="725029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2026-06-14T18:51:02.3300000Z</dcterms:created>
  <dcterms:modified xsi:type="dcterms:W3CDTF">2026-06-14T18:51:02.3300000Z</dcterms:modified>
</coreProperties>
</file>
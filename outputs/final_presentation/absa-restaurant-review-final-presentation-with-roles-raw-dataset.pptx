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2d46fa29d413a" /><Relationship Type="http://schemas.openxmlformats.org/officeDocument/2006/relationships/extended-properties" Target="/docProps/app.xml" Id="Rfcd74c7fcf2a4d0d" /><Relationship Type="http://schemas.openxmlformats.org/officeDocument/2006/relationships/officeDocument" Target="/ppt/presentation.xml" Id="R46ce36581f55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ea335db944bf4"/>
  </p:sldMasterIdLst>
  <p:notesMasterIdLst>
    <p:notesMasterId xmlns:r="http://schemas.openxmlformats.org/officeDocument/2006/relationships" r:id="R2d7962c7423f409e"/>
  </p:notesMasterIdLst>
  <p:sldIdLst>
    <p:sldId xmlns:r="http://schemas.openxmlformats.org/officeDocument/2006/relationships" id="256" r:id="R6572e8482da54257"/>
    <p:sldId xmlns:r="http://schemas.openxmlformats.org/officeDocument/2006/relationships" id="257" r:id="R886a6c0c377742c8"/>
    <p:sldId xmlns:r="http://schemas.openxmlformats.org/officeDocument/2006/relationships" id="258" r:id="Rf656d10415c64cda"/>
    <p:sldId xmlns:r="http://schemas.openxmlformats.org/officeDocument/2006/relationships" id="259" r:id="Rfcb80989fac244df"/>
    <p:sldId xmlns:r="http://schemas.openxmlformats.org/officeDocument/2006/relationships" id="260" r:id="R919639efc3d34531"/>
    <p:sldId xmlns:r="http://schemas.openxmlformats.org/officeDocument/2006/relationships" id="261" r:id="Rb7a76099494b4aef"/>
    <p:sldId xmlns:r="http://schemas.openxmlformats.org/officeDocument/2006/relationships" id="262" r:id="Rf4c6893ab14d4ec9"/>
    <p:sldId xmlns:r="http://schemas.openxmlformats.org/officeDocument/2006/relationships" id="263" r:id="R72c30d5493ee4db8"/>
    <p:sldId xmlns:r="http://schemas.openxmlformats.org/officeDocument/2006/relationships" id="264" r:id="Rd0e5b11b261f4187"/>
    <p:sldId xmlns:r="http://schemas.openxmlformats.org/officeDocument/2006/relationships" id="265" r:id="Rf9397255be294a15"/>
    <p:sldId xmlns:r="http://schemas.openxmlformats.org/officeDocument/2006/relationships" id="266" r:id="Rb42efa6bac214d03"/>
    <p:sldId xmlns:r="http://schemas.openxmlformats.org/officeDocument/2006/relationships" id="267" r:id="R0e2b0265bd4945a1"/>
    <p:sldId xmlns:r="http://schemas.openxmlformats.org/officeDocument/2006/relationships" id="268" r:id="Ra81fe5e4a8f54f5f"/>
    <p:sldId xmlns:r="http://schemas.openxmlformats.org/officeDocument/2006/relationships" id="269" r:id="R2399e28962894e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c5c46a53814101" /><Relationship Type="http://schemas.openxmlformats.org/officeDocument/2006/relationships/slideMaster" Target="/ppt/slideMasters/slideMaster1.xml" Id="R76fea335db944bf4" /><Relationship Type="http://schemas.openxmlformats.org/officeDocument/2006/relationships/notesMaster" Target="/ppt/notesMasters/notesMaster1.xml" Id="R2d7962c7423f409e" /><Relationship Type="http://schemas.openxmlformats.org/officeDocument/2006/relationships/presProps" Target="/ppt/presProps.xml" Id="Rdc05fa67ab194eea" /><Relationship Type="http://schemas.openxmlformats.org/officeDocument/2006/relationships/viewProps" Target="/ppt/viewProps.xml" Id="Rc751587ba18145c4" /><Relationship Type="http://schemas.openxmlformats.org/officeDocument/2006/relationships/tableStyles" Target="/ppt/tableStyles.xml" Id="R29d2199b7a11499a" /><Relationship Type="http://schemas.openxmlformats.org/officeDocument/2006/relationships/slide" Target="/ppt/slides/slide1.xml" Id="R6572e8482da54257" /><Relationship Type="http://schemas.openxmlformats.org/officeDocument/2006/relationships/slide" Target="/ppt/slides/slide2.xml" Id="R886a6c0c377742c8" /><Relationship Type="http://schemas.openxmlformats.org/officeDocument/2006/relationships/slide" Target="/ppt/slides/slide3.xml" Id="Rf656d10415c64cda" /><Relationship Type="http://schemas.openxmlformats.org/officeDocument/2006/relationships/slide" Target="/ppt/slides/slide4.xml" Id="Rfcb80989fac244df" /><Relationship Type="http://schemas.openxmlformats.org/officeDocument/2006/relationships/slide" Target="/ppt/slides/slide5.xml" Id="R919639efc3d34531" /><Relationship Type="http://schemas.openxmlformats.org/officeDocument/2006/relationships/slide" Target="/ppt/slides/slide6.xml" Id="Rb7a76099494b4aef" /><Relationship Type="http://schemas.openxmlformats.org/officeDocument/2006/relationships/slide" Target="/ppt/slides/slide7.xml" Id="Rf4c6893ab14d4ec9" /><Relationship Type="http://schemas.openxmlformats.org/officeDocument/2006/relationships/slide" Target="/ppt/slides/slide8.xml" Id="R72c30d5493ee4db8" /><Relationship Type="http://schemas.openxmlformats.org/officeDocument/2006/relationships/slide" Target="/ppt/slides/slide9.xml" Id="Rd0e5b11b261f4187" /><Relationship Type="http://schemas.openxmlformats.org/officeDocument/2006/relationships/slide" Target="/ppt/slides/slide10.xml" Id="Rf9397255be294a15" /><Relationship Type="http://schemas.openxmlformats.org/officeDocument/2006/relationships/slide" Target="/ppt/slides/slide11.xml" Id="Rb42efa6bac214d03" /><Relationship Type="http://schemas.openxmlformats.org/officeDocument/2006/relationships/slide" Target="/ppt/slides/slide12.xml" Id="R0e2b0265bd4945a1" /><Relationship Type="http://schemas.openxmlformats.org/officeDocument/2006/relationships/slide" Target="/ppt/slides/slide13.xml" Id="Ra81fe5e4a8f54f5f" /><Relationship Type="http://schemas.openxmlformats.org/officeDocument/2006/relationships/slide" Target="/ppt/slides/slide14.xml" Id="R2399e28962894e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7a5848aff40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86afa3d6994311" /><Relationship Type="http://schemas.openxmlformats.org/officeDocument/2006/relationships/notesMaster" Target="/ppt/notesMasters/notesMaster1.xml" Id="R9475f9765a9b42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a42726d49c41a5" /><Relationship Type="http://schemas.openxmlformats.org/officeDocument/2006/relationships/notesMaster" Target="/ppt/notesMasters/notesMaster1.xml" Id="R5c29811000b4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f9ae9def7a4388" /><Relationship Type="http://schemas.openxmlformats.org/officeDocument/2006/relationships/notesMaster" Target="/ppt/notesMasters/notesMaster1.xml" Id="Reae34e9f6b4442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3340808e9d4ac1" /><Relationship Type="http://schemas.openxmlformats.org/officeDocument/2006/relationships/notesMaster" Target="/ppt/notesMasters/notesMaster1.xml" Id="Rdd60f2c308734c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7297d1de1e431c" /><Relationship Type="http://schemas.openxmlformats.org/officeDocument/2006/relationships/notesMaster" Target="/ppt/notesMasters/notesMaster1.xml" Id="R51f9031a45cf40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7a62c7fb24d2e" /><Relationship Type="http://schemas.openxmlformats.org/officeDocument/2006/relationships/notesMaster" Target="/ppt/notesMasters/notesMaster1.xml" Id="R1ceb825dddd544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5cca1901e14954" /><Relationship Type="http://schemas.openxmlformats.org/officeDocument/2006/relationships/notesMaster" Target="/ppt/notesMasters/notesMaster1.xml" Id="Ra8916cc3412a44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443dd087484015" /><Relationship Type="http://schemas.openxmlformats.org/officeDocument/2006/relationships/notesMaster" Target="/ppt/notesMasters/notesMaster1.xml" Id="Rb8b26fa893c44a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be88601057465e" /><Relationship Type="http://schemas.openxmlformats.org/officeDocument/2006/relationships/notesMaster" Target="/ppt/notesMasters/notesMaster1.xml" Id="R9bd170b46de44a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89ff1ecd21402b" /><Relationship Type="http://schemas.openxmlformats.org/officeDocument/2006/relationships/notesMaster" Target="/ppt/notesMasters/notesMaster1.xml" Id="Rf43f324a5a9d41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0aa225ea364d3c" /><Relationship Type="http://schemas.openxmlformats.org/officeDocument/2006/relationships/notesMaster" Target="/ppt/notesMasters/notesMaster1.xml" Id="R3af2674ea1c147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82b541d4bf4207" /><Relationship Type="http://schemas.openxmlformats.org/officeDocument/2006/relationships/notesMaster" Target="/ppt/notesMasters/notesMaster1.xml" Id="R82b7bb7430504b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5ff171687b4b27" /><Relationship Type="http://schemas.openxmlformats.org/officeDocument/2006/relationships/notesMaster" Target="/ppt/notesMasters/notesMaster1.xml" Id="R5d58d779f4064f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432743f2e14132" /><Relationship Type="http://schemas.openxmlformats.org/officeDocument/2006/relationships/notesMaster" Target="/ppt/notesMasters/notesMaster1.xml" Id="R1dfc0a55c54b4e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9ff89376c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4f7cbe5d6f4a14" /><Relationship Type="http://schemas.openxmlformats.org/officeDocument/2006/relationships/slideLayout" Target="/ppt/slideLayouts/slideLayout1.xml" Id="Ra49ddfbe28e64e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9ddfbe28e64e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9be9cafd343c4" /><Relationship Type="http://schemas.openxmlformats.org/officeDocument/2006/relationships/notesSlide" Target="/ppt/notesSlides/notesSlide1.xml" Id="Re018b07884344e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786db120e4bfc" /><Relationship Type="http://schemas.openxmlformats.org/officeDocument/2006/relationships/notesSlide" Target="/ppt/notesSlides/notesSlide2.xml" Id="R3a12d42c81cd4a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3d5d496904d04" /><Relationship Type="http://schemas.openxmlformats.org/officeDocument/2006/relationships/notesSlide" Target="/ppt/notesSlides/notesSlide3.xml" Id="R2346ad2544694a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2ef4d9b79424f" /><Relationship Type="http://schemas.openxmlformats.org/officeDocument/2006/relationships/notesSlide" Target="/ppt/notesSlides/notesSlide4.xml" Id="Rcf7b9939078f4c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ca58319994347" /><Relationship Type="http://schemas.openxmlformats.org/officeDocument/2006/relationships/notesSlide" Target="/ppt/notesSlides/notesSlide5.xml" Id="Ree809b82ee4640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7de62f02049f0" /><Relationship Type="http://schemas.openxmlformats.org/officeDocument/2006/relationships/notesSlide" Target="/ppt/notesSlides/notesSlide6.xml" Id="R23ba1f58a08d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44a2c5364183" /><Relationship Type="http://schemas.openxmlformats.org/officeDocument/2006/relationships/image" Target="/ppt/media/image.png" Id="R0017332fe76346a7" /><Relationship Type="http://schemas.openxmlformats.org/officeDocument/2006/relationships/notesSlide" Target="/ppt/notesSlides/notesSlide7.xml" Id="R7e498f0d0b0e4f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45a1f33b84ae3" /><Relationship Type="http://schemas.openxmlformats.org/officeDocument/2006/relationships/notesSlide" Target="/ppt/notesSlides/notesSlide8.xml" Id="Rb120f71b31fd47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b94f71c1e4f95" /><Relationship Type="http://schemas.openxmlformats.org/officeDocument/2006/relationships/notesSlide" Target="/ppt/notesSlides/notesSlide9.xml" Id="Rb63146a0253e40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7f5db94714141" /><Relationship Type="http://schemas.openxmlformats.org/officeDocument/2006/relationships/notesSlide" Target="/ppt/notesSlides/notesSlide10.xml" Id="R458ce3d4d77d4a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51ad1c5904d56" /><Relationship Type="http://schemas.openxmlformats.org/officeDocument/2006/relationships/notesSlide" Target="/ppt/notesSlides/notesSlide11.xml" Id="R5f00011dbb8344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6532ff9384e7a" /><Relationship Type="http://schemas.openxmlformats.org/officeDocument/2006/relationships/notesSlide" Target="/ppt/notesSlides/notesSlide12.xml" Id="R2021ec502b3f46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87638b99f41e4" /><Relationship Type="http://schemas.openxmlformats.org/officeDocument/2006/relationships/notesSlide" Target="/ppt/notesSlides/notesSlide13.xml" Id="R6d937de4b4674d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dd01a83894557" /><Relationship Type="http://schemas.openxmlformats.org/officeDocument/2006/relationships/notesSlide" Target="/ppt/notesSlides/notesSlide14.xml" Id="Re95aaa2f28274e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9A00D-9179-4BB9-B704-BDA99EA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02CAB-B36F-4308-8760-B7B4421C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70010-6046-4BBA-8DAC-792BFF7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6A6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642"/>
                </a:solidFill>
                <a:latin typeface="Aptos"/>
                <a:ea typeface="Aptos"/>
                <a:cs typeface="Aptos"/>
              </a:rPr>
              <a:t>NLP FINAL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AA12-A1D5-4A7C-A17B-8B9B01B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19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Aspect-Based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Sentiment Analysis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for Restaurant Reviews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8BFBB-2A47-40A3-9A6E-10AAD59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A working ABSA system that maps each review to Food, Service, Price, and Ambiance sentiment using rule-based, TF-IDF Logistic Regression, and DeBERTa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8803A-CD45-4378-8AA0-AC0DE2EC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47D90-2CEB-4D08-9202-41B0F21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C3FE0-ABD2-4439-8828-A4B7157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6FAA4-32F8-4B18-8124-A8C58DE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review-aspect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FDFF9-E31A-46DA-8D76-D7B7C7D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0.8865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BECC0-4370-4C25-8DF0-9ABAB1B3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macro F1 in final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364CA-B399-4484-9485-6FE614D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6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Teacher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BA5E3-7887-41FC-ACD5-32ADC6A7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A0208-C201-49F0-AB98-3717B8F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CE405-4763-4101-A695-225E897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CBE53-2D9A-468C-A20C-F88143B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restaurant reviews mapped into four fixed aspects.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3AFD3-3230-4148-ADE4-1CC73371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EF2CB-74EB-4BE2-92BC-2E0A242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26C5C-A618-4A74-A0E6-781F2F8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826B3-97F6-414F-BF8D-F100045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XML annotations become wide and long CSV tables for app output and training.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5937C-42EF-4622-85D7-A3B352A6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E0D0C-6886-42D1-96AA-9601587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FDFF2-4D41-4829-882B-07435428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77AB4-284B-4E72-B708-08EFDDC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Accuracy, precision, recall, macro F1, weighted F1, per-label and mentioned-aspect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80DDF-E297-46AC-9DFF-634C121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341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Source: project report N22DCAT003.pdf and repository artifacts</a:t>
            </a:r>
          </a:p>
        </p:txBody>
      </p:sp>
    </p:spTree>
    <p:extLst>
      <p:ext uri="{BB962C8B-B14F-4D97-AF65-F5344CB8AC3E}">
        <p14:creationId xmlns:p14="http://schemas.microsoft.com/office/powerpoint/2010/main" val="550597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CED324-D048-4E04-AA53-94F0439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9FDA-E4CC-418B-B80C-70C9E0D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2348-1B79-45C5-8F56-0346B56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3FCE1-F5DE-4B1E-9354-40596E26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TEAM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D1CF0-28CC-481D-9707-4E04E43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Each member owns one part of the ABSA system, so the presentation follows the project responsibilities.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67E4-BBCE-4A57-A627-4D51602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slide can be used when introducing who speaks for dataset/system, rule-based modeling, and traditional ML/model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0A2D-207F-46F7-BC24-AA02DB0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63FE9-FCAC-4999-AB21-9D347309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CB2FC-1690-4F92-B718-BFEC9DB8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N22DCCN141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E987-63F4-49F3-ACA1-C0AF63C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Huynh Ba Anh Khoa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784E5-6AE8-4539-AA5C-765F736D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Leader / Deep Learning / App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B4DCA-E161-4903-A109-B46954C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B755E-9B42-432A-8C07-612A182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Prepared review-aspect data and DeBERTa-v3-base 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1FBD1-D893-4A23-9FE8-9A2441E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Flutter demo, Python API connection, and final materials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E30F6-0D45-418D-8276-FD0110D3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Slides 1-5 and 11-12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3ED0-B66A-4041-92B1-27E8163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A04EC-1E9C-4243-B364-F846277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46799-2694-413C-AB3D-81E2010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N22DCDT038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42BD1-C6FF-4EF5-8A21-085FDE6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Dang Nhat Nam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B7DEA-60DF-4BF6-8905-AFED0173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Traditional Machine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55751-1030-472A-B739-35E373A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A3B0E-4B2A-4893-973E-CD9EBDD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TF-IDF text features and Logistic Regression classifiers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3D56B-918C-4201-A20E-41AECA6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Reported Traditional ML metrics for model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011D7-1DD1-4EB1-BD23-1F5FE88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Slides 8-10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D7F42-1E34-474F-8E8F-27C574B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6D150-47DA-4C78-A24B-85B4ECB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263ED-EB63-45F9-B0EF-1A369D70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N22DCAT003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C1A91-A241-480A-9561-1DFD0DC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Ta Quang 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1843E-D36E-43C5-8F24-216F37BE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Rule-Based ABSA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93627-CD5B-4356-B30F-CB7FCFE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CD2D4-7CC5-420F-9B2A-0804525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Defined aspect keywords and sentiment lexicons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B60F4-E56B-4371-8238-336996A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Implemented negation handling and spaCy dependency parsing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D0C97A-C40B-492D-9E1A-CB39824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Slides 6-7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2AC66-DB8F-483E-950B-75211A6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Recommended handoff: Khoa introduces the system, An explains the rule-based baseline, Nam compares models, then Khoa closes with the final model choice.</a:t>
            </a:r>
          </a:p>
        </p:txBody>
      </p:sp>
    </p:spTree>
    <p:extLst>
      <p:ext uri="{BB962C8B-B14F-4D97-AF65-F5344CB8AC3E}">
        <p14:creationId xmlns:p14="http://schemas.microsoft.com/office/powerpoint/2010/main" val="3682555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FE852-5ABA-4275-BA6F-74272175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DF44A-90A8-44CF-9647-8755722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7D20-ADFE-4E06-B76E-9DF9BD8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4E984-FA0B-4847-B70B-3023C65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041518-2EBF-4757-A551-F5E8BC8B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98109D-7105-4102-A0F6-DB59D28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TASK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A482-78D2-40B3-A770-4C76A8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Whole-review sentiment hides the aspect that 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6F8EB-80F4-412C-AEEE-A4F65D8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returns one label per restaurant aspect, so mixed opinions stay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97C17-1292-488D-89B3-1CE6AF8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45446-0DDB-49D4-8D82-0643A9E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Input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17D84-361D-4E00-8842-32F3BB2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171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"The sushi was fresh and delicious, but the waiter was rude and the restaurant was too noisy."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EDE59-D44F-4434-8A42-621B1D1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59E3-F3B0-4B9C-9ADC-13ED7F6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Output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9716-3507-4B58-A526-4634A32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C7A57-0761-4BD2-A731-FED984F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EBBA5-A686-4EF8-8938-0D525F8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>
              <a:alpha val="13333"/>
            </a:srgbClr>
          </a:solidFill>
          <a:ln xmlns:a="http://schemas.openxmlformats.org/drawingml/2006/main" w="9525">
            <a:solidFill>
              <a:srgbClr val="3E8C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7C4A7-9DAE-4DD4-9AA8-0008C99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E8C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E8C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9B04D-B9BD-4898-8742-FC39A31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C0C00-3AB6-4CB5-8D11-7A61297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432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64254-3AC1-4851-9B5F-D7764FB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0FEC4-6FD4-445F-ACB2-2D46765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28C41-6165-4383-A9F7-EC1859D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43182-CF73-43C3-AD71-093482C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E2B7B-1E26-4D9E-9F20-187CADE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>
              <a:alpha val="13333"/>
            </a:srgbClr>
          </a:solidFill>
          <a:ln xmlns:a="http://schemas.openxmlformats.org/drawingml/2006/main" w="9525">
            <a:solidFill>
              <a:srgbClr val="6E77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5D39D-ED29-4B89-9285-832AC9F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A6F63-D3C8-4967-92CA-6115F4F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4FFA5-A260-4436-9BB5-E1BBEC9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529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Eating Environment / Ambiance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8810E-3214-4F47-95AC-F8A82DC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23290-B1E4-4877-BD95-3E0FA0E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81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E11A6-FFD4-431B-9CF2-163A461D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626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Project rule: always return all four aspects, using Unknown when an aspect is absent or unclear.</a:t>
            </a:r>
          </a:p>
        </p:txBody>
      </p:sp>
    </p:spTree>
    <p:extLst>
      <p:ext uri="{BB962C8B-B14F-4D97-AF65-F5344CB8AC3E}">
        <p14:creationId xmlns:p14="http://schemas.microsoft.com/office/powerpoint/2010/main" val="1059623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AC7637-8DC1-4C55-9DFC-77441610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E5DD5-B301-4B46-987C-08238F2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87224-EC80-4F2E-B072-B6B8778C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579D-2A54-46C4-B9B7-BDAFD4D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RAW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82112-CD91-4F91-B638-C9F9A734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original SemEval XML contains human-labeled restaurant review sentences before project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DB00F-8078-49FA-AB12-BF06B72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file: backends/data/raw/Restaurants_Train_v2.xml. Each sentence can contain aspect-category tags and polarity annotations.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58817-3F15-44DD-B032-0BDE095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448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6A6E-4B6D-45CD-B353-3FF21E8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1E26F-0C9D-4C2D-9A0A-19F24623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raw review sentences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DFD1D-2646-4E8F-92E6-8718271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D4CF9-B483-4B22-9CCB-31DFFAE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C0401-ACCE-4460-AF21-8468265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337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8808F-7BEE-402E-9D0D-CB89F457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95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polarity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620C7-13A5-43EA-B1AC-AD982B7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7315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85370-B61F-4AF4-890C-AF08815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Raw XML example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70B71-5C7D-41E6-A4FD-4DA81724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655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&lt;sentence id="3121"&gt; review text + &lt;aspectCategory category="service" polarity="negative"/&gt;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19787-D2B4-48D1-9B2D-F053436E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raw labels are useful, but they must be normalized before all models can produce the same four-aspect output.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20D0-4227-4F40-9013-CB26C808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5257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3AB63-06E8-4844-B60E-79F9F7F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aspect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8F0F8-8D3D-4649-B0A5-86EC2FA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F604A-BB35-471C-B373-D12277C4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A339D-AB48-400A-BDC7-479D04E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737B8-E4E7-4873-9317-B5BB62A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529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4160B-CFF6-4F2F-B26D-E3AFFCF5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anecdotes/misc.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F3BD0-8F41-45E7-B131-E5FED70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6D105-3835-439E-A895-493353B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258180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5FF42-22E5-434F-9D91-3DF2D78E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00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1132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0897B-6A02-46D6-B7A3-1B0896AD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6C195-55D2-4F3A-9937-2E05D72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A0D45-B59A-4907-9130-25871D38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136160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25BCA-0A12-41FA-872C-C48890C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482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DA9AF-EA33-4F67-9A3B-FF1676D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ambience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89A13-5879-46B3-B925-AC474EBC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DF1F3-D94A-4EBC-BA9E-4463391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98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7872F8-30C8-4069-8C15-D0A049DB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959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431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D0F17-F5DC-42D9-8193-A8E2DAC1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E4E41-C90D-4291-B062-F8D4DAD0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E55396-F2F4-4E66-BA5A-9EFD1B7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73211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4E066-7028-4FF3-BEB6-98740C8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43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936EB-190D-4B72-9AB4-15E88111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5257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BBCA7-0F3A-478A-883D-B87EBF1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polarity labels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77FCB7-EDA7-41BF-850D-081BB7F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9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575BE3-62FC-4909-AD70-590DDBE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D504C2-3651-4B1A-BF6D-C143F7B4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045C3E-1505-4A6F-A8DE-D1899A27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8101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2179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90C149-2F0D-4580-9F69-F04F0F4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24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59209B-F5CC-4507-B474-9009E97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EB54E9-0EB9-46C0-A79C-CA996D38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108191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E44E59-47FA-47A2-92EB-3E243FB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544F39-072F-4314-9C0C-86C513D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CC4364-4D23-4D90-A295-320D1FB6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A2793E-DCDD-4112-8388-B0ECB64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64476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F14BE4-26A1-46AA-B0E6-8699F0DD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4197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05C58D-B80C-4187-9878-E448816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34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conflict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7A5FA0-7863-4381-A4C4-9760634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FE258E-C05E-4E2D-9643-854F0D0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25145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32709C-14FA-4DDC-A44E-7437370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24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AFB8E8-047A-45D9-9EFA-0027D60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112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Next slide: the raw XML is converted into clean wide and long CSV files, with fixed aspects and Positive / Negative / Unknown labels.</a:t>
            </a:r>
          </a:p>
        </p:txBody>
      </p:sp>
    </p:spTree>
    <p:extLst>
      <p:ext uri="{BB962C8B-B14F-4D97-AF65-F5344CB8AC3E}">
        <p14:creationId xmlns:p14="http://schemas.microsoft.com/office/powerpoint/2010/main" val="7341786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03B9B8-09CF-411E-99BC-3F621A00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91D9-3DBF-4B88-99B0-D44A4AA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A49E-F624-4D59-A77D-E6CF178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D4CA-1BA7-4037-A5C8-71F6E7B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665055-F1D8-4098-B86A-4EC572C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BF4205-734A-466B-9ADA-1D95032F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74351-502C-45C7-A1B1-1946507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processed dataset is useful, but heavily Unknown-dominant.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6BAB6-1B4A-46CB-A36B-116E3F5B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Task 4 Restaurant Review data, mapped into the project aspect schema.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2E171-C0F2-40A2-B056-DFF66D2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4A7D-2421-4DC5-B3A1-89BE949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wide review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EB2C-BA34-449D-9417-420DFD9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F1B2F-2E54-493F-A35E-416F4C3B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long review-aspect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D5D5D-1C57-4F65-9496-6B1FC92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rPr>
              <a:t>81.3%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0758-D18B-4065-B064-90D3F63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labels in long format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76B48-D1B8-4239-ACA9-FF9E7415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2FB71-9DAB-4017-8394-E1C26A67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0BA1A-9366-4D63-96EE-3B04FD1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679CA-0B8C-459F-93FF-0C566633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20FF7-0534-4F7D-9463-0D01FCA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D8B18-8930-45CB-A869-F326437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1F3FE-59AD-40A2-A25B-A3582B6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7483F-F42A-45AF-9FE9-F5EC70CD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33800"/>
            <a:ext cx="15750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C96A3-2D5C-4920-8851-CF7AD94F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355" y="3733800"/>
            <a:ext cx="3796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B97DF-049F-4D52-81B7-CCD48F3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039" y="3733800"/>
            <a:ext cx="35697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A7F21-9D7D-40A0-9382-9C90BD7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623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EE211-6CA8-4163-86D8-19445CFB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F6CE1-D79C-43F1-A1C1-A5DD11E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86250"/>
            <a:ext cx="58860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BC6136-468D-43CF-AC96-0602B22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02" y="4286250"/>
            <a:ext cx="3960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CA99-35C8-47DC-A59C-5E65E7F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936" y="4286250"/>
            <a:ext cx="45398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6496E-9396-42BA-9424-5CA2E5B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DA835-0C0D-4E11-8D45-2E0EBBC5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AA5E1-F163-4EE3-B690-A1D262B0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3251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6C6DD-F8F1-4298-A4AE-4A5521F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484" y="4838700"/>
            <a:ext cx="20891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512A0-8113-4D67-B561-33F6759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402" y="4838700"/>
            <a:ext cx="499039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6C2B4-E003-47E1-8506-D58C75A2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672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02BF5F-9596-46FF-B305-AC0BB8F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25588-9CE8-408E-A72E-7CA82E4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4777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70DA8-24C4-49DF-9559-23C4333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85" y="5391150"/>
            <a:ext cx="17803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C31B80-022C-41A5-A3FE-52BD9CD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19" y="5391150"/>
            <a:ext cx="486868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E3E17-08D8-4BAB-99B7-47B2107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97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FA5790-B09B-4521-ADB2-6B34B5D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1E5949-9F71-436D-B987-8BCFEAE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Why macro F1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176A2-4B6C-4F46-A97C-0A99955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1771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 can look high when the model predicts Unknown well. Macro F1 gives Positive, Negative, and Unknown equal weight.</a:t>
            </a:r>
          </a:p>
        </p:txBody>
      </p:sp>
    </p:spTree>
    <p:extLst>
      <p:ext uri="{BB962C8B-B14F-4D97-AF65-F5344CB8AC3E}">
        <p14:creationId xmlns:p14="http://schemas.microsoft.com/office/powerpoint/2010/main" val="13853930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524F5-7056-4869-89E0-858466EB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6828-DC6C-4087-9439-79234C71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E6898-2650-411E-AA63-D64D7B9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A16A3-9F24-4D44-A5EC-5DFCD5F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E0E6B7-E896-4C7A-B48F-302FDCB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61A7BF-A771-4626-9F57-B48A8FC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2FDF9-2359-4B32-A21E-3D4CCC3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SemEval annotations are reshaped into app-ready and model-ready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AC3C1-C39D-4BEF-A873-BADE74D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Two output files support different parts of the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26F6-DBB4-4E93-9741-7E3A865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170BE-5BCD-4A34-B227-9463924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Raw XML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9B80-6BAE-49C0-BC79-758FC38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 text with aspect-category annotations.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BC6D-1F5F-412F-8D2E-6D0CD0D5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966BE-BA2C-4336-BD26-3F55D19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BD233-D7B2-410B-A1E3-4151B6A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9761C-9003-4017-ACC2-B3C341B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BF6C8-A17A-4CD0-9565-259953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Clean text, standardize IDs, validate non-empty reviews.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38B24-D874-404B-A73A-8656CA6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14DAA-1765-49B9-A6A6-51ADF63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B1B72-7048-4B17-8250-9B413B9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E0900-89A1-4CE1-A257-BFFFA14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Map aspects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6E93A-9BC4-48CB-99B1-9FA371E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Collapse source categories into Food, Service, Price, Ambiance.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207DA-D7C1-43AF-BEEA-E340981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6EA93-4A91-455A-B0D8-57C001D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F0B00-4032-4155-B4F7-ED507229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B6066-5499-4234-8801-C9D8776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Fill 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C2BC9-6B58-4EFF-BE98-9FA8313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Every review receives all four aspect labels.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B205D-274F-484A-B552-4DBD958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42B77-6034-4D82-AADA-6946B2D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29392-E0A3-4E9F-90DD-90AA64D4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E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E974C-9169-4781-9FD8-76F86A9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Export CSVs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1D3D0-BEC1-4DB8-BE40-3D34E09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Wide table for API output; long table for aspect-pair training.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9E76E-EAF9-47FE-A5FA-3789CFD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9E398-2B9B-454F-BFA9-69F25666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83B81-BE07-4574-8AE5-ABB91E0D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Wide format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11478-C1FC-432F-8F62-06B1AE2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restaurant_absa_4_aspects.csv: id, review, and four aspect columns.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A41BE-C918-4B04-B3C5-DB02E43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1EAF7-E084-4EA5-87C3-7E18DEA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407AA2-8F9A-47B0-A196-C912E2C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Long format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264A9E-ADE7-4EFE-B755-7ED446A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restaurant_absa_aspect_rows.csv: one row for each review-aspect pair.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08E3D-DFDD-4EBE-A73D-3B7B81B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6BC4A-91E9-47D5-AEB8-A4E7BA5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8D4EE1-BC36-4BE9-97CD-C19784B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3F6C1-AE83-4D4A-A365-70CA980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Checks expected columns, valid labels, and non-empty review text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6496083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7BD58-2831-4445-B5D5-5C52D01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F652-BE9E-44AE-B591-6C94CF70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476F-5C96-403D-9B09-5DD2B733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20099-B3A3-42F5-8161-73014A4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5AA58F-B6CC-4B76-9095-B7666E7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F80234-4F7F-4A73-9E91-E5573841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BB5DF-9942-45E2-B570-74E5885A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same review can flow through three model backends.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CAF0-E036-4A7B-8ABF-5F379EB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backend exposes /health and /analyze for the Flutter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741BC-A507-44AD-8CEF-F0C871E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27318-5F41-4025-9F40-B04402EF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Flutter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6CA0B-1A3B-47A8-BB85-A19F3BC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User enters review and selects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F1F2-446C-49F8-AA32-4F96483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76460-803E-41B4-A33C-D9AEB22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6E62-5E3B-42C1-BC98-66A5F33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Python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6816-BB0F-404C-B8C7-A3F45C6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ThreadingHTTPServer handles JSON and CORS.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4FD18-9C68-4752-8E6C-DACA235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6DD0D-7BD3-4455-BA7A-338E7F1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78C0E-D504-4806-97CE-65FD999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Model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21BB9-AF9F-47AE-B765-27AE5BB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rule_based, traditional_ml, or bert.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423E1-04A3-4544-BAD0-9CA8BAC8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CF473-1214-46EE-906A-8E4C938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CE17-DA14-4649-8886-8B3D27B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3795-7A89-49C0-A473-10AD822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review, method, and four aspect results.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7332fe76346a7"/>
          <a:stretch xmlns:a="http://schemas.openxmlformats.org/drawingml/2006/main"/>
        </p:blipFill>
        <p:spPr>
          <a:xfrm xmlns:a="http://schemas.openxmlformats.org/drawingml/2006/main">
            <a:off x="1137657" y="3143250"/>
            <a:ext cx="5039885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07DE-F90E-4F0F-8D19-0217EDF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DB583-C273-41C9-B556-957F710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97888-72C5-4540-AA69-134FB8B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8625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The app shows the expected four-row aspect output and lets the user switch among rule-based, traditional ML, and deep learning methods.</a:t>
            </a:r>
          </a:p>
        </p:txBody>
      </p:sp>
    </p:spTree>
    <p:extLst>
      <p:ext uri="{BB962C8B-B14F-4D97-AF65-F5344CB8AC3E}">
        <p14:creationId xmlns:p14="http://schemas.microsoft.com/office/powerpoint/2010/main" val="10697673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AC1D0-E0FD-4893-BA92-DD5B447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3A96-CE57-4DC7-B2C8-40550BB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C9AB-8CDE-475D-89C6-516BEE2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D3E92-72C7-43DF-8BB9-6F20842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78388B-90E3-4D96-AD13-970A976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8607A3-5CAB-48C4-9DBD-281F15C4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55B71-7012-464D-B329-9899A57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Each model answers the same task with a different level of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BD5C-FCF8-4DBA-9996-D2D578B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comparison is fair because all methods produce the same label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9DB8-35B8-4241-8498-E404BF0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E2A14-B0A7-49A6-A12C-4E95F34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66F13-AD96-4FF8-8D05-2CB5750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Rule-based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14E82-8703-4379-A838-2FD1860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spaCy dependency parsing, aspect keywords, sentiment lexicons, negation and intensifier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07C94-DB51-41F6-8143-275FF8C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>
              <a:alpha val="13333"/>
            </a:srgbClr>
          </a:solidFill>
          <a:ln xmlns:a="http://schemas.openxmlformats.org/drawingml/2006/main" w="9525">
            <a:solidFill>
              <a:srgbClr val="8A9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CA5F-5D83-4095-8E89-949D623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A9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9A5B"/>
                </a:solidFill>
                <a:latin typeface="Aptos"/>
                <a:ea typeface="Aptos"/>
                <a:cs typeface="Aptos"/>
              </a:rPr>
              <a:t>Most explainable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FF061-4329-4C9B-AD20-A11E58B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CC58C-0D55-4168-97E9-69BE5BB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A9EF-0757-4E3B-A316-7B7116A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Traditional 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1D086-5411-4B36-9223-86D9560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TF-IDF unigrams/bigrams plus one balanced Logistic Regression classifier per aspect.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66631-8DCE-4195-A5AF-DB4D7E8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>
              <a:alpha val="13333"/>
            </a:srgbClr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A2E75-BDD4-4298-A7C9-30DE1FC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Fast learned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892F1-5E58-434D-B2BF-D51673C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0C66E-5C72-46AB-8E2A-84DFF6D2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B6E8F-8C53-4C58-95EC-D691F78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D618-FBCE-424A-8BA9-F1BBA48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microsoft/deberta-v3-base receives review + aspect pairs and predicts one of three labels.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9D159-ED52-4F1C-B326-39182F6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>
              <a:alpha val="13333"/>
            </a:srgbClr>
          </a:solidFill>
          <a:ln xmlns:a="http://schemas.openxmlformats.org/drawingml/2006/main" w="9525">
            <a:solidFill>
              <a:srgbClr val="D24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44FB-9C56-4F16-927C-4F535B1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Best contextual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88183-A287-4ABC-803D-4E2C3B4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9AA1B-7254-4DA1-A7C3-CABCB38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05425"/>
            <a:ext cx="771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62713-6A56-4E79-929F-DA53B19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A39C5-50F4-4A9D-8EEE-30C01244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A0E7C-5481-4389-BB1A-1AC6CEA3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EA826-83AF-411E-8403-F2D33E9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Transparent rules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4E032-4FC3-4038-8A84-8D122C7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Learned lexical patterns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AA816D-5E47-4D5E-A0BD-D6301F5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Contextual transformer</a:t>
            </a:r>
          </a:p>
        </p:txBody>
      </p:sp>
    </p:spTree>
    <p:extLst>
      <p:ext uri="{BB962C8B-B14F-4D97-AF65-F5344CB8AC3E}">
        <p14:creationId xmlns:p14="http://schemas.microsoft.com/office/powerpoint/2010/main" val="14390749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A5461-2A52-47A1-8535-7703598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108B3-B348-4895-8B64-45A46326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99271-DB59-473B-97EE-87ED56D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71F55-6BA8-46DC-8153-3EB3A2E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7B90080-5103-4115-BB84-733E8C6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CFAC0A-0A6B-4AF4-BEA9-A10F074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EVALUATION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2A8D7-74D6-402A-9490-F0704E8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Macro F1 is the main score because the dataset is imbalanced.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F498-2800-4BD5-A3EC-9E47E98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Final three-model comparison uses the report's fresh 70/30 evaluation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61B2-CB98-4F83-8FB8-070C593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3A36E-A02B-4A2E-9B94-C59BE49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1CC2C-2604-49B1-99AE-DB3ECCA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Overall correct predictions; useful but can hide majority-class bias.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B553-2EF0-4755-8DA5-7D69BF9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9083-8A4C-4C38-A77B-F3F0AED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8F87B-2655-4657-BE21-5B433FF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Computes F1 per label, then averages equally across Positive, Negative, Unknown.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99538-CDD2-4F54-A773-233E585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3C920-0877-4CA6-903F-E0C6BBC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1C388-2079-4D3A-87D6-8C31A96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F1 weighted by support; reflects the class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3ADFD-33DC-41C2-B380-BCE023E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78ECD-8637-4F0F-A64C-8F253759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680B3-635F-4E52-835C-7C1731B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Filters to Positive and Negative examples to test actual sentiment detection.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E9B5B-7939-4301-A8D5-4C6BD1A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6A55-579C-44BF-A52B-92B6507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48300"/>
            <a:ext cx="586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Evaluation labels: Positive, Negative, Unknown | Aspects: Food, Service, Price, Ambiance</a:t>
            </a:r>
          </a:p>
        </p:txBody>
      </p:sp>
    </p:spTree>
    <p:extLst>
      <p:ext uri="{BB962C8B-B14F-4D97-AF65-F5344CB8AC3E}">
        <p14:creationId xmlns:p14="http://schemas.microsoft.com/office/powerpoint/2010/main" val="10223466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5C6D9-457D-4B0F-9624-5ED595E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2737E-7383-401F-9E5F-D3CD54A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20EF-8A90-4141-AC72-65AF3B7E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B3CA4-3AF2-4113-A5DD-BD0FB93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C5428E-B298-4170-AEF2-80B300E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2453BE-52FC-435B-A162-8250257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OVERALL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00209-42C9-401F-A1A7-D93E7A3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 wins the final comparison by the metric that matters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F337-9954-49BC-A8EE-8F8646F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70/30 fresh evaluation from the final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D052-A74B-4203-8C5D-0A2FC83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F962-55C1-48DF-820D-04F5115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1A75-F002-4CC0-AA1E-0CF6636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6622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413D2-6A64-4267-9724-0BF33616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A6471-FDD6-4989-947C-FE32FFA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28D6B-3332-4A7C-B499-5576FD0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08623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7CDCB-38B3-45F9-A305-33DA96B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B2AC7-3C29-4FE3-927F-B8D0AE6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5ED18-84DE-4467-8C62-BAE4FD43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6045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67CA3-8D1C-4602-BC5A-1D63D47B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926DA-61AB-45EE-B88A-C284369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4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F7CA2-7120-41D2-9E64-E917E02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38E05-B998-4EBB-A286-6DCA5F1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7098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39BC0-7AC1-4DD7-8831-A0E1803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00B8A-A66A-46C7-BCAD-39DEDC7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8FA45-5AB5-49CE-B288-12782D5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1967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A4776-556D-4C76-928D-90806E9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6E976-DD37-4678-A192-8A35A86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81707-2FDB-4FE8-9F29-D2183AB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67399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E848B-D37A-4193-B89D-4D226D0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D2962-46B3-4BC4-BC74-266251F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3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C45FA-D0B4-4F09-A752-3CB184D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583A5-A830-4182-AD5F-194622B7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85178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12C95-3946-4CA4-A55C-B1D1397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E3003-B49A-4B1B-9657-D643D45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82656-5296-46F7-A330-27CD16A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72818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63585-5FE1-41E3-A3CD-B214D34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125CEA-A051-476D-BAA4-0A0C522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D6DFC-108F-4B9A-9DA4-A2C6F9E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8531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3B456-060D-49AE-9FA2-B095ABD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84972-C3FB-483E-BE30-F8C8630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C0CD8-8C09-421C-9116-841DEBBF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8A5F55-4C74-4012-9868-28C5CDF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37194-667A-4B7D-8D8F-6D6E9631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7F5677-9D9D-430D-9BD0-46A4631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08B6D-050B-4731-8A92-C9F393C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8F67A-B44E-4D38-B466-5755A48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1714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40020F-C213-4000-B479-F4E1FD2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+0.2726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ABCEE-D305-4F60-8418-10949EB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macro F1 lead over Traditional 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80C45D-9F2D-44C1-B31D-EEA2B00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Rule-based: 0.5572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Traditional ML: 0.6139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DeBERTa: 0.8865</a:t>
            </a:r>
          </a:p>
        </p:txBody>
      </p:sp>
    </p:spTree>
    <p:extLst>
      <p:ext uri="{BB962C8B-B14F-4D97-AF65-F5344CB8AC3E}">
        <p14:creationId xmlns:p14="http://schemas.microsoft.com/office/powerpoint/2010/main" val="13148181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5188C-21ED-46EC-A5B4-EE9FC64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C21B3-60EE-4104-B8AA-664ABA4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FCFA2-57CE-469A-8872-52780E6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8C2A6-FE07-417B-AB2F-35711758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C52A5-D522-4822-9F94-43AD140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921483-1A92-433D-8A7C-2AB15ED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ASPECT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10BFC-A838-4D0B-B2F9-4FDFABD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transformer stays strong across all four restaurant aspects.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13E05-EAB6-48EF-8067-1225560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 by aspect highlights whether a method works beyond one easy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76ED4-A4DF-42B7-9AB0-D5D83F7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4C2BF-A74C-4276-AFCF-DE7034A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DFDE-3299-491F-9648-D1B70CE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1110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72A23-A9D3-45D0-AE0B-2B0AED4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2E6C5-7FE0-4285-A3D2-068381D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F245C-6354-4563-9F8F-6D996F1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14333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4A5ED-EB8F-4ADB-8690-C1C9EEED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EE976-F614-432F-B7B8-AC1F34B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4BD64-BB28-4855-80B0-810F17B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19480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80983-781A-4C7B-BFD9-75F30B1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DF0C5-C941-4904-8624-435F722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61546-D047-43A8-B5E7-A3EE47B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551CB-DFD9-4D76-98B5-FBA5CE3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12587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D9E75-9456-4AFD-ACB6-FF6B1D1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E5D51-58A8-4FA9-9CFB-9E5F941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B83F6-D389-493E-9375-0D130F8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12732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595D9-A3DF-486C-B7B4-9A213433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38B7D-5A8E-4231-A157-621A5F6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0C5BC-8303-4DB7-8AA5-76C0EF2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18876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6C502-12CC-433A-9FF2-1D92510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1EC82-A1CE-4D4A-A2DA-DAF53B2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6D8EF-E4C7-4F25-86B3-7E97FE2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2376E-5CF5-41A3-8D78-4750617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145351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3AF0A-0310-4443-BABD-14DB195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5323C-4F23-44BF-86C6-0289ECD7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C054C-9109-414A-B0B7-65920C29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11907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33201-F38E-4CB0-B621-786E92D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0.548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687C7-1D04-4EA8-8A56-3EBB22E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F190F-1286-40AC-82B7-186CADB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93389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A47AA-3348-4E00-A567-154343A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453E1-4D79-445C-9BDE-1196FC5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3948B-EB2C-44FA-BC66-697518C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439C4-3685-4567-8979-2028797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107542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B753BA-1EE3-482A-8B6B-2FB8C45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319F0-46BB-4213-8793-3296545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8BAAE-8E02-4E18-BFF8-EA973A2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11566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EB008F-A942-454D-BB19-6C9FF33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B53AA-EFF2-4C17-AC6E-B23B3E3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C4157-B527-42D9-AADF-77C8068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185332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667CD1-DAD1-49C6-BDD3-E2FC5B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0646B2-C593-4ABD-AEED-699E844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00109-0551-4C4B-A776-55C1D1C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863D1D-D54A-49EB-BA9F-1B5D377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2A9644-F7C3-4102-8329-ECE65801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DD7712-CD58-4945-BAD4-AA7F3A8B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70D5BB-54BA-4B99-990F-F25DA47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67DDF-5EA1-4CDD-AD76-803CE784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F685CD-D8B4-4325-8D43-D9C6489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B9C24B-56AE-4E5B-8EEC-C05F4C1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F8B6BC-0DC8-4B1A-BB11-76A51D3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overall aspect: DeBERTa reaches 0.8970 macro F1.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FB817C-A27A-42D2-BB87-09464A6E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5D617A-5C83-407E-BE92-475FB61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5203B-2D56-413C-8886-60FF874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019323-E3B3-456B-9948-F60C0F9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Harder for simpler models because terms are diverse and context-dependent.</a:t>
            </a:r>
          </a:p>
        </p:txBody>
      </p:sp>
    </p:spTree>
    <p:extLst>
      <p:ext uri="{BB962C8B-B14F-4D97-AF65-F5344CB8AC3E}">
        <p14:creationId xmlns:p14="http://schemas.microsoft.com/office/powerpoint/2010/main" val="1680335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5DDF8-8E97-4713-A0FE-6BAAAFA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3DE7-F225-4456-B495-932B41F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45A3D-4372-4398-B3A2-A60DE10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5842-4C1C-4A5E-8A78-93D1400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7F238F-1691-4819-B0C1-53A567B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AAA4ED-C563-4A87-9830-75B6427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PER-LABEL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B8841-22DD-4349-98FB-AA30788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simple models score well on Unknown but miss real sentiment.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7CE26-3AB1-4C80-9027-1F9A353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Per-label F1 exposes the imbalance problem better than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F3349-E9B5-4BC1-B8E3-D1B73B3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D9760-15FE-4561-BF5F-5E4DCD5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32633-2FAB-4386-B229-3D42612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8788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2C502-A8A5-4FD8-9502-C3870B57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24A4F-453F-4C6F-8BA1-F48B78F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EF80-3892-4A4A-9562-689340D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123152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4F68-0BAE-472D-9285-A21A808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ACF3-8D6A-443F-A9AF-58D2145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76FA-B04D-45EC-BBC6-0760FB8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17317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AEED9-13F9-4549-B489-E65B8DC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FFEAB-BDE7-40D1-8DE9-E7552D6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861B9-E8CB-4081-B77F-71F9F25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53929-C754-418A-AF0B-27C94FB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6415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9E2CC-0A0B-4AC9-8C34-C60681B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0.319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2A54E-9A96-40EE-9260-B28F697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41C7A-D3A5-4755-B1E2-4DBC375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5948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007A2-B143-44D5-82F8-442FCDB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0.295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C08FD-1A0C-4D0F-9699-BB874DE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FD294-E100-441E-95A3-8030BBB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16633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EF6E8-67B0-417A-913A-45695FE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3F99B-6D21-42D6-99CF-3654C66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A2C7D-6900-4D0C-9645-B5D4521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AB28E-1DFD-4DBC-9A76-B259457B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8442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4C921-9BAE-4166-998A-BE2350BD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DD331-60FA-4B8E-A189-6B66578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8A293-51E7-44FD-922A-652FADD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188110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2B9E7-6B46-4201-BA38-43C49C0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0.934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DC28B-8A90-46C6-BEDE-717065F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E36FD-322D-4C23-820C-8EEF5B4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195819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1D53D-1503-4E48-8E89-30770EC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0.973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5BA45-56E5-4986-AD82-67777638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41BB8-CD36-4DE7-8752-208889C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CAF67A-FE4A-4DF9-B53C-0A5AA28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3C1C3-0D0C-4F45-8F84-963F4BA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91217F-2BAB-41F8-A8E6-D4B840C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A0CE4B-BB02-40FF-9F92-E6B5C92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793508-0CD2-4D3C-8E6D-2E9627C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809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326367-9945-4AFB-A03D-9134800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0891F-B026-4347-AB99-40169D8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257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lifts Negative F1 from 0.2955-0.3187 to 0.8263, which is the clearest sign that context helps.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EBD9DB-2BF0-4195-9091-B3FD7E4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is high for every model, so it cannot be the only evidence.</a:t>
            </a:r>
          </a:p>
        </p:txBody>
      </p:sp>
    </p:spTree>
    <p:extLst>
      <p:ext uri="{BB962C8B-B14F-4D97-AF65-F5344CB8AC3E}">
        <p14:creationId xmlns:p14="http://schemas.microsoft.com/office/powerpoint/2010/main" val="17936605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A3183-69BE-4687-8C98-3F2A9CA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A04FE-9310-4D3C-B43A-6A190D7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8DBE4-7222-413F-8F55-018585F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621D7-CDD3-4EED-822B-7BD83FD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58765D-6AA0-43FF-82B0-4BFA5E7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00E028-1A34-4A41-9C0F-9975CF1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KNOWN-ASPECT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411B-CD0D-495C-B6AC-07BF28ED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When Unknown is removed, DeBERTa still wins decisively.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1673E-9013-418A-A93A-F660E5F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Mentioned-aspect evaluation uses the 659 Positive/Negative examples.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E5622-F5AA-4097-88F8-4B30510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269D-1033-4EA0-8928-284D9765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619D-DD12-4BDE-B7E5-A5C7DF7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25AD-15A1-4E4A-9015-59B0A92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4568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3AFD8-5E05-4C96-A5DF-951BEF1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E69FC-815D-486F-A732-4E54111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0.9931 | Recall 0.2553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5EFCB-18F6-4DF6-A427-3AC6ECF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FF77-FD7E-421E-8A48-6BF723D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1DB15-7B89-48F4-B19B-CD719E9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17511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44C23-6853-430F-9D59-BC95CFB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0.4838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A5BB-6580-4A2E-89CA-A41C440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0.8374 | Recall 0.3570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2361D-8EA1-4F0A-AFF9-EBC93F8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AD1D7-3B00-43C5-9A84-341AFAC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EC6E5-435F-44DD-8F86-BC4CEF5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28107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5CF07-E768-4B92-B7E6-A5A699A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0.9065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F40AE-7010-4251-8F54-825F6E8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0.9694 | Recall 0.8560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2EDAC-0745-4830-AF5D-8B7ECF6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confusion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D3C6B-7D39-4AEE-82C2-B548ED5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4CD17-4F9A-4286-8021-A30985D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A22F1-D57E-419B-965D-4C47815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051CF-6E53-4666-B9C5-721E101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13F56-4DF9-4425-9C88-B713644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11D98-62DF-43DE-9A6A-BB81657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B1CCE-6CD0-4E84-BEF9-4A6228E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C2432-2FC7-4739-ADE6-A72D77F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0F53D-A44A-40DC-A558-A172E047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30056-B8D6-4CF3-AFB1-1DFCE56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F095A-5B7B-48B0-AFEB-6761CD8B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32117-2E3A-4989-88FA-03AF8846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0C687-F727-4CCF-9F95-9CD3A0A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027B1-A09C-452F-BD60-2DBE1E6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1C2DD-AD2D-450A-9899-F900D0B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6F2022-1CA2-43A7-AE2D-26144EF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7760B-9217-46B1-9137-5B8A9C6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F665B4-12CC-49EA-AAA9-C5B33E11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2B80DE-BEE9-4C0A-9DC3-48F1E33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BD8C8-7B8F-41A8-9445-5D07F1F0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86EF7C-F034-41A5-9BBC-AD4CE87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70086A-16D9-49AE-98EA-3B6001B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D3B30E-C691-44F3-B7A3-DFD38D1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A487C3-7C9B-4142-8FE6-A3A1910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2884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9A39D1-06E9-4140-9306-9FDD95C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Rows are true labels; columns are predictions. Most errors are between known sentiment and Unknown.</a:t>
            </a:r>
          </a:p>
        </p:txBody>
      </p:sp>
    </p:spTree>
    <p:extLst>
      <p:ext uri="{BB962C8B-B14F-4D97-AF65-F5344CB8AC3E}">
        <p14:creationId xmlns:p14="http://schemas.microsoft.com/office/powerpoint/2010/main" val="14152418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A2BAE-9941-42EC-AE58-4930612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94AF5-09A3-42E1-BBA7-1FAF982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B23C-D9B7-49A7-BED8-8416748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F1C8A-220F-4DC2-8CF4-2A1AA568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141A7D-FA51-4CDA-96CC-543250F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F1EEA9-70EA-408F-AC26-7B550AB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75CE-E046-4224-ABFC-2139F38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project satisfies the dataset, processing, and evaluation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E5BFC-CD2C-4A16-AF9B-BE6A257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strongest method is selected from measured evidence, not only intuition.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CA22-6F5F-4DD7-A9CF-5B64947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E50A8-8A68-4C17-B4FA-DE4C554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26190-F094-45E0-91FD-B5FD016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Achieved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BD5F-8968-4E1B-B607-ECBC102A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3A87-9785-448B-8F41-85B7AAD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Public SemEval restaurant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C8B2B-9C62-412C-B74D-5332CE61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E8296-B6BD-46CC-9674-281767E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Four fixed aspects and three labels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97326-935D-4C88-AEE5-68F48A3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720BE-2A89-4307-9472-18C9B61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Working Flutter + Python API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FA3E2-25D1-4873-9114-CAA83B5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7D757-687E-4FC8-8C45-63E2211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CCE36-71BF-432F-A77C-5C82A79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E61F2-D399-4F7C-8198-46B8218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CD5FC-3436-4E0F-914A-A4A48797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 comparison across three methods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52C10-28C4-4AAD-B519-D7C5405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226EA-D70B-4AA5-AC9B-D5D61A2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Aspect-level and per-label charts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35CB3-D7FC-43C9-B3F4-1373A3D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0E2EA-D597-4FD3-B3DD-6072C76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and confusion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00848-22C6-46B5-B173-A9D7CB3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18EBD-B5D7-47C1-9384-53A7589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09BCA-CD1D-40A9-9FBA-2EEF113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Next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5E5FE-F09C-4B04-B540-0F1539C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E88D2-4E32-4690-92EA-F317175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aspect categories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12458-004E-4AC5-B0B8-DA8468D6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C9C53-7779-4E9C-8F2E-B48EB85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balanced training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EAD5C-D3A0-4495-9D7D-E192D8C1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87A24-E7B7-427E-BA45-3D00603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Confidence calibration and error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257BF-794E-4F38-AA96-18674FE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A1F80-C396-4210-A74E-887D395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34025"/>
            <a:ext cx="661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Selected final model: DeBERTa-v3-base, because it has the highest macro F1 and handles Positive/Negative labels far better.</a:t>
            </a:r>
          </a:p>
        </p:txBody>
      </p:sp>
    </p:spTree>
    <p:extLst>
      <p:ext uri="{BB962C8B-B14F-4D97-AF65-F5344CB8AC3E}">
        <p14:creationId xmlns:p14="http://schemas.microsoft.com/office/powerpoint/2010/main" val="725029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2026-06-14T18:57:27.2940000Z</dcterms:created>
  <dcterms:modified xsi:type="dcterms:W3CDTF">2026-06-14T18:57:27.2940000Z</dcterms:modified>
</coreProperties>
</file>
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7371974134656" /><Relationship Type="http://schemas.openxmlformats.org/officeDocument/2006/relationships/extended-properties" Target="/docProps/app.xml" Id="R06c1f0288ffb48b1" /><Relationship Type="http://schemas.openxmlformats.org/officeDocument/2006/relationships/officeDocument" Target="/ppt/presentation.xml" Id="R26a84aac8d8c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364c625cc409f"/>
  </p:sldMasterIdLst>
  <p:notesMasterIdLst>
    <p:notesMasterId xmlns:r="http://schemas.openxmlformats.org/officeDocument/2006/relationships" r:id="R5b05f0c1a9634590"/>
  </p:notesMasterIdLst>
  <p:sldIdLst>
    <p:sldId xmlns:r="http://schemas.openxmlformats.org/officeDocument/2006/relationships" id="256" r:id="Rb0313ed2debc403d"/>
    <p:sldId xmlns:r="http://schemas.openxmlformats.org/officeDocument/2006/relationships" id="257" r:id="R7ab87c44a23d4a59"/>
    <p:sldId xmlns:r="http://schemas.openxmlformats.org/officeDocument/2006/relationships" id="258" r:id="Rf7779eff7efa47ce"/>
    <p:sldId xmlns:r="http://schemas.openxmlformats.org/officeDocument/2006/relationships" id="259" r:id="Rab5fdc78122d4d2f"/>
    <p:sldId xmlns:r="http://schemas.openxmlformats.org/officeDocument/2006/relationships" id="260" r:id="R04969cf4e1864278"/>
    <p:sldId xmlns:r="http://schemas.openxmlformats.org/officeDocument/2006/relationships" id="261" r:id="R6372cd5a1f79404d"/>
    <p:sldId xmlns:r="http://schemas.openxmlformats.org/officeDocument/2006/relationships" id="262" r:id="R66fe1544075247d7"/>
    <p:sldId xmlns:r="http://schemas.openxmlformats.org/officeDocument/2006/relationships" id="263" r:id="R5bb055ea9ab04c6f"/>
    <p:sldId xmlns:r="http://schemas.openxmlformats.org/officeDocument/2006/relationships" id="264" r:id="Rc740d91af1024739"/>
    <p:sldId xmlns:r="http://schemas.openxmlformats.org/officeDocument/2006/relationships" id="265" r:id="R33bf0f9698e04af4"/>
    <p:sldId xmlns:r="http://schemas.openxmlformats.org/officeDocument/2006/relationships" id="266" r:id="R6bb16026e86049f9"/>
    <p:sldId xmlns:r="http://schemas.openxmlformats.org/officeDocument/2006/relationships" id="267" r:id="Rce6ac6b57afb4d98"/>
    <p:sldId xmlns:r="http://schemas.openxmlformats.org/officeDocument/2006/relationships" id="268" r:id="R685ae8f6a72e4931"/>
    <p:sldId xmlns:r="http://schemas.openxmlformats.org/officeDocument/2006/relationships" id="269" r:id="Rd7d362ce1375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8384d0ede4285" /><Relationship Type="http://schemas.openxmlformats.org/officeDocument/2006/relationships/slideMaster" Target="/ppt/slideMasters/slideMaster1.xml" Id="R131364c625cc409f" /><Relationship Type="http://schemas.openxmlformats.org/officeDocument/2006/relationships/notesMaster" Target="/ppt/notesMasters/notesMaster1.xml" Id="R5b05f0c1a9634590" /><Relationship Type="http://schemas.openxmlformats.org/officeDocument/2006/relationships/presProps" Target="/ppt/presProps.xml" Id="R6e4cb6b3401b4ef5" /><Relationship Type="http://schemas.openxmlformats.org/officeDocument/2006/relationships/viewProps" Target="/ppt/viewProps.xml" Id="Rc03e0500d2f54ede" /><Relationship Type="http://schemas.openxmlformats.org/officeDocument/2006/relationships/tableStyles" Target="/ppt/tableStyles.xml" Id="R80a6c492a62b404b" /><Relationship Type="http://schemas.openxmlformats.org/officeDocument/2006/relationships/slide" Target="/ppt/slides/slide1.xml" Id="Rb0313ed2debc403d" /><Relationship Type="http://schemas.openxmlformats.org/officeDocument/2006/relationships/slide" Target="/ppt/slides/slide2.xml" Id="R7ab87c44a23d4a59" /><Relationship Type="http://schemas.openxmlformats.org/officeDocument/2006/relationships/slide" Target="/ppt/slides/slide3.xml" Id="Rf7779eff7efa47ce" /><Relationship Type="http://schemas.openxmlformats.org/officeDocument/2006/relationships/slide" Target="/ppt/slides/slide4.xml" Id="Rab5fdc78122d4d2f" /><Relationship Type="http://schemas.openxmlformats.org/officeDocument/2006/relationships/slide" Target="/ppt/slides/slide5.xml" Id="R04969cf4e1864278" /><Relationship Type="http://schemas.openxmlformats.org/officeDocument/2006/relationships/slide" Target="/ppt/slides/slide6.xml" Id="R6372cd5a1f79404d" /><Relationship Type="http://schemas.openxmlformats.org/officeDocument/2006/relationships/slide" Target="/ppt/slides/slide7.xml" Id="R66fe1544075247d7" /><Relationship Type="http://schemas.openxmlformats.org/officeDocument/2006/relationships/slide" Target="/ppt/slides/slide8.xml" Id="R5bb055ea9ab04c6f" /><Relationship Type="http://schemas.openxmlformats.org/officeDocument/2006/relationships/slide" Target="/ppt/slides/slide9.xml" Id="Rc740d91af1024739" /><Relationship Type="http://schemas.openxmlformats.org/officeDocument/2006/relationships/slide" Target="/ppt/slides/slide10.xml" Id="R33bf0f9698e04af4" /><Relationship Type="http://schemas.openxmlformats.org/officeDocument/2006/relationships/slide" Target="/ppt/slides/slide11.xml" Id="R6bb16026e86049f9" /><Relationship Type="http://schemas.openxmlformats.org/officeDocument/2006/relationships/slide" Target="/ppt/slides/slide12.xml" Id="Rce6ac6b57afb4d98" /><Relationship Type="http://schemas.openxmlformats.org/officeDocument/2006/relationships/slide" Target="/ppt/slides/slide13.xml" Id="R685ae8f6a72e4931" /><Relationship Type="http://schemas.openxmlformats.org/officeDocument/2006/relationships/slide" Target="/ppt/slides/slide14.xml" Id="Rd7d362ce1375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03bd6b0b1042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1c8e328064345" /><Relationship Type="http://schemas.openxmlformats.org/officeDocument/2006/relationships/notesMaster" Target="/ppt/notesMasters/notesMaster1.xml" Id="Rd126cf497fe7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f2661f490c48c0" /><Relationship Type="http://schemas.openxmlformats.org/officeDocument/2006/relationships/notesMaster" Target="/ppt/notesMasters/notesMaster1.xml" Id="Re1706d6d36934d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23be357cb41e1" /><Relationship Type="http://schemas.openxmlformats.org/officeDocument/2006/relationships/notesMaster" Target="/ppt/notesMasters/notesMaster1.xml" Id="Ra09c9151ca6a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a0fc712286431b" /><Relationship Type="http://schemas.openxmlformats.org/officeDocument/2006/relationships/notesMaster" Target="/ppt/notesMasters/notesMaster1.xml" Id="R37a05440c24143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6dee0d779463a" /><Relationship Type="http://schemas.openxmlformats.org/officeDocument/2006/relationships/notesMaster" Target="/ppt/notesMasters/notesMaster1.xml" Id="R6ee866bf13fb46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4a051436c4c7a" /><Relationship Type="http://schemas.openxmlformats.org/officeDocument/2006/relationships/notesMaster" Target="/ppt/notesMasters/notesMaster1.xml" Id="R8ea42a2abb094a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9407c632e4a25" /><Relationship Type="http://schemas.openxmlformats.org/officeDocument/2006/relationships/notesMaster" Target="/ppt/notesMasters/notesMaster1.xml" Id="R41e54c3c2566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29737d48d4657" /><Relationship Type="http://schemas.openxmlformats.org/officeDocument/2006/relationships/notesMaster" Target="/ppt/notesMasters/notesMaster1.xml" Id="Rabe1d3360238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231773f36f40c0" /><Relationship Type="http://schemas.openxmlformats.org/officeDocument/2006/relationships/notesMaster" Target="/ppt/notesMasters/notesMaster1.xml" Id="Rb4ab4b07a51b40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d942f37a8b41ad" /><Relationship Type="http://schemas.openxmlformats.org/officeDocument/2006/relationships/notesMaster" Target="/ppt/notesMasters/notesMaster1.xml" Id="Rfced212e680f4e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c3422b817f4428" /><Relationship Type="http://schemas.openxmlformats.org/officeDocument/2006/relationships/notesMaster" Target="/ppt/notesMasters/notesMaster1.xml" Id="Ra3e4dae3466a49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4089484c6347a0" /><Relationship Type="http://schemas.openxmlformats.org/officeDocument/2006/relationships/notesMaster" Target="/ppt/notesMasters/notesMaster1.xml" Id="R3cb415dee1a345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826043358f4938" /><Relationship Type="http://schemas.openxmlformats.org/officeDocument/2006/relationships/notesMaster" Target="/ppt/notesMasters/notesMaster1.xml" Id="Rfc58f214d4b64a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48b06bb59449c3" /><Relationship Type="http://schemas.openxmlformats.org/officeDocument/2006/relationships/notesMaster" Target="/ppt/notesMasters/notesMaster1.xml" Id="Re49f045ccba9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5181b7953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2a9761a6b4387" /><Relationship Type="http://schemas.openxmlformats.org/officeDocument/2006/relationships/slideLayout" Target="/ppt/slideLayouts/slideLayout1.xml" Id="Re797d6c4c57b42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7d6c4c57b42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bbd452c5f41f7" /><Relationship Type="http://schemas.openxmlformats.org/officeDocument/2006/relationships/notesSlide" Target="/ppt/notesSlides/notesSlide1.xml" Id="R5b22ae793a7f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94a343df43d6" /><Relationship Type="http://schemas.openxmlformats.org/officeDocument/2006/relationships/notesSlide" Target="/ppt/notesSlides/notesSlide2.xml" Id="R2dc9bee5fd2d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61843a8e2481e" /><Relationship Type="http://schemas.openxmlformats.org/officeDocument/2006/relationships/notesSlide" Target="/ppt/notesSlides/notesSlide3.xml" Id="R4d305ae09d23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51627b14849b3" /><Relationship Type="http://schemas.openxmlformats.org/officeDocument/2006/relationships/notesSlide" Target="/ppt/notesSlides/notesSlide4.xml" Id="R858e7c4ee835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24fc365049fc" /><Relationship Type="http://schemas.openxmlformats.org/officeDocument/2006/relationships/notesSlide" Target="/ppt/notesSlides/notesSlide5.xml" Id="Rde856555515342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22a608eef4ab4" /><Relationship Type="http://schemas.openxmlformats.org/officeDocument/2006/relationships/notesSlide" Target="/ppt/notesSlides/notesSlide6.xml" Id="Rd9eec0af9d6041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ea2e0e2f84d70" /><Relationship Type="http://schemas.openxmlformats.org/officeDocument/2006/relationships/image" Target="/ppt/media/image.png" Id="R7da6f806f7274c7c" /><Relationship Type="http://schemas.openxmlformats.org/officeDocument/2006/relationships/notesSlide" Target="/ppt/notesSlides/notesSlide7.xml" Id="R97088c39a12a4c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e7394dd04215" /><Relationship Type="http://schemas.openxmlformats.org/officeDocument/2006/relationships/notesSlide" Target="/ppt/notesSlides/notesSlide8.xml" Id="R24b31556845d4c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a0ebe6c0b418b" /><Relationship Type="http://schemas.openxmlformats.org/officeDocument/2006/relationships/notesSlide" Target="/ppt/notesSlides/notesSlide9.xml" Id="R2f0905ca868849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82934a4e400e" /><Relationship Type="http://schemas.openxmlformats.org/officeDocument/2006/relationships/notesSlide" Target="/ppt/notesSlides/notesSlide10.xml" Id="Rba3058506cf24a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0c675bfc74042" /><Relationship Type="http://schemas.openxmlformats.org/officeDocument/2006/relationships/notesSlide" Target="/ppt/notesSlides/notesSlide11.xml" Id="R7ac801b063614a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51436ce754bd5" /><Relationship Type="http://schemas.openxmlformats.org/officeDocument/2006/relationships/notesSlide" Target="/ppt/notesSlides/notesSlide12.xml" Id="Ra6d3f395561340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0049469344d04" /><Relationship Type="http://schemas.openxmlformats.org/officeDocument/2006/relationships/notesSlide" Target="/ppt/notesSlides/notesSlide13.xml" Id="R718230c6003b4e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6d1f36ae04a0c" /><Relationship Type="http://schemas.openxmlformats.org/officeDocument/2006/relationships/notesSlide" Target="/ppt/notesSlides/notesSlide14.xml" Id="R97c2b27b529d42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A77FA-F5AB-46BF-ABBA-B0067F66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F793-DB79-49CC-A632-EB72831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147D4-3D1B-42D4-A6D7-3A72A86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E7228-5056-4550-BDF0-193EA4F0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85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Aspect-Based Sentiment Analysis</a:t>
            </a:r>
          </a:p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FCD9-6DE3-492C-9438-729EDBCE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working NLP system that reads one restaurant review and returns sentiment for Food, Service, Price, and Eating Environment / Ambiance.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68EA2-8A62-4E98-A204-9E21793E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572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10E5A-997D-4AF3-8C73-19F8EA4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Why ABSA?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1C58-7DE7-47EE-80BD-838E043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579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Restaurant reviews often contain mixed opinions. ABSA keeps the details visible by assigning a separate sentiment label to each aspect.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ED42B-8001-46C8-B677-AF2882E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66800"/>
            <a:ext cx="33909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A6EE5-21BC-444B-8147-FA125BE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6B177-85FA-40D3-BEE7-FAAD3B1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"The sushi was fresh,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69E88-E7BF-478A-81A3-ED413D3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DC4FB-FE57-4EE6-BAE4-6850A56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C8231-62A3-4A59-97D6-8133F64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812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A50C1-7930-4340-A8F2-D666D72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DC68F-2249-4E22-BDE1-BA4B4FF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25E7D-8269-4AC5-A20A-DD47ED74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DE803-862C-46CC-AA67-71E2FAE1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0A380-AC12-4857-B5A0-FDFBD88A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E49FD-97CE-48DE-ABFB-BFF0FEB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13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98CA9-C960-47CD-A459-8105555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5674A-ED7F-4233-A445-029466E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6543F-7E23-4C40-9AC1-6D8DE36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814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C1A59-F32E-41B5-ACFC-0DE9DEC6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always returns all four aspects.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4EF1C-A2F9-4B30-9DC1-AFAB1DBF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59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369E6-6A20-4B1C-B175-BE3E779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312BC-9FB4-48E6-900F-10CAA13A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032F5-BF97-43CA-8EEF-9010D712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B4DB1-172D-4655-995E-0D4D7DB9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05A7D-7AAD-4A80-A72F-1CA5373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45160-09E1-4FC8-8520-586A3A1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approaches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06914-E285-4B19-B784-B0DF958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38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AC145-4221-41A4-B532-AC424BC1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38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best macro F1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917DA-D1E7-4B41-89AF-4EF81D3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3FADB-A083-4836-97B8-9B243C4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388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aspects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89444-71C0-426D-BD0E-F8F861B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Methods compared: Rule-based baseline, TF-IDF Logistic Regression, and DeBERTa-v3-base.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D324-D048-4E04-AA53-94F0439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2348-1B79-45C5-8F56-0346B56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system, so the presentation follows the project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67E4-BBCE-4A57-A627-4D51602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can be used when introducing who speaks for dataset/system, rule-based modeling, and traditional ML/model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E30F6-0D45-418D-8276-FD0110D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Slides 1-5 and 11-12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011D7-1DD1-4EB1-BD23-1F5FE88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Slides 8-10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0C97A-C40B-492D-9E1A-CB3982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Slides 6-7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2AC66-DB8F-483E-950B-75211A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Recommended handoff: Khoa introduces the system, An explains the rule-based baseline, Nam compares models, then Khoa closes with the final model choice.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C7637-8DC1-4C55-9DFC-7744161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E5DD5-B301-4B46-987C-08238F2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7224-EC80-4F2E-B072-B6B8778C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579D-2A54-46C4-B9B7-BDAFD4D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RAW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2112-CD91-4F91-B638-C9F9A73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original SemEval XML contains human-labeled restaurant review sentences before project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B00F-8078-49FA-AB12-BF06B72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file: backends/data/raw/Restaurants_Train_v2.xml. Each sentence can contain aspect-category tags and polarity annotations.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58817-3F15-44DD-B032-0BDE095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448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6A6E-4B6D-45CD-B353-3FF21E8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E26F-0C9D-4C2D-9A0A-19F2462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raw review sentences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DFD1D-2646-4E8F-92E6-8718271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4CF9-B483-4B22-9CCB-31DFFAE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0401-ACCE-4460-AF21-8468265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33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808F-7BEE-402E-9D0D-CB89F457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polarity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620C7-13A5-43EA-B1AC-AD982B7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31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85370-B61F-4AF4-890C-AF08815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Raw XML example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70B71-5C7D-41E6-A4FD-4DA8172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655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&lt;sentence id="3121"&gt; review text + &lt;aspectCategory category="service" polarity="negative"/&gt;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19787-D2B4-48D1-9B2D-F053436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raw labels are useful, but they must be normalized before all models can produce the same four-aspect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20D0-4227-4F40-9013-CB26C80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AB63-06E8-4844-B60E-79F9F7F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aspect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8F0F8-8D3D-4649-B0A5-86EC2FA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F604A-BB35-471C-B373-D12277C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339D-AB48-400A-BDC7-479D04E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737B8-E4E7-4873-9317-B5BB62A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529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4160B-CFF6-4F2F-B26D-E3AFFCF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anecdotes/misc.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3BD0-8F41-45E7-B131-E5FED70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6D105-3835-439E-A895-493353B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5818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5FF42-22E5-434F-9D91-3DF2D7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00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0897B-6A02-46D6-B7A3-1B0896A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6C195-55D2-4F3A-9937-2E05D7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A0D45-B59A-4907-9130-25871D3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136160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25BCA-0A12-41FA-872C-C48890C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482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DA9AF-EA33-4F67-9A3B-FF1676D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89A13-5879-46B3-B925-AC474EBC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DF1F3-D94A-4EBC-BA9E-4463391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98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872F8-30C8-4069-8C15-D0A049D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95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D0F17-F5DC-42D9-8193-A8E2DAC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E4E41-C90D-4291-B062-F8D4DAD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55396-F2F4-4E66-BA5A-9EFD1B7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7321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4E066-7028-4FF3-BEB6-98740C8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43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936EB-190D-4B72-9AB4-15E8811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BCA7-0F3A-478A-883D-B87EBF1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polarity labels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77FCB7-EDA7-41BF-850D-081BB7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75BE3-62FC-4909-AD70-590DDBE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504C2-3651-4B1A-BF6D-C143F7B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045C3E-1505-4A6F-A8DE-D1899A27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01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0C149-2F0D-4580-9F69-F04F0F4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9209B-F5CC-4507-B474-9009E97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B54E9-0EB9-46C0-A79C-CA996D3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08191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44E59-47FA-47A2-92EB-3E243FB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544F39-072F-4314-9C0C-86C513D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C4364-4D23-4D90-A295-320D1FB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A2793E-DCDD-4112-8388-B0ECB64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6447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F14BE4-26A1-46AA-B0E6-8699F0D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197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5C58D-B80C-4187-9878-E448816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conflict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A5FA0-7863-4381-A4C4-9760634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E258E-C05E-4E2D-9643-854F0D0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5145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2709C-14FA-4DDC-A44E-743737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24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AFB8E8-047A-45D9-9EFA-0027D60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slide: the raw XML is converted into clean wide and long CSV files, with fixed aspects and Positive / Negative / Unknown labels.</a:t>
            </a:r>
          </a:p>
        </p:txBody>
      </p:sp>
    </p:spTree>
    <p:extLst>
      <p:ext uri="{BB962C8B-B14F-4D97-AF65-F5344CB8AC3E}">
        <p14:creationId xmlns:p14="http://schemas.microsoft.com/office/powerpoint/2010/main" val="734178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B9B8-09CF-411E-99BC-3F621A0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91D9-3DBF-4B88-99B0-D44A4AA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49E-F624-4D59-A77D-E6CF17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4CA-1BA7-4037-A5C8-71F6E7B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665055-F1D8-4098-B86A-4EC57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BF4205-734A-466B-9ADA-1D95032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4351-502C-45C7-A1B1-1946507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processed dataset is useful, but heavily Unknown-dominant.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BAB6-1B4A-46CB-A36B-116E3F5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Task 4 Restaurant Review data, mapped into the project aspect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2E171-C0F2-40A2-B056-DFF66D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4A7D-2421-4DC5-B3A1-89BE94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wide 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EB2C-BA34-449D-9417-420DFD9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1B2F-2E54-493F-A35E-416F4C3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long review-aspect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5D5D-1C57-4F65-9496-6B1FC9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rPr>
              <a:t>81.3%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0758-D18B-4065-B064-90D3F6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labels in long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6B48-D1B8-4239-ACA9-FF9E74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FB71-9DAB-4017-8394-E1C26A6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0BA1A-9366-4D63-96EE-3B04FD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79CA-0B8C-459F-93FF-0C56663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20FF7-0534-4F7D-9463-0D01FC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B18-8930-45CB-A869-F326437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1F3FE-59AD-40A2-A25B-A3582B6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7483F-F42A-45AF-9FE9-F5EC70C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33800"/>
            <a:ext cx="15750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C96A3-2D5C-4920-8851-CF7AD94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355" y="3733800"/>
            <a:ext cx="3796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B97DF-049F-4D52-81B7-CCD48F3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039" y="3733800"/>
            <a:ext cx="35697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A7F21-9D7D-40A0-9382-9C90BD7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EE211-6CA8-4163-86D8-19445CF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F6CE1-D79C-43F1-A1C1-A5DD11E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5886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C6136-468D-43CF-AC96-0602B22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02" y="4286250"/>
            <a:ext cx="3960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CA99-35C8-47DC-A59C-5E65E7F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36" y="4286250"/>
            <a:ext cx="45398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496E-9396-42BA-9424-5CA2E5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DA835-0C0D-4E11-8D45-2E0EBBC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AA5E1-F163-4EE3-B690-A1D262B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325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6C6DD-F8F1-4298-A4AE-4A5521F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484" y="4838700"/>
            <a:ext cx="2089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512A0-8113-4D67-B561-33F6759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02" y="4838700"/>
            <a:ext cx="499039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C2B4-E003-47E1-8506-D58C75A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67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2BF5F-9596-46FF-B305-AC0BB8F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25588-9CE8-408E-A72E-7CA82E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477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70DA8-24C4-49DF-9559-23C433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85" y="5391150"/>
            <a:ext cx="1780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31B80-022C-41A5-A3FE-52BD9CD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19" y="5391150"/>
            <a:ext cx="486868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E3E17-08D8-4BAB-99B7-47B210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A5790-B09B-4521-ADB2-6B34B5D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E5949-9F71-436D-B987-8BCFEAE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Why macro F1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176A2-4B6C-4F46-A97C-0A99955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 can look high when the model predicts Unknown well. Macro F1 gives Positive, Negative, and Unknown equal weight.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6f806f7274c7c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2026-06-14T19:07:35.4970000Z</dcterms:created>
  <dcterms:modified xsi:type="dcterms:W3CDTF">2026-06-14T19:07:35.4970000Z</dcterms:modified>
</coreProperties>
</file>
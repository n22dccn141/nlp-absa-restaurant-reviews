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e574520064687" /><Relationship Type="http://schemas.openxmlformats.org/officeDocument/2006/relationships/extended-properties" Target="/docProps/app.xml" Id="Ra972b2f0b1be49b5" /><Relationship Type="http://schemas.openxmlformats.org/officeDocument/2006/relationships/officeDocument" Target="/ppt/presentation.xml" Id="R67c23f0e66bf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ca9e646e014818"/>
  </p:sldMasterIdLst>
  <p:notesMasterIdLst>
    <p:notesMasterId xmlns:r="http://schemas.openxmlformats.org/officeDocument/2006/relationships" r:id="R9b67bfc4f065442a"/>
  </p:notesMasterIdLst>
  <p:sldIdLst>
    <p:sldId xmlns:r="http://schemas.openxmlformats.org/officeDocument/2006/relationships" id="256" r:id="R189cf958f4d54b2e"/>
    <p:sldId xmlns:r="http://schemas.openxmlformats.org/officeDocument/2006/relationships" id="257" r:id="R6c337c38dfdb47a4"/>
    <p:sldId xmlns:r="http://schemas.openxmlformats.org/officeDocument/2006/relationships" id="258" r:id="R7b8e37dea4764744"/>
    <p:sldId xmlns:r="http://schemas.openxmlformats.org/officeDocument/2006/relationships" id="259" r:id="R57cb87cf2f5d4463"/>
    <p:sldId xmlns:r="http://schemas.openxmlformats.org/officeDocument/2006/relationships" id="260" r:id="R1a0ec45e6ea24f67"/>
    <p:sldId xmlns:r="http://schemas.openxmlformats.org/officeDocument/2006/relationships" id="261" r:id="R93ba9a1387a84dec"/>
    <p:sldId xmlns:r="http://schemas.openxmlformats.org/officeDocument/2006/relationships" id="262" r:id="R0465377428b4419e"/>
    <p:sldId xmlns:r="http://schemas.openxmlformats.org/officeDocument/2006/relationships" id="263" r:id="R153f2085deb0461f"/>
    <p:sldId xmlns:r="http://schemas.openxmlformats.org/officeDocument/2006/relationships" id="264" r:id="R9b16cdb474124884"/>
    <p:sldId xmlns:r="http://schemas.openxmlformats.org/officeDocument/2006/relationships" id="265" r:id="R2f392fb23193465b"/>
    <p:sldId xmlns:r="http://schemas.openxmlformats.org/officeDocument/2006/relationships" id="266" r:id="R9bb5660fb8fc4342"/>
    <p:sldId xmlns:r="http://schemas.openxmlformats.org/officeDocument/2006/relationships" id="267" r:id="Re2bd19c8f85f4632"/>
    <p:sldId xmlns:r="http://schemas.openxmlformats.org/officeDocument/2006/relationships" id="268" r:id="Ra84e8ead6def4d42"/>
    <p:sldId xmlns:r="http://schemas.openxmlformats.org/officeDocument/2006/relationships" id="269" r:id="R3266e9e9c2d34d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61e86f7fd4a56" /><Relationship Type="http://schemas.openxmlformats.org/officeDocument/2006/relationships/slideMaster" Target="/ppt/slideMasters/slideMaster1.xml" Id="Rc0ca9e646e014818" /><Relationship Type="http://schemas.openxmlformats.org/officeDocument/2006/relationships/notesMaster" Target="/ppt/notesMasters/notesMaster1.xml" Id="R9b67bfc4f065442a" /><Relationship Type="http://schemas.openxmlformats.org/officeDocument/2006/relationships/presProps" Target="/ppt/presProps.xml" Id="R940e93ae9b8f45a7" /><Relationship Type="http://schemas.openxmlformats.org/officeDocument/2006/relationships/viewProps" Target="/ppt/viewProps.xml" Id="R3dd699b2ecaf4046" /><Relationship Type="http://schemas.openxmlformats.org/officeDocument/2006/relationships/tableStyles" Target="/ppt/tableStyles.xml" Id="Rad744d57d609402e" /><Relationship Type="http://schemas.openxmlformats.org/officeDocument/2006/relationships/slide" Target="/ppt/slides/slide1.xml" Id="R189cf958f4d54b2e" /><Relationship Type="http://schemas.openxmlformats.org/officeDocument/2006/relationships/slide" Target="/ppt/slides/slide2.xml" Id="R6c337c38dfdb47a4" /><Relationship Type="http://schemas.openxmlformats.org/officeDocument/2006/relationships/slide" Target="/ppt/slides/slide3.xml" Id="R7b8e37dea4764744" /><Relationship Type="http://schemas.openxmlformats.org/officeDocument/2006/relationships/slide" Target="/ppt/slides/slide4.xml" Id="R57cb87cf2f5d4463" /><Relationship Type="http://schemas.openxmlformats.org/officeDocument/2006/relationships/slide" Target="/ppt/slides/slide5.xml" Id="R1a0ec45e6ea24f67" /><Relationship Type="http://schemas.openxmlformats.org/officeDocument/2006/relationships/slide" Target="/ppt/slides/slide6.xml" Id="R93ba9a1387a84dec" /><Relationship Type="http://schemas.openxmlformats.org/officeDocument/2006/relationships/slide" Target="/ppt/slides/slide7.xml" Id="R0465377428b4419e" /><Relationship Type="http://schemas.openxmlformats.org/officeDocument/2006/relationships/slide" Target="/ppt/slides/slide8.xml" Id="R153f2085deb0461f" /><Relationship Type="http://schemas.openxmlformats.org/officeDocument/2006/relationships/slide" Target="/ppt/slides/slide9.xml" Id="R9b16cdb474124884" /><Relationship Type="http://schemas.openxmlformats.org/officeDocument/2006/relationships/slide" Target="/ppt/slides/slide10.xml" Id="R2f392fb23193465b" /><Relationship Type="http://schemas.openxmlformats.org/officeDocument/2006/relationships/slide" Target="/ppt/slides/slide11.xml" Id="R9bb5660fb8fc4342" /><Relationship Type="http://schemas.openxmlformats.org/officeDocument/2006/relationships/slide" Target="/ppt/slides/slide12.xml" Id="Re2bd19c8f85f4632" /><Relationship Type="http://schemas.openxmlformats.org/officeDocument/2006/relationships/slide" Target="/ppt/slides/slide13.xml" Id="Ra84e8ead6def4d42" /><Relationship Type="http://schemas.openxmlformats.org/officeDocument/2006/relationships/slide" Target="/ppt/slides/slide14.xml" Id="R3266e9e9c2d3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3dafc73c244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c68e94accc4cc5" /><Relationship Type="http://schemas.openxmlformats.org/officeDocument/2006/relationships/notesMaster" Target="/ppt/notesMasters/notesMaster1.xml" Id="R3c41580320c14a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2cfbaaf9e4423" /><Relationship Type="http://schemas.openxmlformats.org/officeDocument/2006/relationships/notesMaster" Target="/ppt/notesMasters/notesMaster1.xml" Id="R77e265a11f274a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9614c20544d1c" /><Relationship Type="http://schemas.openxmlformats.org/officeDocument/2006/relationships/notesMaster" Target="/ppt/notesMasters/notesMaster1.xml" Id="R23bf423bd0954d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c40f40c5454dc7" /><Relationship Type="http://schemas.openxmlformats.org/officeDocument/2006/relationships/notesMaster" Target="/ppt/notesMasters/notesMaster1.xml" Id="R973f81f5fd9a4e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8bee8d271d4134" /><Relationship Type="http://schemas.openxmlformats.org/officeDocument/2006/relationships/notesMaster" Target="/ppt/notesMasters/notesMaster1.xml" Id="Rd127024b6e8142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6d32326584657" /><Relationship Type="http://schemas.openxmlformats.org/officeDocument/2006/relationships/notesMaster" Target="/ppt/notesMasters/notesMaster1.xml" Id="R3b1e3bf92c924c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03ea1f1db5445f" /><Relationship Type="http://schemas.openxmlformats.org/officeDocument/2006/relationships/notesMaster" Target="/ppt/notesMasters/notesMaster1.xml" Id="R281d2b705e8d46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094ec70c2f44c5" /><Relationship Type="http://schemas.openxmlformats.org/officeDocument/2006/relationships/notesMaster" Target="/ppt/notesMasters/notesMaster1.xml" Id="Rd2088e734a2c48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023524ede24eac" /><Relationship Type="http://schemas.openxmlformats.org/officeDocument/2006/relationships/notesMaster" Target="/ppt/notesMasters/notesMaster1.xml" Id="R5ef1f9102fc8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c9e1a3205e4762" /><Relationship Type="http://schemas.openxmlformats.org/officeDocument/2006/relationships/notesMaster" Target="/ppt/notesMasters/notesMaster1.xml" Id="Rd305c8d3cfaa49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088ee4b4f64a04" /><Relationship Type="http://schemas.openxmlformats.org/officeDocument/2006/relationships/notesMaster" Target="/ppt/notesMasters/notesMaster1.xml" Id="Re7e32cae96d241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6358e42dc64331" /><Relationship Type="http://schemas.openxmlformats.org/officeDocument/2006/relationships/notesMaster" Target="/ppt/notesMasters/notesMaster1.xml" Id="R2a56e15e604f4e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b0e18e3d8647f8" /><Relationship Type="http://schemas.openxmlformats.org/officeDocument/2006/relationships/notesMaster" Target="/ppt/notesMasters/notesMaster1.xml" Id="Rae1e902a7b8a4a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56a2b1587b4bd8" /><Relationship Type="http://schemas.openxmlformats.org/officeDocument/2006/relationships/notesMaster" Target="/ppt/notesMasters/notesMaster1.xml" Id="Ra21cceae86de4d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2b8fd48fe4a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31b399d9b947c0" /><Relationship Type="http://schemas.openxmlformats.org/officeDocument/2006/relationships/slideLayout" Target="/ppt/slideLayouts/slideLayout1.xml" Id="R8870755335af45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0755335af45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dab81960a4a6a" /><Relationship Type="http://schemas.openxmlformats.org/officeDocument/2006/relationships/notesSlide" Target="/ppt/notesSlides/notesSlide1.xml" Id="Rcbdb130db5f4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9a4b25a54076" /><Relationship Type="http://schemas.openxmlformats.org/officeDocument/2006/relationships/notesSlide" Target="/ppt/notesSlides/notesSlide2.xml" Id="R6b641874e800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14ee214734ab3" /><Relationship Type="http://schemas.openxmlformats.org/officeDocument/2006/relationships/notesSlide" Target="/ppt/notesSlides/notesSlide3.xml" Id="R85cce7bb73a848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28c661c174608" /><Relationship Type="http://schemas.openxmlformats.org/officeDocument/2006/relationships/notesSlide" Target="/ppt/notesSlides/notesSlide4.xml" Id="R29c8ae7864a24d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64ce735164718" /><Relationship Type="http://schemas.openxmlformats.org/officeDocument/2006/relationships/notesSlide" Target="/ppt/notesSlides/notesSlide5.xml" Id="R2be1894283c04f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a891318ff43dc" /><Relationship Type="http://schemas.openxmlformats.org/officeDocument/2006/relationships/notesSlide" Target="/ppt/notesSlides/notesSlide6.xml" Id="Rf1968dd00af749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a85c673f64f12" /><Relationship Type="http://schemas.openxmlformats.org/officeDocument/2006/relationships/image" Target="/ppt/media/image.png" Id="Rd17f2e11362e4842" /><Relationship Type="http://schemas.openxmlformats.org/officeDocument/2006/relationships/notesSlide" Target="/ppt/notesSlides/notesSlide7.xml" Id="R18040f2cec05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fd9b166ae48d2" /><Relationship Type="http://schemas.openxmlformats.org/officeDocument/2006/relationships/notesSlide" Target="/ppt/notesSlides/notesSlide8.xml" Id="R8582ea38980845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57c723d0f426a" /><Relationship Type="http://schemas.openxmlformats.org/officeDocument/2006/relationships/notesSlide" Target="/ppt/notesSlides/notesSlide9.xml" Id="R9b60207e30ec45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bf06117a4d1b" /><Relationship Type="http://schemas.openxmlformats.org/officeDocument/2006/relationships/notesSlide" Target="/ppt/notesSlides/notesSlide10.xml" Id="R39e7606b8cf547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82cf71aa04dbc" /><Relationship Type="http://schemas.openxmlformats.org/officeDocument/2006/relationships/notesSlide" Target="/ppt/notesSlides/notesSlide11.xml" Id="R7132165e86784f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07749011944e1" /><Relationship Type="http://schemas.openxmlformats.org/officeDocument/2006/relationships/notesSlide" Target="/ppt/notesSlides/notesSlide12.xml" Id="Rfc4a1d038edc45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1a5653bce4d34" /><Relationship Type="http://schemas.openxmlformats.org/officeDocument/2006/relationships/notesSlide" Target="/ppt/notesSlides/notesSlide13.xml" Id="Rfd19585e478e4a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3c44b8acb4eb9" /><Relationship Type="http://schemas.openxmlformats.org/officeDocument/2006/relationships/notesSlide" Target="/ppt/notesSlides/notesSlide14.xml" Id="R09eb70243c664b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A77FA-F5AB-46BF-ABBA-B0067F66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F793-DB79-49CC-A632-EB72831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147D4-3D1B-42D4-A6D7-3A72A86B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E7228-5056-4550-BDF0-193EA4F0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85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Aspect-Based Sentiment Analysis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AFCD9-6DE3-492C-9438-729EDBCE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working NLP system that reads one restaurant review and returns sentiment for Food, Service, Price, and Eating Environment / Ambiance.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68EA2-8A62-4E98-A204-9E21793E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572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10E5A-997D-4AF3-8C73-19F8EA4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Why ABSA?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1C58-7DE7-47EE-80BD-838E043B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Restaurant reviews often contain mixed opinions. ABSA keeps the details visible by assigning a separate sentiment label to each aspect.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ED42B-8001-46C8-B677-AF2882E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66800"/>
            <a:ext cx="33909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A6EE5-21BC-444B-8147-FA125BEC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Example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6B177-85FA-40D3-BEE7-FAAD3B1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"The sushi was fresh,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69E88-E7BF-478A-81A3-ED413D3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DC4FB-FE57-4EE6-BAE4-6850A56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C8231-62A3-4A59-97D6-8133F64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812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A50C1-7930-4340-A8F2-D666D72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DC68F-2249-4E22-BDE1-BA4B4FF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25E7D-8269-4AC5-A20A-DD47ED74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DE803-862C-46CC-AA67-71E2FAE1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0A380-AC12-4857-B5A0-FDFBD88A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E49FD-97CE-48DE-ABFB-BFF0FEB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13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98CA9-C960-47CD-A459-8105555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5674A-ED7F-4233-A445-029466E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6543F-7E23-4C40-9AC1-6D8DE36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814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C1A59-F32E-41B5-ACFC-0DE9DEC6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always returns all four aspects.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4EF1C-A2F9-4B30-9DC1-AFAB1DBF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59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369E6-6A20-4B1C-B175-BE3E779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312BC-9FB4-48E6-900F-10CAA13A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032F5-BF97-43CA-8EEF-9010D712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B4DB1-172D-4655-995E-0D4D7DB9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05A7D-7AAD-4A80-A72F-1CA5373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745160-09E1-4FC8-8520-586A3A1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 approaches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06914-E285-4B19-B784-B0DF958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AC145-4221-41A4-B532-AC424BC1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best macro F1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917DA-D1E7-4B41-89AF-4EF81D3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3FADB-A083-4836-97B8-9B243C4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38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fixed aspects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89444-71C0-426D-BD0E-F8F861B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Methods compared: Rule-based baseline, TF-IDF Logistic Regression, and DeBERTa-v3-base.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ED324-D048-4E04-AA53-94F0439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9FDA-E4CC-418B-B80C-70C9E0D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2348-1B79-45C5-8F56-0346B56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3FCE1-F5DE-4B1E-9354-40596E2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D1CF0-28CC-481D-9707-4E04E43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member owns one part of the ABSA system, so the presentation follows the project responsibilities.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67E4-BBCE-4A57-A627-4D51602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slide can be used when introducing who speaks for dataset/system, rule-based modeling, and traditional ML/model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0A2D-207F-46F7-BC24-AA02DB0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3FE9-FCAC-4999-AB21-9D34730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CB2FC-1690-4F92-B718-BFEC9DB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N22DCCN141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E987-63F4-49F3-ACA1-C0AF63C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Huynh Ba Anh Khoa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84E5-6AE8-4539-AA5C-765F736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Leader / Deep Learning / App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B4DCA-E161-4903-A109-B46954C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755E-9B42-432A-8C07-612A182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Prepared review-aspect data and DeBERTa-v3-base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FBD1-D893-4A23-9FE8-9A2441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Flutter demo, Python API connection, and final materials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E30F6-0D45-418D-8276-FD0110D3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Slides 1-5 and 11-12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3ED0-B66A-4041-92B1-27E8163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A04EC-1E9C-4243-B364-F846277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46799-2694-413C-AB3D-81E2010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N22DCDT038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2BD1-C6FF-4EF5-8A21-085FDE6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Dang Nhat 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B7DEA-60DF-4BF6-8905-AFED017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Traditional 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55751-1030-472A-B739-35E373A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A3B0E-4B2A-4893-973E-CD9EBDD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TF-IDF text features and Logistic Regression classifiers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3D56B-918C-4201-A20E-41AECA6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Reported Traditional ML metrics for model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011D7-1DD1-4EB1-BD23-1F5FE88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Slides 8-10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7F42-1E34-474F-8E8F-27C574B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6D150-47DA-4C78-A24B-85B4ECB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63ED-EB63-45F9-B0EF-1A369D7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N22DCAT003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C1A91-A241-480A-9561-1DFD0DC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 Quang 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1843E-D36E-43C5-8F24-216F37B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Rule-Based ABSA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93627-CD5B-4356-B30F-CB7FCFE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CD2D4-7CC5-420F-9B2A-0804525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Defined aspect keywords and sentiment lexicons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B60F4-E56B-4371-8238-336996A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Implemented negation handling and spaCy dependency parsing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0C97A-C40B-492D-9E1A-CB39824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Slides 6-7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2AC66-DB8F-483E-950B-75211A6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Recommended handoff: Khoa introduces the system, An explains the rule-based baseline, Nam compares models, then Khoa closes with the final model choice.</a:t>
            </a:r>
          </a:p>
        </p:txBody>
      </p:sp>
    </p:spTree>
    <p:extLst>
      <p:ext uri="{BB962C8B-B14F-4D97-AF65-F5344CB8AC3E}">
        <p14:creationId xmlns:p14="http://schemas.microsoft.com/office/powerpoint/2010/main" val="3682555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7D20-ADFE-4E06-B76E-9DF9BD8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E984-FA0B-4847-B70B-3023C65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17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>
              <a:alpha val="13333"/>
            </a:srgbClr>
          </a:solidFill>
          <a:ln xmlns:a="http://schemas.openxmlformats.org/drawingml/2006/main" w="9525">
            <a:solidFill>
              <a:srgbClr val="3E8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>
              <a:alpha val="13333"/>
            </a:srgbClr>
          </a:solidFill>
          <a:ln xmlns:a="http://schemas.openxmlformats.org/drawingml/2006/main" w="9525">
            <a:solidFill>
              <a:srgbClr val="6E77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AC7637-8DC1-4C55-9DFC-7744161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E5DD5-B301-4B46-987C-08238F2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87224-EC80-4F2E-B072-B6B8778C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579D-2A54-46C4-B9B7-BDAFD4D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RAW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2112-CD91-4F91-B638-C9F9A73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original SemEval XML contains human-labeled restaurant review sentences before project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DB00F-8078-49FA-AB12-BF06B72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file: backends/data/raw/Restaurants_Train_v2.xml. Each sentence can contain aspect-category tags and polarity annotations.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58817-3F15-44DD-B032-0BDE095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448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6A6E-4B6D-45CD-B353-3FF21E8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E26F-0C9D-4C2D-9A0A-19F2462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raw review sentences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DFD1D-2646-4E8F-92E6-8718271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4CF9-B483-4B22-9CCB-31DFFAE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C0401-ACCE-4460-AF21-8468265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337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8808F-7BEE-402E-9D0D-CB89F457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95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polarity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620C7-13A5-43EA-B1AC-AD982B7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7315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85370-B61F-4AF4-890C-AF08815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Raw XML example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70B71-5C7D-41E6-A4FD-4DA8172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655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&lt;sentence id="3121"&gt; review text + &lt;aspectCategory category="service" polarity="negative"/&gt;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19787-D2B4-48D1-9B2D-F053436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raw labels are useful, but they must be normalized before all models can produce the same four-aspect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20D0-4227-4F40-9013-CB26C808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3AB63-06E8-4844-B60E-79F9F7F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aspect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8F0F8-8D3D-4649-B0A5-86EC2FA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F604A-BB35-471C-B373-D12277C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A339D-AB48-400A-BDC7-479D04E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737B8-E4E7-4873-9317-B5BB62A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529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4160B-CFF6-4F2F-B26D-E3AFFCF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anecdotes/misc.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3BD0-8F41-45E7-B131-E5FED70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6D105-3835-439E-A895-493353B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58180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5FF42-22E5-434F-9D91-3DF2D78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00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0897B-6A02-46D6-B7A3-1B0896A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6C195-55D2-4F3A-9937-2E05D72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A0D45-B59A-4907-9130-25871D3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136160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25BCA-0A12-41FA-872C-C48890C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482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DA9AF-EA33-4F67-9A3B-FF1676D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89A13-5879-46B3-B925-AC474EBC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DF1F3-D94A-4EBC-BA9E-4463391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98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872F8-30C8-4069-8C15-D0A049D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95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D0F17-F5DC-42D9-8193-A8E2DAC1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E4E41-C90D-4291-B062-F8D4DAD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55396-F2F4-4E66-BA5A-9EFD1B7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7321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4E066-7028-4FF3-BEB6-98740C8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43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936EB-190D-4B72-9AB4-15E88111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BBCA7-0F3A-478A-883D-B87EBF1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polarity labels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77FCB7-EDA7-41BF-850D-081BB7F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575BE3-62FC-4909-AD70-590DDBE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D504C2-3651-4B1A-BF6D-C143F7B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045C3E-1505-4A6F-A8DE-D1899A27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101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0C149-2F0D-4580-9F69-F04F0F4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9209B-F5CC-4507-B474-9009E97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B54E9-0EB9-46C0-A79C-CA996D3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108191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E44E59-47FA-47A2-92EB-3E243FB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544F39-072F-4314-9C0C-86C513D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CC4364-4D23-4D90-A295-320D1FB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A2793E-DCDD-4112-8388-B0ECB64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64476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F14BE4-26A1-46AA-B0E6-8699F0D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197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05C58D-B80C-4187-9878-E448816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34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conflict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7A5FA0-7863-4381-A4C4-9760634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FE258E-C05E-4E2D-9643-854F0D0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5145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2709C-14FA-4DDC-A44E-7437370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24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AFB8E8-047A-45D9-9EFA-0027D60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slide: the raw XML is converted into clean wide and long CSV files, with fixed aspects and Positive / Negative / Unknown labels.</a:t>
            </a:r>
          </a:p>
        </p:txBody>
      </p:sp>
    </p:spTree>
    <p:extLst>
      <p:ext uri="{BB962C8B-B14F-4D97-AF65-F5344CB8AC3E}">
        <p14:creationId xmlns:p14="http://schemas.microsoft.com/office/powerpoint/2010/main" val="734178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D2EF9-0A8E-4718-B62B-998B1E0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DF58F0-734C-4C17-BB16-D3953612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69AC-6B7E-42FC-ACE9-C9AD046D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81BB8-98AD-4084-9B5E-49CBE3F5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7CD6-64CF-478F-936B-EBE9AE1A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PREPROCESSED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75A76-EE52-4225-A413-54BD0A34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Raw SemEval annotations are converted into fixed, model-ready ABSA tables.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67237-519D-406B-8EB0-6B35A3F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preprocessing step makes every model solve the same task: four aspects and three labels for every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65B84-1E33-4B45-BDBE-E79BDA21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714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8ACFC-60E9-4C5F-B9EB-053705EE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was changed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7567C-953C-468E-A1DA-73F14FDB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DE92F-E5D3-4EFB-9FDA-BCFDE87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Mapped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922A5-D01A-4D06-A182-BF009181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food, service, price, ambience -&gt; four project aspects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AFEF5-7772-41A7-B1F3-E0A8535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AA348-9738-4C30-954C-7F5DDD4E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Mapped polarities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75A34-DE53-4EA7-B9B3-C6E2B651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positive / negative kept; neutral and conflict become 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D7D92-B72D-45BA-B36A-FEF7F52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2944A-9852-48F7-9703-3553127D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Ignored misc.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999F5-D8F8-484D-8025-F0C0C866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miscellaneous category removed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82D22-AA36-475A-A227-2DCA4B42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295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8BC94-BADD-4168-9B9D-2B4CCEB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Output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8D363-F497-4EA2-A4B7-65B0D1E4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Wide 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95391-BCBB-452F-B5C6-2BBA507B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909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 review row with columns: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BB0A2-D90F-48C3-9A30-298B45B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045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id | review | Food | Service | Price | Ambiance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DFE41-CB14-4B3C-81A6-BEB31DF4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43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Long 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686BF-D396-4D48-B7E3-647FFD7A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Four rows per review, one per aspect: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341B9-95AA-4493-B674-B3726249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id | review | aspect | sentiment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7BF84-F902-41EB-9CC1-1B6AF90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43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210D4-5473-4D3F-BA92-5770B4F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Validation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EECDD-D05F-40A4-A1CD-A710307E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33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965BA-8F56-4D20-8267-E43B8095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5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Non-empty 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8EDAE1-FA7D-4EEF-822A-40BB72FE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Drop or reject rows with empty review 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00D0A-EB08-4927-82E4-396A0E54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86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F9EA6-7C25-4267-9A1D-964860F4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 columns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6B9D86-EFC2-485E-9FDE-733980A7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67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Ensure expected fields exist in both CSV formats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3313F-0E6B-4097-A7E3-4DE9024B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38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AD25A7-B70E-486E-811A-345C95FF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0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 labels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2185BD-8A51-4C78-A10F-F8A8749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Only Positive / Negative / Unknown allowed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4DA3CC-A0F9-4328-AA62-34CD07D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972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DB937F-2528-4C97-97F8-DBA77D20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Final dataset features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DA05B5-A3B9-4BC4-BC32-03154C71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603166-615B-4327-80F3-7F245E8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wide rows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652436-3CB1-4CDA-8A36-FE09FC0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292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2F73F-F69F-44DF-98A2-50119089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531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aspect rows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BC5595-66A5-4339-AACF-15FCE56A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292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65B76C-490A-41D2-9A19-014B6551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531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fixed aspects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8E16E8-EE71-46E8-BB82-92DEC4DF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53000"/>
            <a:ext cx="5829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C76EB1-300F-4944-94E3-3E95405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Label distribution after preprocessing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BD0C22-EB1C-4474-8368-CE2AC83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All labels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4A89C3-EA72-4FFB-9101-CB0E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42197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4FE80F-0106-45D6-A396-A8A4031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777" y="5486400"/>
            <a:ext cx="1653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25B163-2AE0-4DFE-BFB3-4A8F3F23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157" y="5486400"/>
            <a:ext cx="255589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B22C42-6501-4CF4-827D-F290E21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57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9E7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4AF511-A45D-42E8-A200-1191701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244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Positive 1,633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F5AC95-FC3F-4582-8A2C-2896EB4E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2578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ECED82-DC96-445E-887A-878DE3F9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324475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 640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8487BD-F8F6-42EC-A21F-3B0C909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81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5AF585-733E-45AA-B150-EBAB1178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483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Unknown 9,891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C8FDD7-B324-4F35-AF6C-8FBBC59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Result: a consistent ABSA dataset that supports rule-based output, traditional ML training, transformer review-aspect training, and fair evaluation.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6898-2650-411E-AA63-D64D7B9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A16A3-9F24-4D44-A5EC-5DFCD5F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E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476F-5C96-403D-9B09-5DD2B73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0099-B3A3-42F5-8161-73014A4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CAF0-E036-4A7B-8ABF-5F379EB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backend exposes /health and /analyze for the Flutter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f2e11362e4842"/>
          <a:stretch xmlns:a="http://schemas.openxmlformats.org/drawingml/2006/main"/>
        </p:blipFill>
        <p:spPr>
          <a:xfrm xmlns:a="http://schemas.openxmlformats.org/drawingml/2006/main">
            <a:off x="1137657" y="3143250"/>
            <a:ext cx="5039885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07DE-F90E-4F0F-8D19-0217EDF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B583-C273-41C9-B556-957F710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7888-72C5-4540-AA69-134FB8B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862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The app shows the expected four-row aspect output and lets the user switch among rule-based, traditional ML, and deep learning methods.</a:t>
            </a:r>
          </a:p>
        </p:txBody>
      </p:sp>
    </p:spTree>
    <p:extLst>
      <p:ext uri="{BB962C8B-B14F-4D97-AF65-F5344CB8AC3E}">
        <p14:creationId xmlns:p14="http://schemas.microsoft.com/office/powerpoint/2010/main" val="1069767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C9AB-8CDE-475D-89C6-516BEE2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3E92-72C7-43DF-8BB9-6F2084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D5C-FCF8-4DBA-9996-D2D578B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comparison is fair because all methods produce the same label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>
              <a:alpha val="13333"/>
            </a:srgbClr>
          </a:solidFill>
          <a:ln xmlns:a="http://schemas.openxmlformats.org/drawingml/2006/main" w="9525">
            <a:solidFill>
              <a:srgbClr val="8A9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>
              <a:alpha val="13333"/>
            </a:srgbClr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>
              <a:alpha val="13333"/>
            </a:srgbClr>
          </a:solidFill>
          <a:ln xmlns:a="http://schemas.openxmlformats.org/drawingml/2006/main" w="9525">
            <a:solidFill>
              <a:srgbClr val="D24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05425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498-2800-4BD5-A3EC-9E47E98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Final three-model comparison uses the report's fresh 70/30 evaluation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662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08623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6045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7098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196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6739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8517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7281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8531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714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3E05-EAB6-48EF-8067-1225560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 by aspect highlights whether a method works beyond one easy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110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33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9480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12587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273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18876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453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1907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9338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107542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1566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18533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685CD-D8B4-4325-8D43-D9C6489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D617A-5C83-407E-BE92-475FB61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CE26-3AB1-4C80-9027-1F9A353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Per-label F1 exposes the imbalance problem better than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8788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12315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17317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6415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5948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16633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844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18811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19581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257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DeBERTa still wins decisively.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673E-9013-418A-A93A-F660E5F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Mentioned-aspect evaluation uses the 659 Positive/Negative examples.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568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511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2810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confusion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Rows are true labels; columns are predictions. Most errors are between known sentiment and Unknown.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B23C-D9B7-49A7-BED8-8416748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1C8A-220F-4DC2-8CF4-2A1AA5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5BFC-CD2C-4A16-AF9B-BE6A25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strongest method is selected from measured evidence, not only intuition.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34025"/>
            <a:ext cx="661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2026-06-14T19:19:30.3750000Z</dcterms:created>
  <dcterms:modified xsi:type="dcterms:W3CDTF">2026-06-14T19:19:30.3750000Z</dcterms:modified>
</coreProperties>
</file>